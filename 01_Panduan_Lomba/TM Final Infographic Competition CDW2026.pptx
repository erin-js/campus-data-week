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rial Bold" panose="020B0704020202020204" pitchFamily="34" charset="0"/>
      <p:regular r:id="rId14"/>
      <p:bold r:id="rId15"/>
    </p:embeddedFont>
    <p:embeddedFont>
      <p:font typeface="Calibri (MS)" panose="020B0604020202020204" charset="0"/>
      <p:regular r:id="rId16"/>
    </p:embeddedFont>
    <p:embeddedFont>
      <p:font typeface="Calibri (MS) Bold" panose="020B0604020202020204" charset="0"/>
      <p:regular r:id="rId17"/>
    </p:embeddedFont>
    <p:embeddedFont>
      <p:font typeface="Calibri (MS) Italics" panose="020B0604020202020204" charset="0"/>
      <p:regular r:id="rId18"/>
    </p:embeddedFont>
    <p:embeddedFont>
      <p:font typeface="Courier New Bold" panose="02070609020205020404" pitchFamily="49"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378"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Pembuka: sambutan, perkenalan panitia, dan tujuan TM — memastikan seluruh tim paham ketentuan karya sebelum dataset dirilis besok, 20 Agustus pukul 19.00 WIB.</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Sampaikan agenda dalam satu menit. Ingatkan peserta bahwa slide dan rekaman TM akan dibagikan setelah sesi.</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Jarak rilis dataset ke batas pengumpulan sekitar tujuh minggu. Sarankan peserta menyelesaikan analisis di dua minggu pertama agar sisa waktu dipakai untuk desain dan revisi.</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Tekankan kata statis: bukan animasi, bukan video, bukan dashboard interaktif. Satu halaman utuh, bukan seri carousel. Ingatkan juga bahwa tim terdiri atas tepat 3 orang sesuai pendaftaran.</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Poin penting: kamus data sudah sangat menjelaskan, jadi pertanyaan teknis soal isi kolom dikembalikan pada eksplorasi peserta. Panitia turun tangan hanya bila ada kekeliruan data. Tegaskan juga larangan menyebut nama universitas mana pun.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Poin penting: kamus data sudah sangat menjelaskan, jadi pertanyaan teknis soal isi kolom dikembalikan pada eksplorasi peserta. Panitia turun tangan hanya bila ada kekeliruan data. Tegaskan juga larangan menyebut nama universitas mana pun.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Minta peserta mengecek ulang tiga hal yang paling sering salah: orientasi portrait, satu halaman, dan ukuran berkas di bawah 20 MB. Sampaikan bahwa karya yang tidak memenuhi ketentuan teknis dapat gugur pada pemeriksaan administratif, dan atribusi sumber ikon/font/foto bersifat wajib.</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Kalimat</a:t>
            </a:r>
            <a:r>
              <a:rPr lang="en-US" dirty="0"/>
              <a:t> </a:t>
            </a:r>
            <a:r>
              <a:rPr lang="en-US" dirty="0" err="1"/>
              <a:t>penutup</a:t>
            </a:r>
            <a:r>
              <a:rPr lang="en-US" dirty="0"/>
              <a:t> slide </a:t>
            </a:r>
            <a:r>
              <a:rPr lang="en-US" dirty="0" err="1"/>
              <a:t>ini</a:t>
            </a:r>
            <a:r>
              <a:rPr lang="en-US" dirty="0"/>
              <a:t> </a:t>
            </a:r>
            <a:r>
              <a:rPr lang="en-US" dirty="0" err="1"/>
              <a:t>adalah</a:t>
            </a:r>
            <a:r>
              <a:rPr lang="en-US" dirty="0"/>
              <a:t> </a:t>
            </a:r>
            <a:r>
              <a:rPr lang="en-US" dirty="0" err="1"/>
              <a:t>pesan</a:t>
            </a:r>
            <a:r>
              <a:rPr lang="en-US" dirty="0"/>
              <a:t> </a:t>
            </a:r>
            <a:r>
              <a:rPr lang="en-US" dirty="0" err="1"/>
              <a:t>utamanya</a:t>
            </a:r>
            <a:r>
              <a:rPr lang="en-US" dirty="0"/>
              <a:t>: </a:t>
            </a:r>
            <a:r>
              <a:rPr lang="en-US" dirty="0" err="1"/>
              <a:t>bobot</a:t>
            </a:r>
            <a:r>
              <a:rPr lang="en-US" dirty="0"/>
              <a:t> </a:t>
            </a:r>
            <a:r>
              <a:rPr lang="en-US" dirty="0" err="1"/>
              <a:t>terbesar</a:t>
            </a:r>
            <a:r>
              <a:rPr lang="en-US" dirty="0"/>
              <a:t> </a:t>
            </a:r>
            <a:r>
              <a:rPr lang="en-US" dirty="0" err="1"/>
              <a:t>ada</a:t>
            </a:r>
            <a:r>
              <a:rPr lang="en-US" dirty="0"/>
              <a:t> di </a:t>
            </a:r>
            <a:r>
              <a:rPr lang="en-US" dirty="0" err="1"/>
              <a:t>akurasi</a:t>
            </a:r>
            <a:r>
              <a:rPr lang="en-US" dirty="0"/>
              <a:t> dan </a:t>
            </a:r>
            <a:r>
              <a:rPr lang="en-US" dirty="0" err="1"/>
              <a:t>kedalaman</a:t>
            </a:r>
            <a:r>
              <a:rPr lang="en-US" dirty="0"/>
              <a:t> insight, </a:t>
            </a:r>
            <a:r>
              <a:rPr lang="en-US" dirty="0" err="1"/>
              <a:t>bukan</a:t>
            </a:r>
            <a:r>
              <a:rPr lang="en-US" dirty="0"/>
              <a:t> pada </a:t>
            </a:r>
            <a:r>
              <a:rPr lang="en-US" dirty="0" err="1"/>
              <a:t>estetika</a:t>
            </a:r>
            <a:r>
              <a:rPr lang="en-US" dirty="0"/>
              <a:t>.</a:t>
            </a:r>
          </a:p>
          <a:p>
            <a:r>
              <a:rPr lang="en-US" dirty="0"/>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Bacakan poin-poin ini pelan-pelan. Dua yang paling sering dilanggar: atribusi sumber ikon/font/foto, dan penggunaan AI generatif untuk membuat visual atau narasi — batasannya dijelaskan di slide berikutnya.</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Aturan ini paling sering ditanyakan. Rumusannya: AI boleh membantu Anda memahami data, tidak boleh menggantikan Anda dalam membuat karya.</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Tutup dengan tiga pengingat: dataset resmi satu-satunya sumber, satu halaman A3 portrait, dan batas unggah 8 Oktober 2026.</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oleObject" Target="../embeddings/oleObject1.bin"/><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50595" y="676275"/>
            <a:ext cx="1823361" cy="1610106"/>
            <a:chOff x="0" y="0"/>
            <a:chExt cx="2431148" cy="2146808"/>
          </a:xfrm>
        </p:grpSpPr>
        <p:sp>
          <p:nvSpPr>
            <p:cNvPr id="4" name="Freeform 4"/>
            <p:cNvSpPr/>
            <p:nvPr/>
          </p:nvSpPr>
          <p:spPr>
            <a:xfrm>
              <a:off x="0" y="0"/>
              <a:ext cx="2431161" cy="2146808"/>
            </a:xfrm>
            <a:custGeom>
              <a:avLst/>
              <a:gdLst/>
              <a:ahLst/>
              <a:cxnLst/>
              <a:rect l="l" t="t" r="r" b="b"/>
              <a:pathLst>
                <a:path w="2431161" h="2146808">
                  <a:moveTo>
                    <a:pt x="0" y="92583"/>
                  </a:moveTo>
                  <a:cubicBezTo>
                    <a:pt x="0" y="41402"/>
                    <a:pt x="41402" y="0"/>
                    <a:pt x="92583" y="0"/>
                  </a:cubicBezTo>
                  <a:lnTo>
                    <a:pt x="2338578" y="0"/>
                  </a:lnTo>
                  <a:cubicBezTo>
                    <a:pt x="2389632" y="0"/>
                    <a:pt x="2431161" y="41402"/>
                    <a:pt x="2431161" y="92583"/>
                  </a:cubicBezTo>
                  <a:lnTo>
                    <a:pt x="2431161" y="2054225"/>
                  </a:lnTo>
                  <a:cubicBezTo>
                    <a:pt x="2431161" y="2105279"/>
                    <a:pt x="2389759" y="2146808"/>
                    <a:pt x="2338578" y="2146808"/>
                  </a:cubicBezTo>
                  <a:lnTo>
                    <a:pt x="92583" y="2146808"/>
                  </a:lnTo>
                  <a:cubicBezTo>
                    <a:pt x="41529" y="2146808"/>
                    <a:pt x="0" y="2105406"/>
                    <a:pt x="0" y="2054225"/>
                  </a:cubicBezTo>
                  <a:close/>
                </a:path>
              </a:pathLst>
            </a:custGeom>
            <a:solidFill>
              <a:srgbClr val="122042"/>
            </a:solidFill>
            <a:ln w="19050" cap="sq">
              <a:solidFill>
                <a:srgbClr val="24406F"/>
              </a:solidFill>
              <a:prstDash val="solid"/>
              <a:miter/>
            </a:ln>
          </p:spPr>
        </p:sp>
      </p:grpSp>
      <p:grpSp>
        <p:nvGrpSpPr>
          <p:cNvPr id="5" name="Group 5"/>
          <p:cNvGrpSpPr/>
          <p:nvPr/>
        </p:nvGrpSpPr>
        <p:grpSpPr>
          <a:xfrm>
            <a:off x="1124712" y="850392"/>
            <a:ext cx="1475127" cy="1261872"/>
            <a:chOff x="0" y="0"/>
            <a:chExt cx="1966836" cy="1682496"/>
          </a:xfrm>
        </p:grpSpPr>
        <p:sp>
          <p:nvSpPr>
            <p:cNvPr id="6" name="Freeform 6" descr="assets/logo.png"/>
            <p:cNvSpPr/>
            <p:nvPr/>
          </p:nvSpPr>
          <p:spPr>
            <a:xfrm>
              <a:off x="0" y="0"/>
              <a:ext cx="1966849" cy="1682496"/>
            </a:xfrm>
            <a:custGeom>
              <a:avLst/>
              <a:gdLst/>
              <a:ahLst/>
              <a:cxnLst/>
              <a:rect l="l" t="t" r="r" b="b"/>
              <a:pathLst>
                <a:path w="1966849" h="1682496">
                  <a:moveTo>
                    <a:pt x="0" y="0"/>
                  </a:moveTo>
                  <a:lnTo>
                    <a:pt x="1966849" y="0"/>
                  </a:lnTo>
                  <a:lnTo>
                    <a:pt x="1966849" y="1682496"/>
                  </a:lnTo>
                  <a:lnTo>
                    <a:pt x="0" y="1682496"/>
                  </a:lnTo>
                  <a:lnTo>
                    <a:pt x="0" y="0"/>
                  </a:lnTo>
                  <a:close/>
                </a:path>
              </a:pathLst>
            </a:custGeom>
            <a:blipFill>
              <a:blip r:embed="rId4"/>
              <a:stretch>
                <a:fillRect l="-21" r="-20"/>
              </a:stretch>
            </a:blipFill>
          </p:spPr>
        </p:sp>
      </p:grpSp>
      <p:grpSp>
        <p:nvGrpSpPr>
          <p:cNvPr id="7" name="Group 7"/>
          <p:cNvGrpSpPr/>
          <p:nvPr/>
        </p:nvGrpSpPr>
        <p:grpSpPr>
          <a:xfrm>
            <a:off x="987552" y="2674620"/>
            <a:ext cx="16322040" cy="411480"/>
            <a:chOff x="0" y="0"/>
            <a:chExt cx="21762720" cy="548640"/>
          </a:xfrm>
        </p:grpSpPr>
        <p:sp>
          <p:nvSpPr>
            <p:cNvPr id="8" name="Freeform 8"/>
            <p:cNvSpPr/>
            <p:nvPr/>
          </p:nvSpPr>
          <p:spPr>
            <a:xfrm>
              <a:off x="0" y="0"/>
              <a:ext cx="21762720" cy="548640"/>
            </a:xfrm>
            <a:custGeom>
              <a:avLst/>
              <a:gdLst/>
              <a:ahLst/>
              <a:cxnLst/>
              <a:rect l="l" t="t" r="r" b="b"/>
              <a:pathLst>
                <a:path w="21762720" h="548640">
                  <a:moveTo>
                    <a:pt x="0" y="0"/>
                  </a:moveTo>
                  <a:lnTo>
                    <a:pt x="21762720" y="0"/>
                  </a:lnTo>
                  <a:lnTo>
                    <a:pt x="21762720" y="548640"/>
                  </a:lnTo>
                  <a:lnTo>
                    <a:pt x="0" y="548640"/>
                  </a:lnTo>
                  <a:close/>
                </a:path>
              </a:pathLst>
            </a:custGeom>
            <a:blipFill>
              <a:blip r:embed="rId5">
                <a:alphaModFix amt="0"/>
              </a:blip>
              <a:stretch>
                <a:fillRect t="-722906" b="-722906"/>
              </a:stretch>
            </a:blipFill>
          </p:spPr>
        </p:sp>
        <p:sp>
          <p:nvSpPr>
            <p:cNvPr id="9" name="TextBox 9"/>
            <p:cNvSpPr txBox="1"/>
            <p:nvPr/>
          </p:nvSpPr>
          <p:spPr>
            <a:xfrm>
              <a:off x="0" y="-19050"/>
              <a:ext cx="21762720" cy="567690"/>
            </a:xfrm>
            <a:prstGeom prst="rect">
              <a:avLst/>
            </a:prstGeom>
          </p:spPr>
          <p:txBody>
            <a:bodyPr lIns="0" tIns="0" rIns="0" bIns="0" rtlCol="0" anchor="ctr"/>
            <a:lstStyle/>
            <a:p>
              <a:pPr algn="l">
                <a:lnSpc>
                  <a:spcPts val="1980"/>
                </a:lnSpc>
              </a:pPr>
              <a:r>
                <a:rPr lang="en-US" sz="1650" b="1" spc="360">
                  <a:solidFill>
                    <a:srgbClr val="E9A944"/>
                  </a:solidFill>
                  <a:latin typeface="Arial Bold"/>
                  <a:ea typeface="Arial Bold"/>
                  <a:cs typeface="Arial Bold"/>
                  <a:sym typeface="Arial Bold"/>
                </a:rPr>
                <a:t>PUSAT SATU DATA DAN KECERDASAN DIGITAL  ·  UNIVERSITAS AIRLANGGA</a:t>
              </a:r>
            </a:p>
          </p:txBody>
        </p:sp>
      </p:grpSp>
      <p:grpSp>
        <p:nvGrpSpPr>
          <p:cNvPr id="10" name="Group 10"/>
          <p:cNvGrpSpPr/>
          <p:nvPr/>
        </p:nvGrpSpPr>
        <p:grpSpPr>
          <a:xfrm>
            <a:off x="960120" y="3154680"/>
            <a:ext cx="16322040" cy="685800"/>
            <a:chOff x="0" y="0"/>
            <a:chExt cx="21762720" cy="914400"/>
          </a:xfrm>
        </p:grpSpPr>
        <p:sp>
          <p:nvSpPr>
            <p:cNvPr id="11" name="Freeform 11"/>
            <p:cNvSpPr/>
            <p:nvPr/>
          </p:nvSpPr>
          <p:spPr>
            <a:xfrm>
              <a:off x="0" y="0"/>
              <a:ext cx="21762720" cy="914400"/>
            </a:xfrm>
            <a:custGeom>
              <a:avLst/>
              <a:gdLst/>
              <a:ahLst/>
              <a:cxnLst/>
              <a:rect l="l" t="t" r="r" b="b"/>
              <a:pathLst>
                <a:path w="21762720" h="914400">
                  <a:moveTo>
                    <a:pt x="0" y="0"/>
                  </a:moveTo>
                  <a:lnTo>
                    <a:pt x="21762720" y="0"/>
                  </a:lnTo>
                  <a:lnTo>
                    <a:pt x="21762720" y="914400"/>
                  </a:lnTo>
                  <a:lnTo>
                    <a:pt x="0" y="914400"/>
                  </a:lnTo>
                  <a:close/>
                </a:path>
              </a:pathLst>
            </a:custGeom>
            <a:blipFill>
              <a:blip r:embed="rId5">
                <a:alphaModFix amt="0"/>
              </a:blip>
              <a:stretch>
                <a:fillRect t="-413743" b="-413743"/>
              </a:stretch>
            </a:blipFill>
          </p:spPr>
        </p:sp>
        <p:sp>
          <p:nvSpPr>
            <p:cNvPr id="12" name="TextBox 12"/>
            <p:cNvSpPr txBox="1"/>
            <p:nvPr/>
          </p:nvSpPr>
          <p:spPr>
            <a:xfrm>
              <a:off x="0" y="-19050"/>
              <a:ext cx="21762720" cy="933450"/>
            </a:xfrm>
            <a:prstGeom prst="rect">
              <a:avLst/>
            </a:prstGeom>
          </p:spPr>
          <p:txBody>
            <a:bodyPr lIns="0" tIns="0" rIns="0" bIns="0" rtlCol="0" anchor="ctr"/>
            <a:lstStyle/>
            <a:p>
              <a:pPr algn="l">
                <a:lnSpc>
                  <a:spcPts val="5040"/>
                </a:lnSpc>
              </a:pPr>
              <a:r>
                <a:rPr lang="en-US" sz="4200" b="1" spc="749">
                  <a:solidFill>
                    <a:srgbClr val="FFFFFF"/>
                  </a:solidFill>
                  <a:latin typeface="Arial Bold"/>
                  <a:ea typeface="Arial Bold"/>
                  <a:cs typeface="Arial Bold"/>
                  <a:sym typeface="Arial Bold"/>
                </a:rPr>
                <a:t>TECHNICAL MEETING</a:t>
              </a:r>
            </a:p>
          </p:txBody>
        </p:sp>
      </p:grpSp>
      <p:grpSp>
        <p:nvGrpSpPr>
          <p:cNvPr id="13" name="Group 13"/>
          <p:cNvGrpSpPr/>
          <p:nvPr/>
        </p:nvGrpSpPr>
        <p:grpSpPr>
          <a:xfrm>
            <a:off x="905256" y="3813048"/>
            <a:ext cx="16322040" cy="1303020"/>
            <a:chOff x="0" y="0"/>
            <a:chExt cx="21762720" cy="1737360"/>
          </a:xfrm>
        </p:grpSpPr>
        <p:sp>
          <p:nvSpPr>
            <p:cNvPr id="14" name="Freeform 14"/>
            <p:cNvSpPr/>
            <p:nvPr/>
          </p:nvSpPr>
          <p:spPr>
            <a:xfrm>
              <a:off x="0" y="0"/>
              <a:ext cx="21762720" cy="1737360"/>
            </a:xfrm>
            <a:custGeom>
              <a:avLst/>
              <a:gdLst/>
              <a:ahLst/>
              <a:cxnLst/>
              <a:rect l="l" t="t" r="r" b="b"/>
              <a:pathLst>
                <a:path w="21762720" h="1737360">
                  <a:moveTo>
                    <a:pt x="0" y="0"/>
                  </a:moveTo>
                  <a:lnTo>
                    <a:pt x="21762720" y="0"/>
                  </a:lnTo>
                  <a:lnTo>
                    <a:pt x="21762720" y="1737360"/>
                  </a:lnTo>
                  <a:lnTo>
                    <a:pt x="0" y="1737360"/>
                  </a:lnTo>
                  <a:close/>
                </a:path>
              </a:pathLst>
            </a:custGeom>
            <a:blipFill>
              <a:blip r:embed="rId5">
                <a:alphaModFix amt="0"/>
              </a:blip>
              <a:stretch>
                <a:fillRect t="-194075" b="-194075"/>
              </a:stretch>
            </a:blipFill>
          </p:spPr>
        </p:sp>
        <p:sp>
          <p:nvSpPr>
            <p:cNvPr id="15" name="TextBox 15"/>
            <p:cNvSpPr txBox="1"/>
            <p:nvPr/>
          </p:nvSpPr>
          <p:spPr>
            <a:xfrm>
              <a:off x="0" y="-38100"/>
              <a:ext cx="21762720" cy="1775460"/>
            </a:xfrm>
            <a:prstGeom prst="rect">
              <a:avLst/>
            </a:prstGeom>
          </p:spPr>
          <p:txBody>
            <a:bodyPr lIns="0" tIns="0" rIns="0" bIns="0" rtlCol="0" anchor="ctr"/>
            <a:lstStyle/>
            <a:p>
              <a:pPr algn="l">
                <a:lnSpc>
                  <a:spcPts val="9360"/>
                </a:lnSpc>
              </a:pPr>
              <a:r>
                <a:rPr lang="en-US" sz="7800" b="1" spc="225">
                  <a:solidFill>
                    <a:srgbClr val="E9A944"/>
                  </a:solidFill>
                  <a:latin typeface="Arial Bold"/>
                  <a:ea typeface="Arial Bold"/>
                  <a:cs typeface="Arial Bold"/>
                  <a:sym typeface="Arial Bold"/>
                </a:rPr>
                <a:t>INFOGRAPHIC</a:t>
              </a:r>
            </a:p>
          </p:txBody>
        </p:sp>
      </p:grpSp>
      <p:grpSp>
        <p:nvGrpSpPr>
          <p:cNvPr id="16" name="Group 16"/>
          <p:cNvGrpSpPr/>
          <p:nvPr/>
        </p:nvGrpSpPr>
        <p:grpSpPr>
          <a:xfrm>
            <a:off x="905256" y="4910328"/>
            <a:ext cx="16322040" cy="1303020"/>
            <a:chOff x="0" y="0"/>
            <a:chExt cx="21762720" cy="1737360"/>
          </a:xfrm>
        </p:grpSpPr>
        <p:sp>
          <p:nvSpPr>
            <p:cNvPr id="17" name="Freeform 17"/>
            <p:cNvSpPr/>
            <p:nvPr/>
          </p:nvSpPr>
          <p:spPr>
            <a:xfrm>
              <a:off x="0" y="0"/>
              <a:ext cx="21762720" cy="1737360"/>
            </a:xfrm>
            <a:custGeom>
              <a:avLst/>
              <a:gdLst/>
              <a:ahLst/>
              <a:cxnLst/>
              <a:rect l="l" t="t" r="r" b="b"/>
              <a:pathLst>
                <a:path w="21762720" h="1737360">
                  <a:moveTo>
                    <a:pt x="0" y="0"/>
                  </a:moveTo>
                  <a:lnTo>
                    <a:pt x="21762720" y="0"/>
                  </a:lnTo>
                  <a:lnTo>
                    <a:pt x="21762720" y="1737360"/>
                  </a:lnTo>
                  <a:lnTo>
                    <a:pt x="0" y="1737360"/>
                  </a:lnTo>
                  <a:close/>
                </a:path>
              </a:pathLst>
            </a:custGeom>
            <a:blipFill>
              <a:blip r:embed="rId5">
                <a:alphaModFix amt="0"/>
              </a:blip>
              <a:stretch>
                <a:fillRect t="-194075" b="-194075"/>
              </a:stretch>
            </a:blipFill>
          </p:spPr>
        </p:sp>
        <p:sp>
          <p:nvSpPr>
            <p:cNvPr id="18" name="TextBox 18"/>
            <p:cNvSpPr txBox="1"/>
            <p:nvPr/>
          </p:nvSpPr>
          <p:spPr>
            <a:xfrm>
              <a:off x="0" y="-38100"/>
              <a:ext cx="21762720" cy="1775460"/>
            </a:xfrm>
            <a:prstGeom prst="rect">
              <a:avLst/>
            </a:prstGeom>
          </p:spPr>
          <p:txBody>
            <a:bodyPr lIns="0" tIns="0" rIns="0" bIns="0" rtlCol="0" anchor="ctr"/>
            <a:lstStyle/>
            <a:p>
              <a:pPr algn="l">
                <a:lnSpc>
                  <a:spcPts val="9360"/>
                </a:lnSpc>
              </a:pPr>
              <a:r>
                <a:rPr lang="en-US" sz="7800" b="1" spc="225">
                  <a:solidFill>
                    <a:srgbClr val="E9A944"/>
                  </a:solidFill>
                  <a:latin typeface="Arial Bold"/>
                  <a:ea typeface="Arial Bold"/>
                  <a:cs typeface="Arial Bold"/>
                  <a:sym typeface="Arial Bold"/>
                </a:rPr>
                <a:t>COMPETITION</a:t>
              </a:r>
            </a:p>
          </p:txBody>
        </p:sp>
      </p:grpSp>
      <p:grpSp>
        <p:nvGrpSpPr>
          <p:cNvPr id="19" name="Group 19"/>
          <p:cNvGrpSpPr/>
          <p:nvPr/>
        </p:nvGrpSpPr>
        <p:grpSpPr>
          <a:xfrm>
            <a:off x="987552" y="6240780"/>
            <a:ext cx="16322040" cy="548640"/>
            <a:chOff x="0" y="0"/>
            <a:chExt cx="21762720" cy="731520"/>
          </a:xfrm>
        </p:grpSpPr>
        <p:sp>
          <p:nvSpPr>
            <p:cNvPr id="20" name="Freeform 20"/>
            <p:cNvSpPr/>
            <p:nvPr/>
          </p:nvSpPr>
          <p:spPr>
            <a:xfrm>
              <a:off x="0" y="0"/>
              <a:ext cx="21762720" cy="731520"/>
            </a:xfrm>
            <a:custGeom>
              <a:avLst/>
              <a:gdLst/>
              <a:ahLst/>
              <a:cxnLst/>
              <a:rect l="l" t="t" r="r" b="b"/>
              <a:pathLst>
                <a:path w="21762720" h="731520">
                  <a:moveTo>
                    <a:pt x="0" y="0"/>
                  </a:moveTo>
                  <a:lnTo>
                    <a:pt x="21762720" y="0"/>
                  </a:lnTo>
                  <a:lnTo>
                    <a:pt x="21762720" y="731520"/>
                  </a:lnTo>
                  <a:lnTo>
                    <a:pt x="0" y="731520"/>
                  </a:lnTo>
                  <a:close/>
                </a:path>
              </a:pathLst>
            </a:custGeom>
            <a:blipFill>
              <a:blip r:embed="rId5">
                <a:alphaModFix amt="0"/>
              </a:blip>
              <a:stretch>
                <a:fillRect t="-529679" b="-529679"/>
              </a:stretch>
            </a:blipFill>
          </p:spPr>
        </p:sp>
        <p:sp>
          <p:nvSpPr>
            <p:cNvPr id="21" name="TextBox 21"/>
            <p:cNvSpPr txBox="1"/>
            <p:nvPr/>
          </p:nvSpPr>
          <p:spPr>
            <a:xfrm>
              <a:off x="0" y="-47625"/>
              <a:ext cx="21762720" cy="779145"/>
            </a:xfrm>
            <a:prstGeom prst="rect">
              <a:avLst/>
            </a:prstGeom>
          </p:spPr>
          <p:txBody>
            <a:bodyPr lIns="0" tIns="0" rIns="0" bIns="0" rtlCol="0" anchor="ctr"/>
            <a:lstStyle/>
            <a:p>
              <a:pPr algn="l">
                <a:lnSpc>
                  <a:spcPts val="3060"/>
                </a:lnSpc>
              </a:pPr>
              <a:r>
                <a:rPr lang="en-US" sz="2550">
                  <a:solidFill>
                    <a:srgbClr val="9FB0CE"/>
                  </a:solidFill>
                  <a:latin typeface="Calibri (MS)"/>
                  <a:ea typeface="Calibri (MS)"/>
                  <a:cs typeface="Calibri (MS)"/>
                  <a:sym typeface="Calibri (MS)"/>
                </a:rPr>
                <a:t>Babak Final — Campus Data Week 2026</a:t>
              </a:r>
            </a:p>
          </p:txBody>
        </p:sp>
      </p:grpSp>
      <p:grpSp>
        <p:nvGrpSpPr>
          <p:cNvPr id="22" name="Group 22"/>
          <p:cNvGrpSpPr/>
          <p:nvPr/>
        </p:nvGrpSpPr>
        <p:grpSpPr>
          <a:xfrm>
            <a:off x="950595" y="7328535"/>
            <a:ext cx="5162550" cy="1527810"/>
            <a:chOff x="0" y="0"/>
            <a:chExt cx="6883400" cy="2037080"/>
          </a:xfrm>
        </p:grpSpPr>
        <p:sp>
          <p:nvSpPr>
            <p:cNvPr id="23" name="Freeform 23"/>
            <p:cNvSpPr/>
            <p:nvPr/>
          </p:nvSpPr>
          <p:spPr>
            <a:xfrm>
              <a:off x="0" y="0"/>
              <a:ext cx="6883400" cy="2037080"/>
            </a:xfrm>
            <a:custGeom>
              <a:avLst/>
              <a:gdLst/>
              <a:ahLst/>
              <a:cxnLst/>
              <a:rect l="l" t="t" r="r" b="b"/>
              <a:pathLst>
                <a:path w="6883400" h="2037080">
                  <a:moveTo>
                    <a:pt x="0" y="111125"/>
                  </a:moveTo>
                  <a:cubicBezTo>
                    <a:pt x="0" y="49784"/>
                    <a:pt x="49784" y="0"/>
                    <a:pt x="111125" y="0"/>
                  </a:cubicBezTo>
                  <a:lnTo>
                    <a:pt x="6772275" y="0"/>
                  </a:lnTo>
                  <a:cubicBezTo>
                    <a:pt x="6833616" y="0"/>
                    <a:pt x="6883400" y="49784"/>
                    <a:pt x="6883400" y="111125"/>
                  </a:cubicBezTo>
                  <a:lnTo>
                    <a:pt x="6883400" y="1925955"/>
                  </a:lnTo>
                  <a:cubicBezTo>
                    <a:pt x="6883400" y="1987296"/>
                    <a:pt x="6833616" y="2037080"/>
                    <a:pt x="6772275" y="2037080"/>
                  </a:cubicBezTo>
                  <a:lnTo>
                    <a:pt x="111125" y="2037080"/>
                  </a:lnTo>
                  <a:cubicBezTo>
                    <a:pt x="49784" y="2037080"/>
                    <a:pt x="0" y="1987296"/>
                    <a:pt x="0" y="1925955"/>
                  </a:cubicBezTo>
                  <a:close/>
                </a:path>
              </a:pathLst>
            </a:custGeom>
            <a:solidFill>
              <a:srgbClr val="0D1632">
                <a:alpha val="77255"/>
              </a:srgbClr>
            </a:solidFill>
            <a:ln w="19050" cap="sq">
              <a:solidFill>
                <a:srgbClr val="24406F"/>
              </a:solidFill>
              <a:prstDash val="solid"/>
              <a:miter/>
            </a:ln>
          </p:spPr>
        </p:sp>
      </p:grpSp>
      <p:grpSp>
        <p:nvGrpSpPr>
          <p:cNvPr id="24" name="Group 24"/>
          <p:cNvGrpSpPr/>
          <p:nvPr/>
        </p:nvGrpSpPr>
        <p:grpSpPr>
          <a:xfrm>
            <a:off x="1303020" y="7571232"/>
            <a:ext cx="4594860" cy="329184"/>
            <a:chOff x="0" y="0"/>
            <a:chExt cx="6126480" cy="438912"/>
          </a:xfrm>
        </p:grpSpPr>
        <p:sp>
          <p:nvSpPr>
            <p:cNvPr id="25" name="Freeform 25"/>
            <p:cNvSpPr/>
            <p:nvPr/>
          </p:nvSpPr>
          <p:spPr>
            <a:xfrm>
              <a:off x="0" y="0"/>
              <a:ext cx="6126480" cy="438912"/>
            </a:xfrm>
            <a:custGeom>
              <a:avLst/>
              <a:gdLst/>
              <a:ahLst/>
              <a:cxnLst/>
              <a:rect l="l" t="t" r="r" b="b"/>
              <a:pathLst>
                <a:path w="6126480" h="438912">
                  <a:moveTo>
                    <a:pt x="0" y="0"/>
                  </a:moveTo>
                  <a:lnTo>
                    <a:pt x="6126480" y="0"/>
                  </a:lnTo>
                  <a:lnTo>
                    <a:pt x="6126480" y="438912"/>
                  </a:lnTo>
                  <a:lnTo>
                    <a:pt x="0" y="438912"/>
                  </a:lnTo>
                  <a:close/>
                </a:path>
              </a:pathLst>
            </a:custGeom>
            <a:blipFill>
              <a:blip r:embed="rId5">
                <a:alphaModFix amt="0"/>
              </a:blip>
              <a:stretch>
                <a:fillRect t="-221978" b="-221978"/>
              </a:stretch>
            </a:blipFill>
          </p:spPr>
        </p:sp>
        <p:sp>
          <p:nvSpPr>
            <p:cNvPr id="26" name="TextBox 26"/>
            <p:cNvSpPr txBox="1"/>
            <p:nvPr/>
          </p:nvSpPr>
          <p:spPr>
            <a:xfrm>
              <a:off x="0" y="-19050"/>
              <a:ext cx="6126480" cy="457962"/>
            </a:xfrm>
            <a:prstGeom prst="rect">
              <a:avLst/>
            </a:prstGeom>
          </p:spPr>
          <p:txBody>
            <a:bodyPr lIns="0" tIns="0" rIns="0" bIns="0" rtlCol="0" anchor="ctr"/>
            <a:lstStyle/>
            <a:p>
              <a:pPr algn="l">
                <a:lnSpc>
                  <a:spcPts val="1620"/>
                </a:lnSpc>
              </a:pPr>
              <a:r>
                <a:rPr lang="en-US" sz="1350" b="1" spc="240">
                  <a:solidFill>
                    <a:srgbClr val="E9A944"/>
                  </a:solidFill>
                  <a:latin typeface="Arial Bold"/>
                  <a:ea typeface="Arial Bold"/>
                  <a:cs typeface="Arial Bold"/>
                  <a:sym typeface="Arial Bold"/>
                </a:rPr>
                <a:t>TANGGAL</a:t>
              </a:r>
            </a:p>
          </p:txBody>
        </p:sp>
      </p:grpSp>
      <p:grpSp>
        <p:nvGrpSpPr>
          <p:cNvPr id="27" name="Group 27"/>
          <p:cNvGrpSpPr/>
          <p:nvPr/>
        </p:nvGrpSpPr>
        <p:grpSpPr>
          <a:xfrm>
            <a:off x="1303020" y="7927848"/>
            <a:ext cx="4594860" cy="685800"/>
            <a:chOff x="0" y="0"/>
            <a:chExt cx="6126480" cy="914400"/>
          </a:xfrm>
        </p:grpSpPr>
        <p:sp>
          <p:nvSpPr>
            <p:cNvPr id="28" name="Freeform 28"/>
            <p:cNvSpPr/>
            <p:nvPr/>
          </p:nvSpPr>
          <p:spPr>
            <a:xfrm>
              <a:off x="0" y="0"/>
              <a:ext cx="6126480" cy="914400"/>
            </a:xfrm>
            <a:custGeom>
              <a:avLst/>
              <a:gdLst/>
              <a:ahLst/>
              <a:cxnLst/>
              <a:rect l="l" t="t" r="r" b="b"/>
              <a:pathLst>
                <a:path w="6126480" h="914400">
                  <a:moveTo>
                    <a:pt x="0" y="0"/>
                  </a:moveTo>
                  <a:lnTo>
                    <a:pt x="6126480" y="0"/>
                  </a:lnTo>
                  <a:lnTo>
                    <a:pt x="6126480" y="914400"/>
                  </a:lnTo>
                  <a:lnTo>
                    <a:pt x="0" y="914400"/>
                  </a:lnTo>
                  <a:close/>
                </a:path>
              </a:pathLst>
            </a:custGeom>
            <a:blipFill>
              <a:blip r:embed="rId5">
                <a:alphaModFix amt="0"/>
              </a:blip>
              <a:stretch>
                <a:fillRect t="-80549" b="-80549"/>
              </a:stretch>
            </a:blipFill>
          </p:spPr>
        </p:sp>
        <p:sp>
          <p:nvSpPr>
            <p:cNvPr id="29" name="TextBox 29"/>
            <p:cNvSpPr txBox="1"/>
            <p:nvPr/>
          </p:nvSpPr>
          <p:spPr>
            <a:xfrm>
              <a:off x="0" y="-38100"/>
              <a:ext cx="6126480" cy="952500"/>
            </a:xfrm>
            <a:prstGeom prst="rect">
              <a:avLst/>
            </a:prstGeom>
          </p:spPr>
          <p:txBody>
            <a:bodyPr lIns="0" tIns="0" rIns="0" bIns="0" rtlCol="0" anchor="ctr"/>
            <a:lstStyle/>
            <a:p>
              <a:pPr algn="l">
                <a:lnSpc>
                  <a:spcPts val="2250"/>
                </a:lnSpc>
              </a:pPr>
              <a:r>
                <a:rPr lang="en-US" sz="1875">
                  <a:solidFill>
                    <a:srgbClr val="FFFFFF"/>
                  </a:solidFill>
                  <a:latin typeface="Calibri (MS)"/>
                  <a:ea typeface="Calibri (MS)"/>
                  <a:cs typeface="Calibri (MS)"/>
                  <a:sym typeface="Calibri (MS)"/>
                </a:rPr>
                <a:t>Selasa, 27 Oktober 2026</a:t>
              </a:r>
            </a:p>
          </p:txBody>
        </p:sp>
      </p:grpSp>
      <p:grpSp>
        <p:nvGrpSpPr>
          <p:cNvPr id="30" name="Group 30"/>
          <p:cNvGrpSpPr/>
          <p:nvPr/>
        </p:nvGrpSpPr>
        <p:grpSpPr>
          <a:xfrm>
            <a:off x="6560439" y="7328535"/>
            <a:ext cx="5162550" cy="1527810"/>
            <a:chOff x="0" y="0"/>
            <a:chExt cx="6883400" cy="2037080"/>
          </a:xfrm>
        </p:grpSpPr>
        <p:sp>
          <p:nvSpPr>
            <p:cNvPr id="31" name="Freeform 31"/>
            <p:cNvSpPr/>
            <p:nvPr/>
          </p:nvSpPr>
          <p:spPr>
            <a:xfrm>
              <a:off x="0" y="0"/>
              <a:ext cx="6883400" cy="2037080"/>
            </a:xfrm>
            <a:custGeom>
              <a:avLst/>
              <a:gdLst/>
              <a:ahLst/>
              <a:cxnLst/>
              <a:rect l="l" t="t" r="r" b="b"/>
              <a:pathLst>
                <a:path w="6883400" h="2037080">
                  <a:moveTo>
                    <a:pt x="0" y="111125"/>
                  </a:moveTo>
                  <a:cubicBezTo>
                    <a:pt x="0" y="49784"/>
                    <a:pt x="49784" y="0"/>
                    <a:pt x="111125" y="0"/>
                  </a:cubicBezTo>
                  <a:lnTo>
                    <a:pt x="6772275" y="0"/>
                  </a:lnTo>
                  <a:cubicBezTo>
                    <a:pt x="6833616" y="0"/>
                    <a:pt x="6883400" y="49784"/>
                    <a:pt x="6883400" y="111125"/>
                  </a:cubicBezTo>
                  <a:lnTo>
                    <a:pt x="6883400" y="1925955"/>
                  </a:lnTo>
                  <a:cubicBezTo>
                    <a:pt x="6883400" y="1987296"/>
                    <a:pt x="6833616" y="2037080"/>
                    <a:pt x="6772275" y="2037080"/>
                  </a:cubicBezTo>
                  <a:lnTo>
                    <a:pt x="111125" y="2037080"/>
                  </a:lnTo>
                  <a:cubicBezTo>
                    <a:pt x="49784" y="2037080"/>
                    <a:pt x="0" y="1987296"/>
                    <a:pt x="0" y="1925955"/>
                  </a:cubicBezTo>
                  <a:close/>
                </a:path>
              </a:pathLst>
            </a:custGeom>
            <a:solidFill>
              <a:srgbClr val="0D1632">
                <a:alpha val="77255"/>
              </a:srgbClr>
            </a:solidFill>
            <a:ln w="19050" cap="sq">
              <a:solidFill>
                <a:srgbClr val="24406F"/>
              </a:solidFill>
              <a:prstDash val="solid"/>
              <a:miter/>
            </a:ln>
          </p:spPr>
        </p:sp>
      </p:grpSp>
      <p:grpSp>
        <p:nvGrpSpPr>
          <p:cNvPr id="32" name="Group 32"/>
          <p:cNvGrpSpPr/>
          <p:nvPr/>
        </p:nvGrpSpPr>
        <p:grpSpPr>
          <a:xfrm>
            <a:off x="6912864" y="7571232"/>
            <a:ext cx="4594860" cy="329184"/>
            <a:chOff x="0" y="0"/>
            <a:chExt cx="6126480" cy="438912"/>
          </a:xfrm>
        </p:grpSpPr>
        <p:sp>
          <p:nvSpPr>
            <p:cNvPr id="33" name="Freeform 33"/>
            <p:cNvSpPr/>
            <p:nvPr/>
          </p:nvSpPr>
          <p:spPr>
            <a:xfrm>
              <a:off x="0" y="0"/>
              <a:ext cx="6126480" cy="438912"/>
            </a:xfrm>
            <a:custGeom>
              <a:avLst/>
              <a:gdLst/>
              <a:ahLst/>
              <a:cxnLst/>
              <a:rect l="l" t="t" r="r" b="b"/>
              <a:pathLst>
                <a:path w="6126480" h="438912">
                  <a:moveTo>
                    <a:pt x="0" y="0"/>
                  </a:moveTo>
                  <a:lnTo>
                    <a:pt x="6126480" y="0"/>
                  </a:lnTo>
                  <a:lnTo>
                    <a:pt x="6126480" y="438912"/>
                  </a:lnTo>
                  <a:lnTo>
                    <a:pt x="0" y="438912"/>
                  </a:lnTo>
                  <a:close/>
                </a:path>
              </a:pathLst>
            </a:custGeom>
            <a:blipFill>
              <a:blip r:embed="rId5">
                <a:alphaModFix amt="0"/>
              </a:blip>
              <a:stretch>
                <a:fillRect t="-221978" b="-221978"/>
              </a:stretch>
            </a:blipFill>
          </p:spPr>
        </p:sp>
        <p:sp>
          <p:nvSpPr>
            <p:cNvPr id="34" name="TextBox 34"/>
            <p:cNvSpPr txBox="1"/>
            <p:nvPr/>
          </p:nvSpPr>
          <p:spPr>
            <a:xfrm>
              <a:off x="0" y="-19050"/>
              <a:ext cx="6126480" cy="457962"/>
            </a:xfrm>
            <a:prstGeom prst="rect">
              <a:avLst/>
            </a:prstGeom>
          </p:spPr>
          <p:txBody>
            <a:bodyPr lIns="0" tIns="0" rIns="0" bIns="0" rtlCol="0" anchor="ctr"/>
            <a:lstStyle/>
            <a:p>
              <a:pPr algn="l">
                <a:lnSpc>
                  <a:spcPts val="1620"/>
                </a:lnSpc>
              </a:pPr>
              <a:r>
                <a:rPr lang="en-US" sz="1350" b="1" spc="240">
                  <a:solidFill>
                    <a:srgbClr val="E9A944"/>
                  </a:solidFill>
                  <a:latin typeface="Arial Bold"/>
                  <a:ea typeface="Arial Bold"/>
                  <a:cs typeface="Arial Bold"/>
                  <a:sym typeface="Arial Bold"/>
                </a:rPr>
                <a:t>AGENDA</a:t>
              </a:r>
            </a:p>
          </p:txBody>
        </p:sp>
      </p:grpSp>
      <p:grpSp>
        <p:nvGrpSpPr>
          <p:cNvPr id="35" name="Group 35"/>
          <p:cNvGrpSpPr/>
          <p:nvPr/>
        </p:nvGrpSpPr>
        <p:grpSpPr>
          <a:xfrm>
            <a:off x="6912864" y="7927848"/>
            <a:ext cx="4594860" cy="685800"/>
            <a:chOff x="0" y="0"/>
            <a:chExt cx="6126480" cy="914400"/>
          </a:xfrm>
        </p:grpSpPr>
        <p:sp>
          <p:nvSpPr>
            <p:cNvPr id="36" name="Freeform 36"/>
            <p:cNvSpPr/>
            <p:nvPr/>
          </p:nvSpPr>
          <p:spPr>
            <a:xfrm>
              <a:off x="0" y="0"/>
              <a:ext cx="6126480" cy="914400"/>
            </a:xfrm>
            <a:custGeom>
              <a:avLst/>
              <a:gdLst/>
              <a:ahLst/>
              <a:cxnLst/>
              <a:rect l="l" t="t" r="r" b="b"/>
              <a:pathLst>
                <a:path w="6126480" h="914400">
                  <a:moveTo>
                    <a:pt x="0" y="0"/>
                  </a:moveTo>
                  <a:lnTo>
                    <a:pt x="6126480" y="0"/>
                  </a:lnTo>
                  <a:lnTo>
                    <a:pt x="6126480" y="914400"/>
                  </a:lnTo>
                  <a:lnTo>
                    <a:pt x="0" y="914400"/>
                  </a:lnTo>
                  <a:close/>
                </a:path>
              </a:pathLst>
            </a:custGeom>
            <a:blipFill>
              <a:blip r:embed="rId5">
                <a:alphaModFix amt="0"/>
              </a:blip>
              <a:stretch>
                <a:fillRect t="-80549" b="-80549"/>
              </a:stretch>
            </a:blipFill>
          </p:spPr>
        </p:sp>
        <p:sp>
          <p:nvSpPr>
            <p:cNvPr id="37" name="TextBox 37"/>
            <p:cNvSpPr txBox="1"/>
            <p:nvPr/>
          </p:nvSpPr>
          <p:spPr>
            <a:xfrm>
              <a:off x="0" y="-38100"/>
              <a:ext cx="6126480" cy="952500"/>
            </a:xfrm>
            <a:prstGeom prst="rect">
              <a:avLst/>
            </a:prstGeom>
          </p:spPr>
          <p:txBody>
            <a:bodyPr lIns="0" tIns="0" rIns="0" bIns="0" rtlCol="0" anchor="ctr"/>
            <a:lstStyle/>
            <a:p>
              <a:pPr algn="l">
                <a:lnSpc>
                  <a:spcPts val="2250"/>
                </a:lnSpc>
              </a:pPr>
              <a:r>
                <a:rPr lang="en-US" sz="1875">
                  <a:solidFill>
                    <a:srgbClr val="FFFFFF"/>
                  </a:solidFill>
                  <a:latin typeface="Calibri (MS)"/>
                  <a:ea typeface="Calibri (MS)"/>
                  <a:cs typeface="Calibri (MS)"/>
                  <a:sym typeface="Calibri (MS)"/>
                </a:rPr>
                <a:t>Teknis Babak Final</a:t>
              </a:r>
            </a:p>
          </p:txBody>
        </p:sp>
      </p:grpSp>
      <p:grpSp>
        <p:nvGrpSpPr>
          <p:cNvPr id="38" name="Group 38"/>
          <p:cNvGrpSpPr/>
          <p:nvPr/>
        </p:nvGrpSpPr>
        <p:grpSpPr>
          <a:xfrm>
            <a:off x="12170283" y="7328535"/>
            <a:ext cx="5162550" cy="1527810"/>
            <a:chOff x="0" y="0"/>
            <a:chExt cx="6883400" cy="2037080"/>
          </a:xfrm>
        </p:grpSpPr>
        <p:sp>
          <p:nvSpPr>
            <p:cNvPr id="39" name="Freeform 39"/>
            <p:cNvSpPr/>
            <p:nvPr/>
          </p:nvSpPr>
          <p:spPr>
            <a:xfrm>
              <a:off x="0" y="0"/>
              <a:ext cx="6883400" cy="2037080"/>
            </a:xfrm>
            <a:custGeom>
              <a:avLst/>
              <a:gdLst/>
              <a:ahLst/>
              <a:cxnLst/>
              <a:rect l="l" t="t" r="r" b="b"/>
              <a:pathLst>
                <a:path w="6883400" h="2037080">
                  <a:moveTo>
                    <a:pt x="0" y="111125"/>
                  </a:moveTo>
                  <a:cubicBezTo>
                    <a:pt x="0" y="49784"/>
                    <a:pt x="49784" y="0"/>
                    <a:pt x="111125" y="0"/>
                  </a:cubicBezTo>
                  <a:lnTo>
                    <a:pt x="6772275" y="0"/>
                  </a:lnTo>
                  <a:cubicBezTo>
                    <a:pt x="6833616" y="0"/>
                    <a:pt x="6883400" y="49784"/>
                    <a:pt x="6883400" y="111125"/>
                  </a:cubicBezTo>
                  <a:lnTo>
                    <a:pt x="6883400" y="1925955"/>
                  </a:lnTo>
                  <a:cubicBezTo>
                    <a:pt x="6883400" y="1987296"/>
                    <a:pt x="6833616" y="2037080"/>
                    <a:pt x="6772275" y="2037080"/>
                  </a:cubicBezTo>
                  <a:lnTo>
                    <a:pt x="111125" y="2037080"/>
                  </a:lnTo>
                  <a:cubicBezTo>
                    <a:pt x="49784" y="2037080"/>
                    <a:pt x="0" y="1987296"/>
                    <a:pt x="0" y="1925955"/>
                  </a:cubicBezTo>
                  <a:close/>
                </a:path>
              </a:pathLst>
            </a:custGeom>
            <a:solidFill>
              <a:srgbClr val="0D1632">
                <a:alpha val="77255"/>
              </a:srgbClr>
            </a:solidFill>
            <a:ln w="19050" cap="sq">
              <a:solidFill>
                <a:srgbClr val="24406F"/>
              </a:solidFill>
              <a:prstDash val="solid"/>
              <a:miter/>
            </a:ln>
          </p:spPr>
        </p:sp>
      </p:grpSp>
      <p:grpSp>
        <p:nvGrpSpPr>
          <p:cNvPr id="40" name="Group 40"/>
          <p:cNvGrpSpPr/>
          <p:nvPr/>
        </p:nvGrpSpPr>
        <p:grpSpPr>
          <a:xfrm>
            <a:off x="12522708" y="7571232"/>
            <a:ext cx="4594860" cy="329184"/>
            <a:chOff x="0" y="0"/>
            <a:chExt cx="6126480" cy="438912"/>
          </a:xfrm>
        </p:grpSpPr>
        <p:sp>
          <p:nvSpPr>
            <p:cNvPr id="41" name="Freeform 41"/>
            <p:cNvSpPr/>
            <p:nvPr/>
          </p:nvSpPr>
          <p:spPr>
            <a:xfrm>
              <a:off x="0" y="0"/>
              <a:ext cx="6126480" cy="438912"/>
            </a:xfrm>
            <a:custGeom>
              <a:avLst/>
              <a:gdLst/>
              <a:ahLst/>
              <a:cxnLst/>
              <a:rect l="l" t="t" r="r" b="b"/>
              <a:pathLst>
                <a:path w="6126480" h="438912">
                  <a:moveTo>
                    <a:pt x="0" y="0"/>
                  </a:moveTo>
                  <a:lnTo>
                    <a:pt x="6126480" y="0"/>
                  </a:lnTo>
                  <a:lnTo>
                    <a:pt x="6126480" y="438912"/>
                  </a:lnTo>
                  <a:lnTo>
                    <a:pt x="0" y="438912"/>
                  </a:lnTo>
                  <a:close/>
                </a:path>
              </a:pathLst>
            </a:custGeom>
            <a:blipFill>
              <a:blip r:embed="rId5">
                <a:alphaModFix amt="0"/>
              </a:blip>
              <a:stretch>
                <a:fillRect t="-221978" b="-221978"/>
              </a:stretch>
            </a:blipFill>
          </p:spPr>
        </p:sp>
        <p:sp>
          <p:nvSpPr>
            <p:cNvPr id="42" name="TextBox 42"/>
            <p:cNvSpPr txBox="1"/>
            <p:nvPr/>
          </p:nvSpPr>
          <p:spPr>
            <a:xfrm>
              <a:off x="0" y="-19050"/>
              <a:ext cx="6126480" cy="457962"/>
            </a:xfrm>
            <a:prstGeom prst="rect">
              <a:avLst/>
            </a:prstGeom>
          </p:spPr>
          <p:txBody>
            <a:bodyPr lIns="0" tIns="0" rIns="0" bIns="0" rtlCol="0" anchor="ctr"/>
            <a:lstStyle/>
            <a:p>
              <a:pPr algn="l">
                <a:lnSpc>
                  <a:spcPts val="1620"/>
                </a:lnSpc>
              </a:pPr>
              <a:r>
                <a:rPr lang="en-US" sz="1350" b="1" spc="240">
                  <a:solidFill>
                    <a:srgbClr val="E9A944"/>
                  </a:solidFill>
                  <a:latin typeface="Arial Bold"/>
                  <a:ea typeface="Arial Bold"/>
                  <a:cs typeface="Arial Bold"/>
                  <a:sym typeface="Arial Bold"/>
                </a:rPr>
                <a:t>PLATFORM</a:t>
              </a:r>
            </a:p>
          </p:txBody>
        </p:sp>
      </p:grpSp>
      <p:grpSp>
        <p:nvGrpSpPr>
          <p:cNvPr id="43" name="Group 43"/>
          <p:cNvGrpSpPr/>
          <p:nvPr/>
        </p:nvGrpSpPr>
        <p:grpSpPr>
          <a:xfrm>
            <a:off x="12522708" y="7927848"/>
            <a:ext cx="4594860" cy="685800"/>
            <a:chOff x="0" y="0"/>
            <a:chExt cx="6126480" cy="914400"/>
          </a:xfrm>
        </p:grpSpPr>
        <p:sp>
          <p:nvSpPr>
            <p:cNvPr id="44" name="Freeform 44"/>
            <p:cNvSpPr/>
            <p:nvPr/>
          </p:nvSpPr>
          <p:spPr>
            <a:xfrm>
              <a:off x="0" y="0"/>
              <a:ext cx="6126480" cy="914400"/>
            </a:xfrm>
            <a:custGeom>
              <a:avLst/>
              <a:gdLst/>
              <a:ahLst/>
              <a:cxnLst/>
              <a:rect l="l" t="t" r="r" b="b"/>
              <a:pathLst>
                <a:path w="6126480" h="914400">
                  <a:moveTo>
                    <a:pt x="0" y="0"/>
                  </a:moveTo>
                  <a:lnTo>
                    <a:pt x="6126480" y="0"/>
                  </a:lnTo>
                  <a:lnTo>
                    <a:pt x="6126480" y="914400"/>
                  </a:lnTo>
                  <a:lnTo>
                    <a:pt x="0" y="914400"/>
                  </a:lnTo>
                  <a:close/>
                </a:path>
              </a:pathLst>
            </a:custGeom>
            <a:blipFill>
              <a:blip r:embed="rId5">
                <a:alphaModFix amt="0"/>
              </a:blip>
              <a:stretch>
                <a:fillRect t="-80549" b="-80549"/>
              </a:stretch>
            </a:blipFill>
          </p:spPr>
        </p:sp>
        <p:sp>
          <p:nvSpPr>
            <p:cNvPr id="45" name="TextBox 45"/>
            <p:cNvSpPr txBox="1"/>
            <p:nvPr/>
          </p:nvSpPr>
          <p:spPr>
            <a:xfrm>
              <a:off x="0" y="-38100"/>
              <a:ext cx="6126480" cy="952500"/>
            </a:xfrm>
            <a:prstGeom prst="rect">
              <a:avLst/>
            </a:prstGeom>
          </p:spPr>
          <p:txBody>
            <a:bodyPr lIns="0" tIns="0" rIns="0" bIns="0" rtlCol="0" anchor="ctr"/>
            <a:lstStyle/>
            <a:p>
              <a:pPr algn="l">
                <a:lnSpc>
                  <a:spcPts val="2250"/>
                </a:lnSpc>
              </a:pPr>
              <a:r>
                <a:rPr lang="en-US" sz="1875">
                  <a:solidFill>
                    <a:srgbClr val="FFFFFF"/>
                  </a:solidFill>
                  <a:latin typeface="Calibri (MS)"/>
                  <a:ea typeface="Calibri (MS)"/>
                  <a:cs typeface="Calibri (MS)"/>
                  <a:sym typeface="Calibri (MS)"/>
                </a:rPr>
                <a:t>campusdataweek.satudata.unair.ac.id</a:t>
              </a:r>
            </a:p>
          </p:txBody>
        </p:sp>
      </p:grpSp>
      <p:grpSp>
        <p:nvGrpSpPr>
          <p:cNvPr id="46" name="Group 46"/>
          <p:cNvGrpSpPr/>
          <p:nvPr/>
        </p:nvGrpSpPr>
        <p:grpSpPr>
          <a:xfrm>
            <a:off x="960120" y="9491472"/>
            <a:ext cx="13990320" cy="384048"/>
            <a:chOff x="0" y="0"/>
            <a:chExt cx="18653760" cy="512064"/>
          </a:xfrm>
        </p:grpSpPr>
        <p:sp>
          <p:nvSpPr>
            <p:cNvPr id="47" name="Freeform 47"/>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5">
                <a:alphaModFix amt="0"/>
              </a:blip>
              <a:stretch>
                <a:fillRect t="-659812" b="-659812"/>
              </a:stretch>
            </a:blipFill>
          </p:spPr>
        </p:sp>
        <p:sp>
          <p:nvSpPr>
            <p:cNvPr id="48" name="TextBox 48"/>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60120" y="576072"/>
            <a:ext cx="16322040" cy="384048"/>
            <a:chOff x="0" y="0"/>
            <a:chExt cx="21762720" cy="512064"/>
          </a:xfrm>
        </p:grpSpPr>
        <p:sp>
          <p:nvSpPr>
            <p:cNvPr id="4" name="Freeform 4"/>
            <p:cNvSpPr/>
            <p:nvPr/>
          </p:nvSpPr>
          <p:spPr>
            <a:xfrm>
              <a:off x="0" y="0"/>
              <a:ext cx="21762720" cy="512064"/>
            </a:xfrm>
            <a:custGeom>
              <a:avLst/>
              <a:gdLst/>
              <a:ahLst/>
              <a:cxnLst/>
              <a:rect l="l" t="t" r="r" b="b"/>
              <a:pathLst>
                <a:path w="21762720" h="512064">
                  <a:moveTo>
                    <a:pt x="0" y="0"/>
                  </a:moveTo>
                  <a:lnTo>
                    <a:pt x="21762720" y="0"/>
                  </a:lnTo>
                  <a:lnTo>
                    <a:pt x="21762720" y="512064"/>
                  </a:lnTo>
                  <a:lnTo>
                    <a:pt x="0" y="512064"/>
                  </a:lnTo>
                  <a:close/>
                </a:path>
              </a:pathLst>
            </a:custGeom>
            <a:blipFill>
              <a:blip r:embed="rId4">
                <a:alphaModFix amt="0"/>
              </a:blip>
              <a:stretch>
                <a:fillRect t="-778114" b="-778114"/>
              </a:stretch>
            </a:blipFill>
          </p:spPr>
        </p:sp>
        <p:sp>
          <p:nvSpPr>
            <p:cNvPr id="5" name="TextBox 5"/>
            <p:cNvSpPr txBox="1"/>
            <p:nvPr/>
          </p:nvSpPr>
          <p:spPr>
            <a:xfrm>
              <a:off x="0" y="-9525"/>
              <a:ext cx="21762720" cy="521589"/>
            </a:xfrm>
            <a:prstGeom prst="rect">
              <a:avLst/>
            </a:prstGeom>
          </p:spPr>
          <p:txBody>
            <a:bodyPr lIns="0" tIns="0" rIns="0" bIns="0" rtlCol="0" anchor="ctr"/>
            <a:lstStyle/>
            <a:p>
              <a:pPr algn="l">
                <a:lnSpc>
                  <a:spcPts val="1889"/>
                </a:lnSpc>
              </a:pPr>
              <a:r>
                <a:rPr lang="en-US" sz="1575" b="1" spc="330">
                  <a:solidFill>
                    <a:srgbClr val="E9A944"/>
                  </a:solidFill>
                  <a:latin typeface="Arial Bold"/>
                  <a:ea typeface="Arial Bold"/>
                  <a:cs typeface="Arial Bold"/>
                  <a:sym typeface="Arial Bold"/>
                </a:rPr>
                <a:t>PEMBUKA</a:t>
              </a:r>
            </a:p>
          </p:txBody>
        </p:sp>
      </p:grpSp>
      <p:grpSp>
        <p:nvGrpSpPr>
          <p:cNvPr id="6" name="Group 6"/>
          <p:cNvGrpSpPr/>
          <p:nvPr/>
        </p:nvGrpSpPr>
        <p:grpSpPr>
          <a:xfrm>
            <a:off x="960120" y="987552"/>
            <a:ext cx="16322040" cy="850392"/>
            <a:chOff x="0" y="0"/>
            <a:chExt cx="21762720" cy="1133856"/>
          </a:xfrm>
        </p:grpSpPr>
        <p:sp>
          <p:nvSpPr>
            <p:cNvPr id="7" name="Freeform 7"/>
            <p:cNvSpPr/>
            <p:nvPr/>
          </p:nvSpPr>
          <p:spPr>
            <a:xfrm>
              <a:off x="0" y="0"/>
              <a:ext cx="21762720" cy="1133856"/>
            </a:xfrm>
            <a:custGeom>
              <a:avLst/>
              <a:gdLst/>
              <a:ahLst/>
              <a:cxnLst/>
              <a:rect l="l" t="t" r="r" b="b"/>
              <a:pathLst>
                <a:path w="21762720" h="1133856">
                  <a:moveTo>
                    <a:pt x="0" y="0"/>
                  </a:moveTo>
                  <a:lnTo>
                    <a:pt x="21762720" y="0"/>
                  </a:lnTo>
                  <a:lnTo>
                    <a:pt x="21762720" y="1133856"/>
                  </a:lnTo>
                  <a:lnTo>
                    <a:pt x="0" y="1133856"/>
                  </a:lnTo>
                  <a:close/>
                </a:path>
              </a:pathLst>
            </a:custGeom>
            <a:blipFill>
              <a:blip r:embed="rId4">
                <a:alphaModFix amt="0"/>
              </a:blip>
              <a:stretch>
                <a:fillRect t="-323987" b="-323987"/>
              </a:stretch>
            </a:blipFill>
          </p:spPr>
        </p:sp>
        <p:sp>
          <p:nvSpPr>
            <p:cNvPr id="8" name="TextBox 8"/>
            <p:cNvSpPr txBox="1"/>
            <p:nvPr/>
          </p:nvSpPr>
          <p:spPr>
            <a:xfrm>
              <a:off x="0" y="-28575"/>
              <a:ext cx="21762720" cy="1162431"/>
            </a:xfrm>
            <a:prstGeom prst="rect">
              <a:avLst/>
            </a:prstGeom>
          </p:spPr>
          <p:txBody>
            <a:bodyPr lIns="0" tIns="0" rIns="0" bIns="0" rtlCol="0" anchor="ctr"/>
            <a:lstStyle/>
            <a:p>
              <a:pPr algn="l">
                <a:lnSpc>
                  <a:spcPts val="5400"/>
                </a:lnSpc>
              </a:pPr>
              <a:r>
                <a:rPr lang="en-US" sz="4500" b="1" spc="59">
                  <a:solidFill>
                    <a:srgbClr val="FFFFFF"/>
                  </a:solidFill>
                  <a:latin typeface="Arial Bold"/>
                  <a:ea typeface="Arial Bold"/>
                  <a:cs typeface="Arial Bold"/>
                  <a:sym typeface="Arial Bold"/>
                </a:rPr>
                <a:t>Agenda Technical Meeting</a:t>
              </a:r>
            </a:p>
          </p:txBody>
        </p:sp>
      </p:grpSp>
      <p:grpSp>
        <p:nvGrpSpPr>
          <p:cNvPr id="9" name="Group 9"/>
          <p:cNvGrpSpPr/>
          <p:nvPr/>
        </p:nvGrpSpPr>
        <p:grpSpPr>
          <a:xfrm>
            <a:off x="960120" y="9491472"/>
            <a:ext cx="13990320" cy="384048"/>
            <a:chOff x="0" y="0"/>
            <a:chExt cx="18653760" cy="512064"/>
          </a:xfrm>
        </p:grpSpPr>
        <p:sp>
          <p:nvSpPr>
            <p:cNvPr id="10" name="Freeform 10"/>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4">
                <a:alphaModFix amt="0"/>
              </a:blip>
              <a:stretch>
                <a:fillRect t="-659812" b="-659812"/>
              </a:stretch>
            </a:blipFill>
          </p:spPr>
        </p:sp>
        <p:sp>
          <p:nvSpPr>
            <p:cNvPr id="11" name="TextBox 11"/>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grpSp>
        <p:nvGrpSpPr>
          <p:cNvPr id="12" name="Group 12"/>
          <p:cNvGrpSpPr/>
          <p:nvPr/>
        </p:nvGrpSpPr>
        <p:grpSpPr>
          <a:xfrm>
            <a:off x="16322040" y="9464040"/>
            <a:ext cx="1001268" cy="411480"/>
            <a:chOff x="0" y="0"/>
            <a:chExt cx="1335024" cy="548640"/>
          </a:xfrm>
        </p:grpSpPr>
        <p:sp>
          <p:nvSpPr>
            <p:cNvPr id="13" name="Freeform 13"/>
            <p:cNvSpPr/>
            <p:nvPr/>
          </p:nvSpPr>
          <p:spPr>
            <a:xfrm>
              <a:off x="0" y="0"/>
              <a:ext cx="1335024" cy="548640"/>
            </a:xfrm>
            <a:custGeom>
              <a:avLst/>
              <a:gdLst/>
              <a:ahLst/>
              <a:cxnLst/>
              <a:rect l="l" t="t" r="r" b="b"/>
              <a:pathLst>
                <a:path w="1335024" h="548640">
                  <a:moveTo>
                    <a:pt x="0" y="0"/>
                  </a:moveTo>
                  <a:lnTo>
                    <a:pt x="1335024" y="0"/>
                  </a:lnTo>
                  <a:lnTo>
                    <a:pt x="1335024" y="548640"/>
                  </a:lnTo>
                  <a:lnTo>
                    <a:pt x="0" y="548640"/>
                  </a:lnTo>
                  <a:close/>
                </a:path>
              </a:pathLst>
            </a:custGeom>
            <a:blipFill>
              <a:blip r:embed="rId4">
                <a:alphaModFix amt="0"/>
              </a:blip>
              <a:stretch>
                <a:fillRect l="-2727" r="-2727"/>
              </a:stretch>
            </a:blipFill>
          </p:spPr>
        </p:sp>
        <p:sp>
          <p:nvSpPr>
            <p:cNvPr id="14" name="TextBox 14"/>
            <p:cNvSpPr txBox="1"/>
            <p:nvPr/>
          </p:nvSpPr>
          <p:spPr>
            <a:xfrm>
              <a:off x="0" y="-9525"/>
              <a:ext cx="1335024" cy="558165"/>
            </a:xfrm>
            <a:prstGeom prst="rect">
              <a:avLst/>
            </a:prstGeom>
          </p:spPr>
          <p:txBody>
            <a:bodyPr lIns="0" tIns="0" rIns="0" bIns="0" rtlCol="0" anchor="ctr"/>
            <a:lstStyle/>
            <a:p>
              <a:pPr algn="r">
                <a:lnSpc>
                  <a:spcPts val="1980"/>
                </a:lnSpc>
              </a:pPr>
              <a:r>
                <a:rPr lang="en-US" sz="1650" b="1">
                  <a:solidFill>
                    <a:srgbClr val="8A6420"/>
                  </a:solidFill>
                  <a:latin typeface="Courier New Bold"/>
                  <a:ea typeface="Courier New Bold"/>
                  <a:cs typeface="Courier New Bold"/>
                  <a:sym typeface="Courier New Bold"/>
                </a:rPr>
                <a:t>02</a:t>
              </a:r>
            </a:p>
          </p:txBody>
        </p:sp>
      </p:grpSp>
      <p:grpSp>
        <p:nvGrpSpPr>
          <p:cNvPr id="15" name="Group 15"/>
          <p:cNvGrpSpPr/>
          <p:nvPr/>
        </p:nvGrpSpPr>
        <p:grpSpPr>
          <a:xfrm>
            <a:off x="950595" y="2390775"/>
            <a:ext cx="7974330" cy="1829562"/>
            <a:chOff x="0" y="0"/>
            <a:chExt cx="10632440" cy="2439416"/>
          </a:xfrm>
        </p:grpSpPr>
        <p:sp>
          <p:nvSpPr>
            <p:cNvPr id="16" name="Freeform 16"/>
            <p:cNvSpPr/>
            <p:nvPr/>
          </p:nvSpPr>
          <p:spPr>
            <a:xfrm>
              <a:off x="0" y="0"/>
              <a:ext cx="10632439" cy="2439416"/>
            </a:xfrm>
            <a:custGeom>
              <a:avLst/>
              <a:gdLst/>
              <a:ahLst/>
              <a:cxnLst/>
              <a:rect l="l" t="t" r="r" b="b"/>
              <a:pathLst>
                <a:path w="10632439" h="2439416">
                  <a:moveTo>
                    <a:pt x="0" y="110871"/>
                  </a:moveTo>
                  <a:cubicBezTo>
                    <a:pt x="0" y="49657"/>
                    <a:pt x="49657" y="0"/>
                    <a:pt x="110871" y="0"/>
                  </a:cubicBezTo>
                  <a:lnTo>
                    <a:pt x="10521569" y="0"/>
                  </a:lnTo>
                  <a:cubicBezTo>
                    <a:pt x="10582783" y="0"/>
                    <a:pt x="10632439" y="49657"/>
                    <a:pt x="10632439" y="110871"/>
                  </a:cubicBezTo>
                  <a:lnTo>
                    <a:pt x="10632439" y="2328545"/>
                  </a:lnTo>
                  <a:cubicBezTo>
                    <a:pt x="10632439" y="2389759"/>
                    <a:pt x="10582783" y="2439416"/>
                    <a:pt x="10521569" y="2439416"/>
                  </a:cubicBezTo>
                  <a:lnTo>
                    <a:pt x="110871" y="2439416"/>
                  </a:lnTo>
                  <a:cubicBezTo>
                    <a:pt x="49657" y="2439416"/>
                    <a:pt x="0" y="2389759"/>
                    <a:pt x="0" y="2328545"/>
                  </a:cubicBezTo>
                  <a:close/>
                </a:path>
              </a:pathLst>
            </a:custGeom>
            <a:solidFill>
              <a:srgbClr val="0D1632">
                <a:alpha val="77255"/>
              </a:srgbClr>
            </a:solidFill>
            <a:ln w="19050" cap="sq">
              <a:solidFill>
                <a:srgbClr val="24406F"/>
              </a:solidFill>
              <a:prstDash val="solid"/>
              <a:miter/>
            </a:ln>
          </p:spPr>
        </p:sp>
      </p:grpSp>
      <p:grpSp>
        <p:nvGrpSpPr>
          <p:cNvPr id="17" name="Group 17"/>
          <p:cNvGrpSpPr/>
          <p:nvPr/>
        </p:nvGrpSpPr>
        <p:grpSpPr>
          <a:xfrm>
            <a:off x="1362075" y="2802255"/>
            <a:ext cx="649986" cy="649986"/>
            <a:chOff x="0" y="0"/>
            <a:chExt cx="866648" cy="866648"/>
          </a:xfrm>
        </p:grpSpPr>
        <p:sp>
          <p:nvSpPr>
            <p:cNvPr id="18" name="Freeform 18"/>
            <p:cNvSpPr/>
            <p:nvPr/>
          </p:nvSpPr>
          <p:spPr>
            <a:xfrm>
              <a:off x="0" y="0"/>
              <a:ext cx="866648" cy="866648"/>
            </a:xfrm>
            <a:custGeom>
              <a:avLst/>
              <a:gdLst/>
              <a:ahLst/>
              <a:cxnLst/>
              <a:rect l="l" t="t" r="r" b="b"/>
              <a:pathLst>
                <a:path w="866648" h="866648">
                  <a:moveTo>
                    <a:pt x="0" y="94234"/>
                  </a:moveTo>
                  <a:cubicBezTo>
                    <a:pt x="0" y="42164"/>
                    <a:pt x="42164" y="0"/>
                    <a:pt x="94234" y="0"/>
                  </a:cubicBezTo>
                  <a:lnTo>
                    <a:pt x="772414" y="0"/>
                  </a:lnTo>
                  <a:cubicBezTo>
                    <a:pt x="824484" y="0"/>
                    <a:pt x="866648" y="42164"/>
                    <a:pt x="866648" y="94234"/>
                  </a:cubicBezTo>
                  <a:lnTo>
                    <a:pt x="866648" y="772414"/>
                  </a:lnTo>
                  <a:cubicBezTo>
                    <a:pt x="866648" y="824484"/>
                    <a:pt x="824484" y="866648"/>
                    <a:pt x="772414" y="866648"/>
                  </a:cubicBezTo>
                  <a:lnTo>
                    <a:pt x="94234" y="866648"/>
                  </a:lnTo>
                  <a:cubicBezTo>
                    <a:pt x="42164" y="866648"/>
                    <a:pt x="0" y="824484"/>
                    <a:pt x="0" y="772414"/>
                  </a:cubicBezTo>
                  <a:close/>
                </a:path>
              </a:pathLst>
            </a:custGeom>
            <a:solidFill>
              <a:srgbClr val="1A1206"/>
            </a:solidFill>
            <a:ln w="19050" cap="sq">
              <a:solidFill>
                <a:srgbClr val="E9A944"/>
              </a:solidFill>
              <a:prstDash val="solid"/>
              <a:miter/>
            </a:ln>
          </p:spPr>
        </p:sp>
      </p:grpSp>
      <p:grpSp>
        <p:nvGrpSpPr>
          <p:cNvPr id="19" name="Group 19"/>
          <p:cNvGrpSpPr/>
          <p:nvPr/>
        </p:nvGrpSpPr>
        <p:grpSpPr>
          <a:xfrm>
            <a:off x="1371600" y="2811780"/>
            <a:ext cx="630936" cy="630936"/>
            <a:chOff x="0" y="0"/>
            <a:chExt cx="841248" cy="841248"/>
          </a:xfrm>
        </p:grpSpPr>
        <p:sp>
          <p:nvSpPr>
            <p:cNvPr id="20" name="Freeform 20"/>
            <p:cNvSpPr/>
            <p:nvPr/>
          </p:nvSpPr>
          <p:spPr>
            <a:xfrm>
              <a:off x="0" y="0"/>
              <a:ext cx="841248" cy="841248"/>
            </a:xfrm>
            <a:custGeom>
              <a:avLst/>
              <a:gdLst/>
              <a:ahLst/>
              <a:cxnLst/>
              <a:rect l="l" t="t" r="r" b="b"/>
              <a:pathLst>
                <a:path w="841248" h="841248">
                  <a:moveTo>
                    <a:pt x="0" y="0"/>
                  </a:moveTo>
                  <a:lnTo>
                    <a:pt x="841248" y="0"/>
                  </a:lnTo>
                  <a:lnTo>
                    <a:pt x="841248" y="841248"/>
                  </a:lnTo>
                  <a:lnTo>
                    <a:pt x="0" y="841248"/>
                  </a:lnTo>
                  <a:close/>
                </a:path>
              </a:pathLst>
            </a:custGeom>
            <a:blipFill>
              <a:blip r:embed="rId4">
                <a:alphaModFix amt="0"/>
              </a:blip>
              <a:stretch>
                <a:fillRect l="-78303" r="-78303"/>
              </a:stretch>
            </a:blipFill>
          </p:spPr>
        </p:sp>
        <p:sp>
          <p:nvSpPr>
            <p:cNvPr id="21" name="TextBox 21"/>
            <p:cNvSpPr txBox="1"/>
            <p:nvPr/>
          </p:nvSpPr>
          <p:spPr>
            <a:xfrm>
              <a:off x="0" y="-19050"/>
              <a:ext cx="841248" cy="860298"/>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01</a:t>
              </a:r>
            </a:p>
          </p:txBody>
        </p:sp>
      </p:grpSp>
      <p:grpSp>
        <p:nvGrpSpPr>
          <p:cNvPr id="22" name="Group 22"/>
          <p:cNvGrpSpPr/>
          <p:nvPr/>
        </p:nvGrpSpPr>
        <p:grpSpPr>
          <a:xfrm>
            <a:off x="2263140" y="2756916"/>
            <a:ext cx="6240780" cy="466344"/>
            <a:chOff x="0" y="0"/>
            <a:chExt cx="8321040" cy="621792"/>
          </a:xfrm>
        </p:grpSpPr>
        <p:sp>
          <p:nvSpPr>
            <p:cNvPr id="23" name="Freeform 23"/>
            <p:cNvSpPr/>
            <p:nvPr/>
          </p:nvSpPr>
          <p:spPr>
            <a:xfrm>
              <a:off x="0" y="0"/>
              <a:ext cx="8321040" cy="621792"/>
            </a:xfrm>
            <a:custGeom>
              <a:avLst/>
              <a:gdLst/>
              <a:ahLst/>
              <a:cxnLst/>
              <a:rect l="l" t="t" r="r" b="b"/>
              <a:pathLst>
                <a:path w="8321040" h="621792">
                  <a:moveTo>
                    <a:pt x="0" y="0"/>
                  </a:moveTo>
                  <a:lnTo>
                    <a:pt x="8321040" y="0"/>
                  </a:lnTo>
                  <a:lnTo>
                    <a:pt x="8321040" y="621792"/>
                  </a:lnTo>
                  <a:lnTo>
                    <a:pt x="0" y="621792"/>
                  </a:lnTo>
                  <a:close/>
                </a:path>
              </a:pathLst>
            </a:custGeom>
            <a:blipFill>
              <a:blip r:embed="rId4">
                <a:alphaModFix amt="0"/>
              </a:blip>
              <a:stretch>
                <a:fillRect t="-210755" b="-210755"/>
              </a:stretch>
            </a:blipFill>
          </p:spPr>
        </p:sp>
        <p:sp>
          <p:nvSpPr>
            <p:cNvPr id="24" name="TextBox 24"/>
            <p:cNvSpPr txBox="1"/>
            <p:nvPr/>
          </p:nvSpPr>
          <p:spPr>
            <a:xfrm>
              <a:off x="0" y="-9525"/>
              <a:ext cx="8321040" cy="631317"/>
            </a:xfrm>
            <a:prstGeom prst="rect">
              <a:avLst/>
            </a:prstGeom>
          </p:spPr>
          <p:txBody>
            <a:bodyPr lIns="0" tIns="0" rIns="0" bIns="0" rtlCol="0" anchor="ctr"/>
            <a:lstStyle/>
            <a:p>
              <a:pPr algn="l">
                <a:lnSpc>
                  <a:spcPts val="2790"/>
                </a:lnSpc>
              </a:pPr>
              <a:r>
                <a:rPr lang="en-US" sz="2325" b="1">
                  <a:solidFill>
                    <a:srgbClr val="FFFFFF"/>
                  </a:solidFill>
                  <a:latin typeface="Arial Bold"/>
                  <a:ea typeface="Arial Bold"/>
                  <a:cs typeface="Arial Bold"/>
                  <a:sym typeface="Arial Bold"/>
                </a:rPr>
                <a:t>Timeline</a:t>
              </a:r>
            </a:p>
          </p:txBody>
        </p:sp>
      </p:grpSp>
      <p:grpSp>
        <p:nvGrpSpPr>
          <p:cNvPr id="25" name="Group 25"/>
          <p:cNvGrpSpPr/>
          <p:nvPr/>
        </p:nvGrpSpPr>
        <p:grpSpPr>
          <a:xfrm>
            <a:off x="2263140" y="3264408"/>
            <a:ext cx="6240780" cy="685800"/>
            <a:chOff x="0" y="0"/>
            <a:chExt cx="8321040" cy="914400"/>
          </a:xfrm>
        </p:grpSpPr>
        <p:sp>
          <p:nvSpPr>
            <p:cNvPr id="26" name="Freeform 26"/>
            <p:cNvSpPr/>
            <p:nvPr/>
          </p:nvSpPr>
          <p:spPr>
            <a:xfrm>
              <a:off x="0" y="0"/>
              <a:ext cx="8321040" cy="914400"/>
            </a:xfrm>
            <a:custGeom>
              <a:avLst/>
              <a:gdLst/>
              <a:ahLst/>
              <a:cxnLst/>
              <a:rect l="l" t="t" r="r" b="b"/>
              <a:pathLst>
                <a:path w="8321040" h="914400">
                  <a:moveTo>
                    <a:pt x="0" y="0"/>
                  </a:moveTo>
                  <a:lnTo>
                    <a:pt x="8321040" y="0"/>
                  </a:lnTo>
                  <a:lnTo>
                    <a:pt x="8321040" y="914400"/>
                  </a:lnTo>
                  <a:lnTo>
                    <a:pt x="0" y="914400"/>
                  </a:lnTo>
                  <a:close/>
                </a:path>
              </a:pathLst>
            </a:custGeom>
            <a:blipFill>
              <a:blip r:embed="rId4">
                <a:alphaModFix amt="0"/>
              </a:blip>
              <a:stretch>
                <a:fillRect t="-127313" b="-127313"/>
              </a:stretch>
            </a:blipFill>
          </p:spPr>
        </p:sp>
        <p:sp>
          <p:nvSpPr>
            <p:cNvPr id="27" name="TextBox 27"/>
            <p:cNvSpPr txBox="1"/>
            <p:nvPr/>
          </p:nvSpPr>
          <p:spPr>
            <a:xfrm>
              <a:off x="0" y="-38100"/>
              <a:ext cx="8321040" cy="952500"/>
            </a:xfrm>
            <a:prstGeom prst="rect">
              <a:avLst/>
            </a:prstGeom>
          </p:spPr>
          <p:txBody>
            <a:bodyPr lIns="0" tIns="0" rIns="0" bIns="0" rtlCol="0" anchor="ctr"/>
            <a:lstStyle/>
            <a:p>
              <a:pPr algn="l">
                <a:lnSpc>
                  <a:spcPts val="2160"/>
                </a:lnSpc>
              </a:pPr>
              <a:r>
                <a:rPr lang="en-US" sz="1800">
                  <a:solidFill>
                    <a:srgbClr val="9FB0CE"/>
                  </a:solidFill>
                  <a:latin typeface="Calibri (MS)"/>
                  <a:ea typeface="Calibri (MS)"/>
                  <a:cs typeface="Calibri (MS)"/>
                  <a:sym typeface="Calibri (MS)"/>
                </a:rPr>
                <a:t>Dari rilis dataset sampai final &amp; awarding</a:t>
              </a:r>
            </a:p>
          </p:txBody>
        </p:sp>
      </p:grpSp>
      <p:grpSp>
        <p:nvGrpSpPr>
          <p:cNvPr id="28" name="Group 28"/>
          <p:cNvGrpSpPr/>
          <p:nvPr/>
        </p:nvGrpSpPr>
        <p:grpSpPr>
          <a:xfrm>
            <a:off x="9358503" y="2390775"/>
            <a:ext cx="7974330" cy="1829562"/>
            <a:chOff x="0" y="0"/>
            <a:chExt cx="10632440" cy="2439416"/>
          </a:xfrm>
        </p:grpSpPr>
        <p:sp>
          <p:nvSpPr>
            <p:cNvPr id="29" name="Freeform 29"/>
            <p:cNvSpPr/>
            <p:nvPr/>
          </p:nvSpPr>
          <p:spPr>
            <a:xfrm>
              <a:off x="0" y="0"/>
              <a:ext cx="10632439" cy="2439416"/>
            </a:xfrm>
            <a:custGeom>
              <a:avLst/>
              <a:gdLst/>
              <a:ahLst/>
              <a:cxnLst/>
              <a:rect l="l" t="t" r="r" b="b"/>
              <a:pathLst>
                <a:path w="10632439" h="2439416">
                  <a:moveTo>
                    <a:pt x="0" y="110871"/>
                  </a:moveTo>
                  <a:cubicBezTo>
                    <a:pt x="0" y="49657"/>
                    <a:pt x="49657" y="0"/>
                    <a:pt x="110871" y="0"/>
                  </a:cubicBezTo>
                  <a:lnTo>
                    <a:pt x="10521569" y="0"/>
                  </a:lnTo>
                  <a:cubicBezTo>
                    <a:pt x="10582783" y="0"/>
                    <a:pt x="10632439" y="49657"/>
                    <a:pt x="10632439" y="110871"/>
                  </a:cubicBezTo>
                  <a:lnTo>
                    <a:pt x="10632439" y="2328545"/>
                  </a:lnTo>
                  <a:cubicBezTo>
                    <a:pt x="10632439" y="2389759"/>
                    <a:pt x="10582783" y="2439416"/>
                    <a:pt x="10521569" y="2439416"/>
                  </a:cubicBezTo>
                  <a:lnTo>
                    <a:pt x="110871" y="2439416"/>
                  </a:lnTo>
                  <a:cubicBezTo>
                    <a:pt x="49657" y="2439416"/>
                    <a:pt x="0" y="2389759"/>
                    <a:pt x="0" y="2328545"/>
                  </a:cubicBezTo>
                  <a:close/>
                </a:path>
              </a:pathLst>
            </a:custGeom>
            <a:solidFill>
              <a:srgbClr val="0D1632">
                <a:alpha val="77255"/>
              </a:srgbClr>
            </a:solidFill>
            <a:ln w="19050" cap="sq">
              <a:solidFill>
                <a:srgbClr val="24406F"/>
              </a:solidFill>
              <a:prstDash val="solid"/>
              <a:miter/>
            </a:ln>
          </p:spPr>
        </p:sp>
      </p:grpSp>
      <p:grpSp>
        <p:nvGrpSpPr>
          <p:cNvPr id="30" name="Group 30"/>
          <p:cNvGrpSpPr/>
          <p:nvPr/>
        </p:nvGrpSpPr>
        <p:grpSpPr>
          <a:xfrm>
            <a:off x="9769983" y="2802255"/>
            <a:ext cx="649986" cy="649986"/>
            <a:chOff x="0" y="0"/>
            <a:chExt cx="866648" cy="866648"/>
          </a:xfrm>
        </p:grpSpPr>
        <p:sp>
          <p:nvSpPr>
            <p:cNvPr id="31" name="Freeform 31"/>
            <p:cNvSpPr/>
            <p:nvPr/>
          </p:nvSpPr>
          <p:spPr>
            <a:xfrm>
              <a:off x="0" y="0"/>
              <a:ext cx="866648" cy="866648"/>
            </a:xfrm>
            <a:custGeom>
              <a:avLst/>
              <a:gdLst/>
              <a:ahLst/>
              <a:cxnLst/>
              <a:rect l="l" t="t" r="r" b="b"/>
              <a:pathLst>
                <a:path w="866648" h="866648">
                  <a:moveTo>
                    <a:pt x="0" y="94234"/>
                  </a:moveTo>
                  <a:cubicBezTo>
                    <a:pt x="0" y="42164"/>
                    <a:pt x="42164" y="0"/>
                    <a:pt x="94234" y="0"/>
                  </a:cubicBezTo>
                  <a:lnTo>
                    <a:pt x="772414" y="0"/>
                  </a:lnTo>
                  <a:cubicBezTo>
                    <a:pt x="824484" y="0"/>
                    <a:pt x="866648" y="42164"/>
                    <a:pt x="866648" y="94234"/>
                  </a:cubicBezTo>
                  <a:lnTo>
                    <a:pt x="866648" y="772414"/>
                  </a:lnTo>
                  <a:cubicBezTo>
                    <a:pt x="866648" y="824484"/>
                    <a:pt x="824484" y="866648"/>
                    <a:pt x="772414" y="866648"/>
                  </a:cubicBezTo>
                  <a:lnTo>
                    <a:pt x="94234" y="866648"/>
                  </a:lnTo>
                  <a:cubicBezTo>
                    <a:pt x="42164" y="866648"/>
                    <a:pt x="0" y="824484"/>
                    <a:pt x="0" y="772414"/>
                  </a:cubicBezTo>
                  <a:close/>
                </a:path>
              </a:pathLst>
            </a:custGeom>
            <a:solidFill>
              <a:srgbClr val="1A1206"/>
            </a:solidFill>
            <a:ln w="19050" cap="sq">
              <a:solidFill>
                <a:srgbClr val="E9A944"/>
              </a:solidFill>
              <a:prstDash val="solid"/>
              <a:miter/>
            </a:ln>
          </p:spPr>
        </p:sp>
      </p:grpSp>
      <p:grpSp>
        <p:nvGrpSpPr>
          <p:cNvPr id="32" name="Group 32"/>
          <p:cNvGrpSpPr/>
          <p:nvPr/>
        </p:nvGrpSpPr>
        <p:grpSpPr>
          <a:xfrm>
            <a:off x="9779508" y="2811780"/>
            <a:ext cx="630936" cy="630936"/>
            <a:chOff x="0" y="0"/>
            <a:chExt cx="841248" cy="841248"/>
          </a:xfrm>
        </p:grpSpPr>
        <p:sp>
          <p:nvSpPr>
            <p:cNvPr id="33" name="Freeform 33"/>
            <p:cNvSpPr/>
            <p:nvPr/>
          </p:nvSpPr>
          <p:spPr>
            <a:xfrm>
              <a:off x="0" y="0"/>
              <a:ext cx="841248" cy="841248"/>
            </a:xfrm>
            <a:custGeom>
              <a:avLst/>
              <a:gdLst/>
              <a:ahLst/>
              <a:cxnLst/>
              <a:rect l="l" t="t" r="r" b="b"/>
              <a:pathLst>
                <a:path w="841248" h="841248">
                  <a:moveTo>
                    <a:pt x="0" y="0"/>
                  </a:moveTo>
                  <a:lnTo>
                    <a:pt x="841248" y="0"/>
                  </a:lnTo>
                  <a:lnTo>
                    <a:pt x="841248" y="841248"/>
                  </a:lnTo>
                  <a:lnTo>
                    <a:pt x="0" y="841248"/>
                  </a:lnTo>
                  <a:close/>
                </a:path>
              </a:pathLst>
            </a:custGeom>
            <a:blipFill>
              <a:blip r:embed="rId4">
                <a:alphaModFix amt="0"/>
              </a:blip>
              <a:stretch>
                <a:fillRect l="-78303" r="-78303"/>
              </a:stretch>
            </a:blipFill>
          </p:spPr>
        </p:sp>
        <p:sp>
          <p:nvSpPr>
            <p:cNvPr id="34" name="TextBox 34"/>
            <p:cNvSpPr txBox="1"/>
            <p:nvPr/>
          </p:nvSpPr>
          <p:spPr>
            <a:xfrm>
              <a:off x="0" y="-19050"/>
              <a:ext cx="841248" cy="860298"/>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02</a:t>
              </a:r>
            </a:p>
          </p:txBody>
        </p:sp>
      </p:grpSp>
      <p:grpSp>
        <p:nvGrpSpPr>
          <p:cNvPr id="35" name="Group 35"/>
          <p:cNvGrpSpPr/>
          <p:nvPr/>
        </p:nvGrpSpPr>
        <p:grpSpPr>
          <a:xfrm>
            <a:off x="10671048" y="2756916"/>
            <a:ext cx="6240780" cy="466344"/>
            <a:chOff x="0" y="0"/>
            <a:chExt cx="8321040" cy="621792"/>
          </a:xfrm>
        </p:grpSpPr>
        <p:sp>
          <p:nvSpPr>
            <p:cNvPr id="36" name="Freeform 36"/>
            <p:cNvSpPr/>
            <p:nvPr/>
          </p:nvSpPr>
          <p:spPr>
            <a:xfrm>
              <a:off x="0" y="0"/>
              <a:ext cx="8321040" cy="621792"/>
            </a:xfrm>
            <a:custGeom>
              <a:avLst/>
              <a:gdLst/>
              <a:ahLst/>
              <a:cxnLst/>
              <a:rect l="l" t="t" r="r" b="b"/>
              <a:pathLst>
                <a:path w="8321040" h="621792">
                  <a:moveTo>
                    <a:pt x="0" y="0"/>
                  </a:moveTo>
                  <a:lnTo>
                    <a:pt x="8321040" y="0"/>
                  </a:lnTo>
                  <a:lnTo>
                    <a:pt x="8321040" y="621792"/>
                  </a:lnTo>
                  <a:lnTo>
                    <a:pt x="0" y="621792"/>
                  </a:lnTo>
                  <a:close/>
                </a:path>
              </a:pathLst>
            </a:custGeom>
            <a:blipFill>
              <a:blip r:embed="rId4">
                <a:alphaModFix amt="0"/>
              </a:blip>
              <a:stretch>
                <a:fillRect t="-210755" b="-210755"/>
              </a:stretch>
            </a:blipFill>
          </p:spPr>
        </p:sp>
        <p:sp>
          <p:nvSpPr>
            <p:cNvPr id="37" name="TextBox 37"/>
            <p:cNvSpPr txBox="1"/>
            <p:nvPr/>
          </p:nvSpPr>
          <p:spPr>
            <a:xfrm>
              <a:off x="0" y="-9525"/>
              <a:ext cx="8321040" cy="631317"/>
            </a:xfrm>
            <a:prstGeom prst="rect">
              <a:avLst/>
            </a:prstGeom>
          </p:spPr>
          <p:txBody>
            <a:bodyPr lIns="0" tIns="0" rIns="0" bIns="0" rtlCol="0" anchor="ctr"/>
            <a:lstStyle/>
            <a:p>
              <a:pPr algn="l">
                <a:lnSpc>
                  <a:spcPts val="2790"/>
                </a:lnSpc>
              </a:pPr>
              <a:r>
                <a:rPr lang="en-US" sz="2325" b="1">
                  <a:solidFill>
                    <a:srgbClr val="FFFFFF"/>
                  </a:solidFill>
                  <a:latin typeface="Arial Bold"/>
                  <a:ea typeface="Arial Bold"/>
                  <a:cs typeface="Arial Bold"/>
                  <a:sym typeface="Arial Bold"/>
                </a:rPr>
                <a:t>Brief &amp; Dataset</a:t>
              </a:r>
            </a:p>
          </p:txBody>
        </p:sp>
      </p:grpSp>
      <p:grpSp>
        <p:nvGrpSpPr>
          <p:cNvPr id="38" name="Group 38"/>
          <p:cNvGrpSpPr/>
          <p:nvPr/>
        </p:nvGrpSpPr>
        <p:grpSpPr>
          <a:xfrm>
            <a:off x="10671048" y="3264408"/>
            <a:ext cx="6240780" cy="685800"/>
            <a:chOff x="0" y="0"/>
            <a:chExt cx="8321040" cy="914400"/>
          </a:xfrm>
        </p:grpSpPr>
        <p:sp>
          <p:nvSpPr>
            <p:cNvPr id="39" name="Freeform 39"/>
            <p:cNvSpPr/>
            <p:nvPr/>
          </p:nvSpPr>
          <p:spPr>
            <a:xfrm>
              <a:off x="0" y="0"/>
              <a:ext cx="8321040" cy="914400"/>
            </a:xfrm>
            <a:custGeom>
              <a:avLst/>
              <a:gdLst/>
              <a:ahLst/>
              <a:cxnLst/>
              <a:rect l="l" t="t" r="r" b="b"/>
              <a:pathLst>
                <a:path w="8321040" h="914400">
                  <a:moveTo>
                    <a:pt x="0" y="0"/>
                  </a:moveTo>
                  <a:lnTo>
                    <a:pt x="8321040" y="0"/>
                  </a:lnTo>
                  <a:lnTo>
                    <a:pt x="8321040" y="914400"/>
                  </a:lnTo>
                  <a:lnTo>
                    <a:pt x="0" y="914400"/>
                  </a:lnTo>
                  <a:close/>
                </a:path>
              </a:pathLst>
            </a:custGeom>
            <a:blipFill>
              <a:blip r:embed="rId4">
                <a:alphaModFix amt="0"/>
              </a:blip>
              <a:stretch>
                <a:fillRect t="-127313" b="-127313"/>
              </a:stretch>
            </a:blipFill>
          </p:spPr>
        </p:sp>
        <p:sp>
          <p:nvSpPr>
            <p:cNvPr id="40" name="TextBox 40"/>
            <p:cNvSpPr txBox="1"/>
            <p:nvPr/>
          </p:nvSpPr>
          <p:spPr>
            <a:xfrm>
              <a:off x="0" y="-38100"/>
              <a:ext cx="8321040" cy="952500"/>
            </a:xfrm>
            <a:prstGeom prst="rect">
              <a:avLst/>
            </a:prstGeom>
          </p:spPr>
          <p:txBody>
            <a:bodyPr lIns="0" tIns="0" rIns="0" bIns="0" rtlCol="0" anchor="ctr"/>
            <a:lstStyle/>
            <a:p>
              <a:pPr algn="l">
                <a:lnSpc>
                  <a:spcPts val="2160"/>
                </a:lnSpc>
              </a:pPr>
              <a:r>
                <a:rPr lang="en-US" sz="1800">
                  <a:solidFill>
                    <a:srgbClr val="9FB0CE"/>
                  </a:solidFill>
                  <a:latin typeface="Calibri (MS)"/>
                  <a:ea typeface="Calibri (MS)"/>
                  <a:cs typeface="Calibri (MS)"/>
                  <a:sym typeface="Calibri (MS)"/>
                </a:rPr>
                <a:t>Tugas peserta dan karakter dataset yang dipakai</a:t>
              </a:r>
            </a:p>
          </p:txBody>
        </p:sp>
      </p:grpSp>
      <p:grpSp>
        <p:nvGrpSpPr>
          <p:cNvPr id="41" name="Group 41"/>
          <p:cNvGrpSpPr/>
          <p:nvPr/>
        </p:nvGrpSpPr>
        <p:grpSpPr>
          <a:xfrm>
            <a:off x="950595" y="4626483"/>
            <a:ext cx="7974330" cy="1829562"/>
            <a:chOff x="0" y="0"/>
            <a:chExt cx="10632440" cy="2439416"/>
          </a:xfrm>
        </p:grpSpPr>
        <p:sp>
          <p:nvSpPr>
            <p:cNvPr id="42" name="Freeform 42"/>
            <p:cNvSpPr/>
            <p:nvPr/>
          </p:nvSpPr>
          <p:spPr>
            <a:xfrm>
              <a:off x="0" y="0"/>
              <a:ext cx="10632439" cy="2439416"/>
            </a:xfrm>
            <a:custGeom>
              <a:avLst/>
              <a:gdLst/>
              <a:ahLst/>
              <a:cxnLst/>
              <a:rect l="l" t="t" r="r" b="b"/>
              <a:pathLst>
                <a:path w="10632439" h="2439416">
                  <a:moveTo>
                    <a:pt x="0" y="110871"/>
                  </a:moveTo>
                  <a:cubicBezTo>
                    <a:pt x="0" y="49657"/>
                    <a:pt x="49657" y="0"/>
                    <a:pt x="110871" y="0"/>
                  </a:cubicBezTo>
                  <a:lnTo>
                    <a:pt x="10521569" y="0"/>
                  </a:lnTo>
                  <a:cubicBezTo>
                    <a:pt x="10582783" y="0"/>
                    <a:pt x="10632439" y="49657"/>
                    <a:pt x="10632439" y="110871"/>
                  </a:cubicBezTo>
                  <a:lnTo>
                    <a:pt x="10632439" y="2328545"/>
                  </a:lnTo>
                  <a:cubicBezTo>
                    <a:pt x="10632439" y="2389759"/>
                    <a:pt x="10582783" y="2439416"/>
                    <a:pt x="10521569" y="2439416"/>
                  </a:cubicBezTo>
                  <a:lnTo>
                    <a:pt x="110871" y="2439416"/>
                  </a:lnTo>
                  <a:cubicBezTo>
                    <a:pt x="49657" y="2439416"/>
                    <a:pt x="0" y="2389759"/>
                    <a:pt x="0" y="2328545"/>
                  </a:cubicBezTo>
                  <a:close/>
                </a:path>
              </a:pathLst>
            </a:custGeom>
            <a:solidFill>
              <a:srgbClr val="0D1632">
                <a:alpha val="77255"/>
              </a:srgbClr>
            </a:solidFill>
            <a:ln w="19050" cap="sq">
              <a:solidFill>
                <a:srgbClr val="24406F"/>
              </a:solidFill>
              <a:prstDash val="solid"/>
              <a:miter/>
            </a:ln>
          </p:spPr>
        </p:sp>
      </p:grpSp>
      <p:grpSp>
        <p:nvGrpSpPr>
          <p:cNvPr id="43" name="Group 43"/>
          <p:cNvGrpSpPr/>
          <p:nvPr/>
        </p:nvGrpSpPr>
        <p:grpSpPr>
          <a:xfrm>
            <a:off x="1362075" y="5037963"/>
            <a:ext cx="649986" cy="649986"/>
            <a:chOff x="0" y="0"/>
            <a:chExt cx="866648" cy="866648"/>
          </a:xfrm>
        </p:grpSpPr>
        <p:sp>
          <p:nvSpPr>
            <p:cNvPr id="44" name="Freeform 44"/>
            <p:cNvSpPr/>
            <p:nvPr/>
          </p:nvSpPr>
          <p:spPr>
            <a:xfrm>
              <a:off x="0" y="0"/>
              <a:ext cx="866648" cy="866648"/>
            </a:xfrm>
            <a:custGeom>
              <a:avLst/>
              <a:gdLst/>
              <a:ahLst/>
              <a:cxnLst/>
              <a:rect l="l" t="t" r="r" b="b"/>
              <a:pathLst>
                <a:path w="866648" h="866648">
                  <a:moveTo>
                    <a:pt x="0" y="94234"/>
                  </a:moveTo>
                  <a:cubicBezTo>
                    <a:pt x="0" y="42164"/>
                    <a:pt x="42164" y="0"/>
                    <a:pt x="94234" y="0"/>
                  </a:cubicBezTo>
                  <a:lnTo>
                    <a:pt x="772414" y="0"/>
                  </a:lnTo>
                  <a:cubicBezTo>
                    <a:pt x="824484" y="0"/>
                    <a:pt x="866648" y="42164"/>
                    <a:pt x="866648" y="94234"/>
                  </a:cubicBezTo>
                  <a:lnTo>
                    <a:pt x="866648" y="772414"/>
                  </a:lnTo>
                  <a:cubicBezTo>
                    <a:pt x="866648" y="824484"/>
                    <a:pt x="824484" y="866648"/>
                    <a:pt x="772414" y="866648"/>
                  </a:cubicBezTo>
                  <a:lnTo>
                    <a:pt x="94234" y="866648"/>
                  </a:lnTo>
                  <a:cubicBezTo>
                    <a:pt x="42164" y="866648"/>
                    <a:pt x="0" y="824484"/>
                    <a:pt x="0" y="772414"/>
                  </a:cubicBezTo>
                  <a:close/>
                </a:path>
              </a:pathLst>
            </a:custGeom>
            <a:solidFill>
              <a:srgbClr val="1A1206"/>
            </a:solidFill>
            <a:ln w="19050" cap="sq">
              <a:solidFill>
                <a:srgbClr val="E9A944"/>
              </a:solidFill>
              <a:prstDash val="solid"/>
              <a:miter/>
            </a:ln>
          </p:spPr>
        </p:sp>
      </p:grpSp>
      <p:grpSp>
        <p:nvGrpSpPr>
          <p:cNvPr id="45" name="Group 45"/>
          <p:cNvGrpSpPr/>
          <p:nvPr/>
        </p:nvGrpSpPr>
        <p:grpSpPr>
          <a:xfrm>
            <a:off x="1371600" y="5047488"/>
            <a:ext cx="630936" cy="630936"/>
            <a:chOff x="0" y="0"/>
            <a:chExt cx="841248" cy="841248"/>
          </a:xfrm>
        </p:grpSpPr>
        <p:sp>
          <p:nvSpPr>
            <p:cNvPr id="46" name="Freeform 46"/>
            <p:cNvSpPr/>
            <p:nvPr/>
          </p:nvSpPr>
          <p:spPr>
            <a:xfrm>
              <a:off x="0" y="0"/>
              <a:ext cx="841248" cy="841248"/>
            </a:xfrm>
            <a:custGeom>
              <a:avLst/>
              <a:gdLst/>
              <a:ahLst/>
              <a:cxnLst/>
              <a:rect l="l" t="t" r="r" b="b"/>
              <a:pathLst>
                <a:path w="841248" h="841248">
                  <a:moveTo>
                    <a:pt x="0" y="0"/>
                  </a:moveTo>
                  <a:lnTo>
                    <a:pt x="841248" y="0"/>
                  </a:lnTo>
                  <a:lnTo>
                    <a:pt x="841248" y="841248"/>
                  </a:lnTo>
                  <a:lnTo>
                    <a:pt x="0" y="841248"/>
                  </a:lnTo>
                  <a:close/>
                </a:path>
              </a:pathLst>
            </a:custGeom>
            <a:blipFill>
              <a:blip r:embed="rId4">
                <a:alphaModFix amt="0"/>
              </a:blip>
              <a:stretch>
                <a:fillRect l="-78303" r="-78303"/>
              </a:stretch>
            </a:blipFill>
          </p:spPr>
        </p:sp>
        <p:sp>
          <p:nvSpPr>
            <p:cNvPr id="47" name="TextBox 47"/>
            <p:cNvSpPr txBox="1"/>
            <p:nvPr/>
          </p:nvSpPr>
          <p:spPr>
            <a:xfrm>
              <a:off x="0" y="-19050"/>
              <a:ext cx="841248" cy="860298"/>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03</a:t>
              </a:r>
            </a:p>
          </p:txBody>
        </p:sp>
      </p:grpSp>
      <p:grpSp>
        <p:nvGrpSpPr>
          <p:cNvPr id="48" name="Group 48"/>
          <p:cNvGrpSpPr/>
          <p:nvPr/>
        </p:nvGrpSpPr>
        <p:grpSpPr>
          <a:xfrm>
            <a:off x="2263140" y="4992624"/>
            <a:ext cx="6240780" cy="466344"/>
            <a:chOff x="0" y="0"/>
            <a:chExt cx="8321040" cy="621792"/>
          </a:xfrm>
        </p:grpSpPr>
        <p:sp>
          <p:nvSpPr>
            <p:cNvPr id="49" name="Freeform 49"/>
            <p:cNvSpPr/>
            <p:nvPr/>
          </p:nvSpPr>
          <p:spPr>
            <a:xfrm>
              <a:off x="0" y="0"/>
              <a:ext cx="8321040" cy="621792"/>
            </a:xfrm>
            <a:custGeom>
              <a:avLst/>
              <a:gdLst/>
              <a:ahLst/>
              <a:cxnLst/>
              <a:rect l="l" t="t" r="r" b="b"/>
              <a:pathLst>
                <a:path w="8321040" h="621792">
                  <a:moveTo>
                    <a:pt x="0" y="0"/>
                  </a:moveTo>
                  <a:lnTo>
                    <a:pt x="8321040" y="0"/>
                  </a:lnTo>
                  <a:lnTo>
                    <a:pt x="8321040" y="621792"/>
                  </a:lnTo>
                  <a:lnTo>
                    <a:pt x="0" y="621792"/>
                  </a:lnTo>
                  <a:close/>
                </a:path>
              </a:pathLst>
            </a:custGeom>
            <a:blipFill>
              <a:blip r:embed="rId4">
                <a:alphaModFix amt="0"/>
              </a:blip>
              <a:stretch>
                <a:fillRect t="-210755" b="-210755"/>
              </a:stretch>
            </a:blipFill>
          </p:spPr>
        </p:sp>
        <p:sp>
          <p:nvSpPr>
            <p:cNvPr id="50" name="TextBox 50"/>
            <p:cNvSpPr txBox="1"/>
            <p:nvPr/>
          </p:nvSpPr>
          <p:spPr>
            <a:xfrm>
              <a:off x="0" y="-9525"/>
              <a:ext cx="8321040" cy="631317"/>
            </a:xfrm>
            <a:prstGeom prst="rect">
              <a:avLst/>
            </a:prstGeom>
          </p:spPr>
          <p:txBody>
            <a:bodyPr lIns="0" tIns="0" rIns="0" bIns="0" rtlCol="0" anchor="ctr"/>
            <a:lstStyle/>
            <a:p>
              <a:pPr algn="l">
                <a:lnSpc>
                  <a:spcPts val="2790"/>
                </a:lnSpc>
              </a:pPr>
              <a:r>
                <a:rPr lang="en-US" sz="2325" b="1">
                  <a:solidFill>
                    <a:srgbClr val="FFFFFF"/>
                  </a:solidFill>
                  <a:latin typeface="Arial Bold"/>
                  <a:ea typeface="Arial Bold"/>
                  <a:cs typeface="Arial Bold"/>
                  <a:sym typeface="Arial Bold"/>
                </a:rPr>
                <a:t>Ketentuan Teknis Karya</a:t>
              </a:r>
            </a:p>
          </p:txBody>
        </p:sp>
      </p:grpSp>
      <p:grpSp>
        <p:nvGrpSpPr>
          <p:cNvPr id="51" name="Group 51"/>
          <p:cNvGrpSpPr/>
          <p:nvPr/>
        </p:nvGrpSpPr>
        <p:grpSpPr>
          <a:xfrm>
            <a:off x="2263140" y="5500116"/>
            <a:ext cx="6240780" cy="685800"/>
            <a:chOff x="0" y="0"/>
            <a:chExt cx="8321040" cy="914400"/>
          </a:xfrm>
        </p:grpSpPr>
        <p:sp>
          <p:nvSpPr>
            <p:cNvPr id="52" name="Freeform 52"/>
            <p:cNvSpPr/>
            <p:nvPr/>
          </p:nvSpPr>
          <p:spPr>
            <a:xfrm>
              <a:off x="0" y="0"/>
              <a:ext cx="8321040" cy="914400"/>
            </a:xfrm>
            <a:custGeom>
              <a:avLst/>
              <a:gdLst/>
              <a:ahLst/>
              <a:cxnLst/>
              <a:rect l="l" t="t" r="r" b="b"/>
              <a:pathLst>
                <a:path w="8321040" h="914400">
                  <a:moveTo>
                    <a:pt x="0" y="0"/>
                  </a:moveTo>
                  <a:lnTo>
                    <a:pt x="8321040" y="0"/>
                  </a:lnTo>
                  <a:lnTo>
                    <a:pt x="8321040" y="914400"/>
                  </a:lnTo>
                  <a:lnTo>
                    <a:pt x="0" y="914400"/>
                  </a:lnTo>
                  <a:close/>
                </a:path>
              </a:pathLst>
            </a:custGeom>
            <a:blipFill>
              <a:blip r:embed="rId4">
                <a:alphaModFix amt="0"/>
              </a:blip>
              <a:stretch>
                <a:fillRect t="-127313" b="-127313"/>
              </a:stretch>
            </a:blipFill>
          </p:spPr>
        </p:sp>
        <p:sp>
          <p:nvSpPr>
            <p:cNvPr id="53" name="TextBox 53"/>
            <p:cNvSpPr txBox="1"/>
            <p:nvPr/>
          </p:nvSpPr>
          <p:spPr>
            <a:xfrm>
              <a:off x="0" y="-38100"/>
              <a:ext cx="8321040" cy="952500"/>
            </a:xfrm>
            <a:prstGeom prst="rect">
              <a:avLst/>
            </a:prstGeom>
          </p:spPr>
          <p:txBody>
            <a:bodyPr lIns="0" tIns="0" rIns="0" bIns="0" rtlCol="0" anchor="ctr"/>
            <a:lstStyle/>
            <a:p>
              <a:pPr algn="l">
                <a:lnSpc>
                  <a:spcPts val="2160"/>
                </a:lnSpc>
              </a:pPr>
              <a:r>
                <a:rPr lang="en-US" sz="1800">
                  <a:solidFill>
                    <a:srgbClr val="9FB0CE"/>
                  </a:solidFill>
                  <a:latin typeface="Calibri (MS)"/>
                  <a:ea typeface="Calibri (MS)"/>
                  <a:cs typeface="Calibri (MS)"/>
                  <a:sym typeface="Calibri (MS)"/>
                </a:rPr>
                <a:t>Format, ukuran, tools, bahasa, atribusi</a:t>
              </a:r>
            </a:p>
          </p:txBody>
        </p:sp>
      </p:grpSp>
      <p:grpSp>
        <p:nvGrpSpPr>
          <p:cNvPr id="54" name="Group 54"/>
          <p:cNvGrpSpPr/>
          <p:nvPr/>
        </p:nvGrpSpPr>
        <p:grpSpPr>
          <a:xfrm>
            <a:off x="9358503" y="4626483"/>
            <a:ext cx="7974330" cy="1829562"/>
            <a:chOff x="0" y="0"/>
            <a:chExt cx="10632440" cy="2439416"/>
          </a:xfrm>
        </p:grpSpPr>
        <p:sp>
          <p:nvSpPr>
            <p:cNvPr id="55" name="Freeform 55"/>
            <p:cNvSpPr/>
            <p:nvPr/>
          </p:nvSpPr>
          <p:spPr>
            <a:xfrm>
              <a:off x="0" y="0"/>
              <a:ext cx="10632439" cy="2439416"/>
            </a:xfrm>
            <a:custGeom>
              <a:avLst/>
              <a:gdLst/>
              <a:ahLst/>
              <a:cxnLst/>
              <a:rect l="l" t="t" r="r" b="b"/>
              <a:pathLst>
                <a:path w="10632439" h="2439416">
                  <a:moveTo>
                    <a:pt x="0" y="110871"/>
                  </a:moveTo>
                  <a:cubicBezTo>
                    <a:pt x="0" y="49657"/>
                    <a:pt x="49657" y="0"/>
                    <a:pt x="110871" y="0"/>
                  </a:cubicBezTo>
                  <a:lnTo>
                    <a:pt x="10521569" y="0"/>
                  </a:lnTo>
                  <a:cubicBezTo>
                    <a:pt x="10582783" y="0"/>
                    <a:pt x="10632439" y="49657"/>
                    <a:pt x="10632439" y="110871"/>
                  </a:cubicBezTo>
                  <a:lnTo>
                    <a:pt x="10632439" y="2328545"/>
                  </a:lnTo>
                  <a:cubicBezTo>
                    <a:pt x="10632439" y="2389759"/>
                    <a:pt x="10582783" y="2439416"/>
                    <a:pt x="10521569" y="2439416"/>
                  </a:cubicBezTo>
                  <a:lnTo>
                    <a:pt x="110871" y="2439416"/>
                  </a:lnTo>
                  <a:cubicBezTo>
                    <a:pt x="49657" y="2439416"/>
                    <a:pt x="0" y="2389759"/>
                    <a:pt x="0" y="2328545"/>
                  </a:cubicBezTo>
                  <a:close/>
                </a:path>
              </a:pathLst>
            </a:custGeom>
            <a:solidFill>
              <a:srgbClr val="0D1632">
                <a:alpha val="77255"/>
              </a:srgbClr>
            </a:solidFill>
            <a:ln w="19050" cap="sq">
              <a:solidFill>
                <a:srgbClr val="24406F"/>
              </a:solidFill>
              <a:prstDash val="solid"/>
              <a:miter/>
            </a:ln>
          </p:spPr>
        </p:sp>
      </p:grpSp>
      <p:grpSp>
        <p:nvGrpSpPr>
          <p:cNvPr id="56" name="Group 56"/>
          <p:cNvGrpSpPr/>
          <p:nvPr/>
        </p:nvGrpSpPr>
        <p:grpSpPr>
          <a:xfrm>
            <a:off x="9769983" y="5037963"/>
            <a:ext cx="649986" cy="649986"/>
            <a:chOff x="0" y="0"/>
            <a:chExt cx="866648" cy="866648"/>
          </a:xfrm>
        </p:grpSpPr>
        <p:sp>
          <p:nvSpPr>
            <p:cNvPr id="57" name="Freeform 57"/>
            <p:cNvSpPr/>
            <p:nvPr/>
          </p:nvSpPr>
          <p:spPr>
            <a:xfrm>
              <a:off x="0" y="0"/>
              <a:ext cx="866648" cy="866648"/>
            </a:xfrm>
            <a:custGeom>
              <a:avLst/>
              <a:gdLst/>
              <a:ahLst/>
              <a:cxnLst/>
              <a:rect l="l" t="t" r="r" b="b"/>
              <a:pathLst>
                <a:path w="866648" h="866648">
                  <a:moveTo>
                    <a:pt x="0" y="94234"/>
                  </a:moveTo>
                  <a:cubicBezTo>
                    <a:pt x="0" y="42164"/>
                    <a:pt x="42164" y="0"/>
                    <a:pt x="94234" y="0"/>
                  </a:cubicBezTo>
                  <a:lnTo>
                    <a:pt x="772414" y="0"/>
                  </a:lnTo>
                  <a:cubicBezTo>
                    <a:pt x="824484" y="0"/>
                    <a:pt x="866648" y="42164"/>
                    <a:pt x="866648" y="94234"/>
                  </a:cubicBezTo>
                  <a:lnTo>
                    <a:pt x="866648" y="772414"/>
                  </a:lnTo>
                  <a:cubicBezTo>
                    <a:pt x="866648" y="824484"/>
                    <a:pt x="824484" y="866648"/>
                    <a:pt x="772414" y="866648"/>
                  </a:cubicBezTo>
                  <a:lnTo>
                    <a:pt x="94234" y="866648"/>
                  </a:lnTo>
                  <a:cubicBezTo>
                    <a:pt x="42164" y="866648"/>
                    <a:pt x="0" y="824484"/>
                    <a:pt x="0" y="772414"/>
                  </a:cubicBezTo>
                  <a:close/>
                </a:path>
              </a:pathLst>
            </a:custGeom>
            <a:solidFill>
              <a:srgbClr val="1A1206"/>
            </a:solidFill>
            <a:ln w="19050" cap="sq">
              <a:solidFill>
                <a:srgbClr val="E9A944"/>
              </a:solidFill>
              <a:prstDash val="solid"/>
              <a:miter/>
            </a:ln>
          </p:spPr>
        </p:sp>
      </p:grpSp>
      <p:grpSp>
        <p:nvGrpSpPr>
          <p:cNvPr id="58" name="Group 58"/>
          <p:cNvGrpSpPr/>
          <p:nvPr/>
        </p:nvGrpSpPr>
        <p:grpSpPr>
          <a:xfrm>
            <a:off x="9779508" y="5047488"/>
            <a:ext cx="630936" cy="630936"/>
            <a:chOff x="0" y="0"/>
            <a:chExt cx="841248" cy="841248"/>
          </a:xfrm>
        </p:grpSpPr>
        <p:sp>
          <p:nvSpPr>
            <p:cNvPr id="59" name="Freeform 59"/>
            <p:cNvSpPr/>
            <p:nvPr/>
          </p:nvSpPr>
          <p:spPr>
            <a:xfrm>
              <a:off x="0" y="0"/>
              <a:ext cx="841248" cy="841248"/>
            </a:xfrm>
            <a:custGeom>
              <a:avLst/>
              <a:gdLst/>
              <a:ahLst/>
              <a:cxnLst/>
              <a:rect l="l" t="t" r="r" b="b"/>
              <a:pathLst>
                <a:path w="841248" h="841248">
                  <a:moveTo>
                    <a:pt x="0" y="0"/>
                  </a:moveTo>
                  <a:lnTo>
                    <a:pt x="841248" y="0"/>
                  </a:lnTo>
                  <a:lnTo>
                    <a:pt x="841248" y="841248"/>
                  </a:lnTo>
                  <a:lnTo>
                    <a:pt x="0" y="841248"/>
                  </a:lnTo>
                  <a:close/>
                </a:path>
              </a:pathLst>
            </a:custGeom>
            <a:blipFill>
              <a:blip r:embed="rId4">
                <a:alphaModFix amt="0"/>
              </a:blip>
              <a:stretch>
                <a:fillRect l="-78303" r="-78303"/>
              </a:stretch>
            </a:blipFill>
          </p:spPr>
        </p:sp>
        <p:sp>
          <p:nvSpPr>
            <p:cNvPr id="60" name="TextBox 60"/>
            <p:cNvSpPr txBox="1"/>
            <p:nvPr/>
          </p:nvSpPr>
          <p:spPr>
            <a:xfrm>
              <a:off x="0" y="-19050"/>
              <a:ext cx="841248" cy="860298"/>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04</a:t>
              </a:r>
            </a:p>
          </p:txBody>
        </p:sp>
      </p:grpSp>
      <p:grpSp>
        <p:nvGrpSpPr>
          <p:cNvPr id="61" name="Group 61"/>
          <p:cNvGrpSpPr/>
          <p:nvPr/>
        </p:nvGrpSpPr>
        <p:grpSpPr>
          <a:xfrm>
            <a:off x="10671048" y="4992624"/>
            <a:ext cx="6240780" cy="466344"/>
            <a:chOff x="0" y="0"/>
            <a:chExt cx="8321040" cy="621792"/>
          </a:xfrm>
        </p:grpSpPr>
        <p:sp>
          <p:nvSpPr>
            <p:cNvPr id="62" name="Freeform 62"/>
            <p:cNvSpPr/>
            <p:nvPr/>
          </p:nvSpPr>
          <p:spPr>
            <a:xfrm>
              <a:off x="0" y="0"/>
              <a:ext cx="8321040" cy="621792"/>
            </a:xfrm>
            <a:custGeom>
              <a:avLst/>
              <a:gdLst/>
              <a:ahLst/>
              <a:cxnLst/>
              <a:rect l="l" t="t" r="r" b="b"/>
              <a:pathLst>
                <a:path w="8321040" h="621792">
                  <a:moveTo>
                    <a:pt x="0" y="0"/>
                  </a:moveTo>
                  <a:lnTo>
                    <a:pt x="8321040" y="0"/>
                  </a:lnTo>
                  <a:lnTo>
                    <a:pt x="8321040" y="621792"/>
                  </a:lnTo>
                  <a:lnTo>
                    <a:pt x="0" y="621792"/>
                  </a:lnTo>
                  <a:close/>
                </a:path>
              </a:pathLst>
            </a:custGeom>
            <a:blipFill>
              <a:blip r:embed="rId4">
                <a:alphaModFix amt="0"/>
              </a:blip>
              <a:stretch>
                <a:fillRect t="-210755" b="-210755"/>
              </a:stretch>
            </a:blipFill>
          </p:spPr>
        </p:sp>
        <p:sp>
          <p:nvSpPr>
            <p:cNvPr id="63" name="TextBox 63"/>
            <p:cNvSpPr txBox="1"/>
            <p:nvPr/>
          </p:nvSpPr>
          <p:spPr>
            <a:xfrm>
              <a:off x="0" y="-9525"/>
              <a:ext cx="8321040" cy="631317"/>
            </a:xfrm>
            <a:prstGeom prst="rect">
              <a:avLst/>
            </a:prstGeom>
          </p:spPr>
          <p:txBody>
            <a:bodyPr lIns="0" tIns="0" rIns="0" bIns="0" rtlCol="0" anchor="ctr"/>
            <a:lstStyle/>
            <a:p>
              <a:pPr algn="l">
                <a:lnSpc>
                  <a:spcPts val="2790"/>
                </a:lnSpc>
              </a:pPr>
              <a:r>
                <a:rPr lang="en-US" sz="2325" b="1">
                  <a:solidFill>
                    <a:srgbClr val="FFFFFF"/>
                  </a:solidFill>
                  <a:latin typeface="Arial Bold"/>
                  <a:ea typeface="Arial Bold"/>
                  <a:cs typeface="Arial Bold"/>
                  <a:sym typeface="Arial Bold"/>
                </a:rPr>
                <a:t>Kriteria Penilaian</a:t>
              </a:r>
            </a:p>
          </p:txBody>
        </p:sp>
      </p:grpSp>
      <p:grpSp>
        <p:nvGrpSpPr>
          <p:cNvPr id="64" name="Group 64"/>
          <p:cNvGrpSpPr/>
          <p:nvPr/>
        </p:nvGrpSpPr>
        <p:grpSpPr>
          <a:xfrm>
            <a:off x="10671048" y="5500116"/>
            <a:ext cx="6240780" cy="685800"/>
            <a:chOff x="0" y="0"/>
            <a:chExt cx="8321040" cy="914400"/>
          </a:xfrm>
        </p:grpSpPr>
        <p:sp>
          <p:nvSpPr>
            <p:cNvPr id="65" name="Freeform 65"/>
            <p:cNvSpPr/>
            <p:nvPr/>
          </p:nvSpPr>
          <p:spPr>
            <a:xfrm>
              <a:off x="0" y="0"/>
              <a:ext cx="8321040" cy="914400"/>
            </a:xfrm>
            <a:custGeom>
              <a:avLst/>
              <a:gdLst/>
              <a:ahLst/>
              <a:cxnLst/>
              <a:rect l="l" t="t" r="r" b="b"/>
              <a:pathLst>
                <a:path w="8321040" h="914400">
                  <a:moveTo>
                    <a:pt x="0" y="0"/>
                  </a:moveTo>
                  <a:lnTo>
                    <a:pt x="8321040" y="0"/>
                  </a:lnTo>
                  <a:lnTo>
                    <a:pt x="8321040" y="914400"/>
                  </a:lnTo>
                  <a:lnTo>
                    <a:pt x="0" y="914400"/>
                  </a:lnTo>
                  <a:close/>
                </a:path>
              </a:pathLst>
            </a:custGeom>
            <a:blipFill>
              <a:blip r:embed="rId4">
                <a:alphaModFix amt="0"/>
              </a:blip>
              <a:stretch>
                <a:fillRect t="-127313" b="-127313"/>
              </a:stretch>
            </a:blipFill>
          </p:spPr>
        </p:sp>
        <p:sp>
          <p:nvSpPr>
            <p:cNvPr id="66" name="TextBox 66"/>
            <p:cNvSpPr txBox="1"/>
            <p:nvPr/>
          </p:nvSpPr>
          <p:spPr>
            <a:xfrm>
              <a:off x="0" y="-38100"/>
              <a:ext cx="8321040" cy="952500"/>
            </a:xfrm>
            <a:prstGeom prst="rect">
              <a:avLst/>
            </a:prstGeom>
          </p:spPr>
          <p:txBody>
            <a:bodyPr lIns="0" tIns="0" rIns="0" bIns="0" rtlCol="0" anchor="ctr"/>
            <a:lstStyle/>
            <a:p>
              <a:pPr algn="l">
                <a:lnSpc>
                  <a:spcPts val="2160"/>
                </a:lnSpc>
              </a:pPr>
              <a:r>
                <a:rPr lang="en-US" sz="1800">
                  <a:solidFill>
                    <a:srgbClr val="9FB0CE"/>
                  </a:solidFill>
                  <a:latin typeface="Calibri (MS)"/>
                  <a:ea typeface="Calibri (MS)"/>
                  <a:cs typeface="Calibri (MS)"/>
                  <a:sym typeface="Calibri (MS)"/>
                </a:rPr>
                <a:t>Empat aspek beserta bobotnya</a:t>
              </a:r>
            </a:p>
          </p:txBody>
        </p:sp>
      </p:grpSp>
      <p:grpSp>
        <p:nvGrpSpPr>
          <p:cNvPr id="67" name="Group 67"/>
          <p:cNvGrpSpPr/>
          <p:nvPr/>
        </p:nvGrpSpPr>
        <p:grpSpPr>
          <a:xfrm>
            <a:off x="950595" y="6862191"/>
            <a:ext cx="7974330" cy="1829562"/>
            <a:chOff x="0" y="0"/>
            <a:chExt cx="10632440" cy="2439416"/>
          </a:xfrm>
        </p:grpSpPr>
        <p:sp>
          <p:nvSpPr>
            <p:cNvPr id="68" name="Freeform 68"/>
            <p:cNvSpPr/>
            <p:nvPr/>
          </p:nvSpPr>
          <p:spPr>
            <a:xfrm>
              <a:off x="0" y="0"/>
              <a:ext cx="10632439" cy="2439416"/>
            </a:xfrm>
            <a:custGeom>
              <a:avLst/>
              <a:gdLst/>
              <a:ahLst/>
              <a:cxnLst/>
              <a:rect l="l" t="t" r="r" b="b"/>
              <a:pathLst>
                <a:path w="10632439" h="2439416">
                  <a:moveTo>
                    <a:pt x="0" y="110871"/>
                  </a:moveTo>
                  <a:cubicBezTo>
                    <a:pt x="0" y="49657"/>
                    <a:pt x="49657" y="0"/>
                    <a:pt x="110871" y="0"/>
                  </a:cubicBezTo>
                  <a:lnTo>
                    <a:pt x="10521569" y="0"/>
                  </a:lnTo>
                  <a:cubicBezTo>
                    <a:pt x="10582783" y="0"/>
                    <a:pt x="10632439" y="49657"/>
                    <a:pt x="10632439" y="110871"/>
                  </a:cubicBezTo>
                  <a:lnTo>
                    <a:pt x="10632439" y="2328545"/>
                  </a:lnTo>
                  <a:cubicBezTo>
                    <a:pt x="10632439" y="2389759"/>
                    <a:pt x="10582783" y="2439416"/>
                    <a:pt x="10521569" y="2439416"/>
                  </a:cubicBezTo>
                  <a:lnTo>
                    <a:pt x="110871" y="2439416"/>
                  </a:lnTo>
                  <a:cubicBezTo>
                    <a:pt x="49657" y="2439416"/>
                    <a:pt x="0" y="2389759"/>
                    <a:pt x="0" y="2328545"/>
                  </a:cubicBezTo>
                  <a:close/>
                </a:path>
              </a:pathLst>
            </a:custGeom>
            <a:solidFill>
              <a:srgbClr val="0D1632">
                <a:alpha val="77255"/>
              </a:srgbClr>
            </a:solidFill>
            <a:ln w="19050" cap="sq">
              <a:solidFill>
                <a:srgbClr val="24406F"/>
              </a:solidFill>
              <a:prstDash val="solid"/>
              <a:miter/>
            </a:ln>
          </p:spPr>
        </p:sp>
      </p:grpSp>
      <p:grpSp>
        <p:nvGrpSpPr>
          <p:cNvPr id="69" name="Group 69"/>
          <p:cNvGrpSpPr/>
          <p:nvPr/>
        </p:nvGrpSpPr>
        <p:grpSpPr>
          <a:xfrm>
            <a:off x="1362075" y="7273671"/>
            <a:ext cx="649986" cy="649986"/>
            <a:chOff x="0" y="0"/>
            <a:chExt cx="866648" cy="866648"/>
          </a:xfrm>
        </p:grpSpPr>
        <p:sp>
          <p:nvSpPr>
            <p:cNvPr id="70" name="Freeform 70"/>
            <p:cNvSpPr/>
            <p:nvPr/>
          </p:nvSpPr>
          <p:spPr>
            <a:xfrm>
              <a:off x="0" y="0"/>
              <a:ext cx="866648" cy="866648"/>
            </a:xfrm>
            <a:custGeom>
              <a:avLst/>
              <a:gdLst/>
              <a:ahLst/>
              <a:cxnLst/>
              <a:rect l="l" t="t" r="r" b="b"/>
              <a:pathLst>
                <a:path w="866648" h="866648">
                  <a:moveTo>
                    <a:pt x="0" y="94234"/>
                  </a:moveTo>
                  <a:cubicBezTo>
                    <a:pt x="0" y="42164"/>
                    <a:pt x="42164" y="0"/>
                    <a:pt x="94234" y="0"/>
                  </a:cubicBezTo>
                  <a:lnTo>
                    <a:pt x="772414" y="0"/>
                  </a:lnTo>
                  <a:cubicBezTo>
                    <a:pt x="824484" y="0"/>
                    <a:pt x="866648" y="42164"/>
                    <a:pt x="866648" y="94234"/>
                  </a:cubicBezTo>
                  <a:lnTo>
                    <a:pt x="866648" y="772414"/>
                  </a:lnTo>
                  <a:cubicBezTo>
                    <a:pt x="866648" y="824484"/>
                    <a:pt x="824484" y="866648"/>
                    <a:pt x="772414" y="866648"/>
                  </a:cubicBezTo>
                  <a:lnTo>
                    <a:pt x="94234" y="866648"/>
                  </a:lnTo>
                  <a:cubicBezTo>
                    <a:pt x="42164" y="866648"/>
                    <a:pt x="0" y="824484"/>
                    <a:pt x="0" y="772414"/>
                  </a:cubicBezTo>
                  <a:close/>
                </a:path>
              </a:pathLst>
            </a:custGeom>
            <a:solidFill>
              <a:srgbClr val="1A1206"/>
            </a:solidFill>
            <a:ln w="19050" cap="sq">
              <a:solidFill>
                <a:srgbClr val="E9A944"/>
              </a:solidFill>
              <a:prstDash val="solid"/>
              <a:miter/>
            </a:ln>
          </p:spPr>
        </p:sp>
      </p:grpSp>
      <p:grpSp>
        <p:nvGrpSpPr>
          <p:cNvPr id="71" name="Group 71"/>
          <p:cNvGrpSpPr/>
          <p:nvPr/>
        </p:nvGrpSpPr>
        <p:grpSpPr>
          <a:xfrm>
            <a:off x="1371600" y="7283196"/>
            <a:ext cx="630936" cy="630936"/>
            <a:chOff x="0" y="0"/>
            <a:chExt cx="841248" cy="841248"/>
          </a:xfrm>
        </p:grpSpPr>
        <p:sp>
          <p:nvSpPr>
            <p:cNvPr id="72" name="Freeform 72"/>
            <p:cNvSpPr/>
            <p:nvPr/>
          </p:nvSpPr>
          <p:spPr>
            <a:xfrm>
              <a:off x="0" y="0"/>
              <a:ext cx="841248" cy="841248"/>
            </a:xfrm>
            <a:custGeom>
              <a:avLst/>
              <a:gdLst/>
              <a:ahLst/>
              <a:cxnLst/>
              <a:rect l="l" t="t" r="r" b="b"/>
              <a:pathLst>
                <a:path w="841248" h="841248">
                  <a:moveTo>
                    <a:pt x="0" y="0"/>
                  </a:moveTo>
                  <a:lnTo>
                    <a:pt x="841248" y="0"/>
                  </a:lnTo>
                  <a:lnTo>
                    <a:pt x="841248" y="841248"/>
                  </a:lnTo>
                  <a:lnTo>
                    <a:pt x="0" y="841248"/>
                  </a:lnTo>
                  <a:close/>
                </a:path>
              </a:pathLst>
            </a:custGeom>
            <a:blipFill>
              <a:blip r:embed="rId4">
                <a:alphaModFix amt="0"/>
              </a:blip>
              <a:stretch>
                <a:fillRect l="-78303" r="-78303"/>
              </a:stretch>
            </a:blipFill>
          </p:spPr>
        </p:sp>
        <p:sp>
          <p:nvSpPr>
            <p:cNvPr id="73" name="TextBox 73"/>
            <p:cNvSpPr txBox="1"/>
            <p:nvPr/>
          </p:nvSpPr>
          <p:spPr>
            <a:xfrm>
              <a:off x="0" y="-19050"/>
              <a:ext cx="841248" cy="860298"/>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05</a:t>
              </a:r>
            </a:p>
          </p:txBody>
        </p:sp>
      </p:grpSp>
      <p:grpSp>
        <p:nvGrpSpPr>
          <p:cNvPr id="74" name="Group 74"/>
          <p:cNvGrpSpPr/>
          <p:nvPr/>
        </p:nvGrpSpPr>
        <p:grpSpPr>
          <a:xfrm>
            <a:off x="2263140" y="7228332"/>
            <a:ext cx="6240780" cy="466344"/>
            <a:chOff x="0" y="0"/>
            <a:chExt cx="8321040" cy="621792"/>
          </a:xfrm>
        </p:grpSpPr>
        <p:sp>
          <p:nvSpPr>
            <p:cNvPr id="75" name="Freeform 75"/>
            <p:cNvSpPr/>
            <p:nvPr/>
          </p:nvSpPr>
          <p:spPr>
            <a:xfrm>
              <a:off x="0" y="0"/>
              <a:ext cx="8321040" cy="621792"/>
            </a:xfrm>
            <a:custGeom>
              <a:avLst/>
              <a:gdLst/>
              <a:ahLst/>
              <a:cxnLst/>
              <a:rect l="l" t="t" r="r" b="b"/>
              <a:pathLst>
                <a:path w="8321040" h="621792">
                  <a:moveTo>
                    <a:pt x="0" y="0"/>
                  </a:moveTo>
                  <a:lnTo>
                    <a:pt x="8321040" y="0"/>
                  </a:lnTo>
                  <a:lnTo>
                    <a:pt x="8321040" y="621792"/>
                  </a:lnTo>
                  <a:lnTo>
                    <a:pt x="0" y="621792"/>
                  </a:lnTo>
                  <a:close/>
                </a:path>
              </a:pathLst>
            </a:custGeom>
            <a:blipFill>
              <a:blip r:embed="rId4">
                <a:alphaModFix amt="0"/>
              </a:blip>
              <a:stretch>
                <a:fillRect t="-210755" b="-210755"/>
              </a:stretch>
            </a:blipFill>
          </p:spPr>
        </p:sp>
        <p:sp>
          <p:nvSpPr>
            <p:cNvPr id="76" name="TextBox 76"/>
            <p:cNvSpPr txBox="1"/>
            <p:nvPr/>
          </p:nvSpPr>
          <p:spPr>
            <a:xfrm>
              <a:off x="0" y="-9525"/>
              <a:ext cx="8321040" cy="631317"/>
            </a:xfrm>
            <a:prstGeom prst="rect">
              <a:avLst/>
            </a:prstGeom>
          </p:spPr>
          <p:txBody>
            <a:bodyPr lIns="0" tIns="0" rIns="0" bIns="0" rtlCol="0" anchor="ctr"/>
            <a:lstStyle/>
            <a:p>
              <a:pPr algn="l">
                <a:lnSpc>
                  <a:spcPts val="2790"/>
                </a:lnSpc>
              </a:pPr>
              <a:r>
                <a:rPr lang="en-US" sz="2325" b="1">
                  <a:solidFill>
                    <a:srgbClr val="FFFFFF"/>
                  </a:solidFill>
                  <a:latin typeface="Arial Bold"/>
                  <a:ea typeface="Arial Bold"/>
                  <a:cs typeface="Arial Bold"/>
                  <a:sym typeface="Arial Bold"/>
                </a:rPr>
                <a:t>Larangan &amp; Batasan AI</a:t>
              </a:r>
            </a:p>
          </p:txBody>
        </p:sp>
      </p:grpSp>
      <p:grpSp>
        <p:nvGrpSpPr>
          <p:cNvPr id="77" name="Group 77"/>
          <p:cNvGrpSpPr/>
          <p:nvPr/>
        </p:nvGrpSpPr>
        <p:grpSpPr>
          <a:xfrm>
            <a:off x="2263140" y="7735824"/>
            <a:ext cx="6240780" cy="685800"/>
            <a:chOff x="0" y="0"/>
            <a:chExt cx="8321040" cy="914400"/>
          </a:xfrm>
        </p:grpSpPr>
        <p:sp>
          <p:nvSpPr>
            <p:cNvPr id="78" name="Freeform 78"/>
            <p:cNvSpPr/>
            <p:nvPr/>
          </p:nvSpPr>
          <p:spPr>
            <a:xfrm>
              <a:off x="0" y="0"/>
              <a:ext cx="8321040" cy="914400"/>
            </a:xfrm>
            <a:custGeom>
              <a:avLst/>
              <a:gdLst/>
              <a:ahLst/>
              <a:cxnLst/>
              <a:rect l="l" t="t" r="r" b="b"/>
              <a:pathLst>
                <a:path w="8321040" h="914400">
                  <a:moveTo>
                    <a:pt x="0" y="0"/>
                  </a:moveTo>
                  <a:lnTo>
                    <a:pt x="8321040" y="0"/>
                  </a:lnTo>
                  <a:lnTo>
                    <a:pt x="8321040" y="914400"/>
                  </a:lnTo>
                  <a:lnTo>
                    <a:pt x="0" y="914400"/>
                  </a:lnTo>
                  <a:close/>
                </a:path>
              </a:pathLst>
            </a:custGeom>
            <a:blipFill>
              <a:blip r:embed="rId4">
                <a:alphaModFix amt="0"/>
              </a:blip>
              <a:stretch>
                <a:fillRect t="-127313" b="-127313"/>
              </a:stretch>
            </a:blipFill>
          </p:spPr>
        </p:sp>
        <p:sp>
          <p:nvSpPr>
            <p:cNvPr id="79" name="TextBox 79"/>
            <p:cNvSpPr txBox="1"/>
            <p:nvPr/>
          </p:nvSpPr>
          <p:spPr>
            <a:xfrm>
              <a:off x="0" y="-38100"/>
              <a:ext cx="8321040" cy="952500"/>
            </a:xfrm>
            <a:prstGeom prst="rect">
              <a:avLst/>
            </a:prstGeom>
          </p:spPr>
          <p:txBody>
            <a:bodyPr lIns="0" tIns="0" rIns="0" bIns="0" rtlCol="0" anchor="ctr"/>
            <a:lstStyle/>
            <a:p>
              <a:pPr algn="l">
                <a:lnSpc>
                  <a:spcPts val="2160"/>
                </a:lnSpc>
              </a:pPr>
              <a:r>
                <a:rPr lang="en-US" sz="1800">
                  <a:solidFill>
                    <a:srgbClr val="9FB0CE"/>
                  </a:solidFill>
                  <a:latin typeface="Calibri (MS)"/>
                  <a:ea typeface="Calibri (MS)"/>
                  <a:cs typeface="Calibri (MS)"/>
                  <a:sym typeface="Calibri (MS)"/>
                </a:rPr>
                <a:t>Termasuk sanksi diskualifikasi</a:t>
              </a:r>
            </a:p>
          </p:txBody>
        </p:sp>
      </p:grpSp>
      <p:grpSp>
        <p:nvGrpSpPr>
          <p:cNvPr id="80" name="Group 80"/>
          <p:cNvGrpSpPr/>
          <p:nvPr/>
        </p:nvGrpSpPr>
        <p:grpSpPr>
          <a:xfrm>
            <a:off x="9358503" y="6862191"/>
            <a:ext cx="7974330" cy="1829562"/>
            <a:chOff x="0" y="0"/>
            <a:chExt cx="10632440" cy="2439416"/>
          </a:xfrm>
        </p:grpSpPr>
        <p:sp>
          <p:nvSpPr>
            <p:cNvPr id="81" name="Freeform 81"/>
            <p:cNvSpPr/>
            <p:nvPr/>
          </p:nvSpPr>
          <p:spPr>
            <a:xfrm>
              <a:off x="0" y="0"/>
              <a:ext cx="10632439" cy="2439416"/>
            </a:xfrm>
            <a:custGeom>
              <a:avLst/>
              <a:gdLst/>
              <a:ahLst/>
              <a:cxnLst/>
              <a:rect l="l" t="t" r="r" b="b"/>
              <a:pathLst>
                <a:path w="10632439" h="2439416">
                  <a:moveTo>
                    <a:pt x="0" y="110871"/>
                  </a:moveTo>
                  <a:cubicBezTo>
                    <a:pt x="0" y="49657"/>
                    <a:pt x="49657" y="0"/>
                    <a:pt x="110871" y="0"/>
                  </a:cubicBezTo>
                  <a:lnTo>
                    <a:pt x="10521569" y="0"/>
                  </a:lnTo>
                  <a:cubicBezTo>
                    <a:pt x="10582783" y="0"/>
                    <a:pt x="10632439" y="49657"/>
                    <a:pt x="10632439" y="110871"/>
                  </a:cubicBezTo>
                  <a:lnTo>
                    <a:pt x="10632439" y="2328545"/>
                  </a:lnTo>
                  <a:cubicBezTo>
                    <a:pt x="10632439" y="2389759"/>
                    <a:pt x="10582783" y="2439416"/>
                    <a:pt x="10521569" y="2439416"/>
                  </a:cubicBezTo>
                  <a:lnTo>
                    <a:pt x="110871" y="2439416"/>
                  </a:lnTo>
                  <a:cubicBezTo>
                    <a:pt x="49657" y="2439416"/>
                    <a:pt x="0" y="2389759"/>
                    <a:pt x="0" y="2328545"/>
                  </a:cubicBezTo>
                  <a:close/>
                </a:path>
              </a:pathLst>
            </a:custGeom>
            <a:solidFill>
              <a:srgbClr val="0D1632">
                <a:alpha val="77255"/>
              </a:srgbClr>
            </a:solidFill>
            <a:ln w="19050" cap="sq">
              <a:solidFill>
                <a:srgbClr val="24406F"/>
              </a:solidFill>
              <a:prstDash val="solid"/>
              <a:miter/>
            </a:ln>
          </p:spPr>
        </p:sp>
      </p:grpSp>
      <p:grpSp>
        <p:nvGrpSpPr>
          <p:cNvPr id="82" name="Group 82"/>
          <p:cNvGrpSpPr/>
          <p:nvPr/>
        </p:nvGrpSpPr>
        <p:grpSpPr>
          <a:xfrm>
            <a:off x="9769983" y="7273671"/>
            <a:ext cx="649986" cy="649986"/>
            <a:chOff x="0" y="0"/>
            <a:chExt cx="866648" cy="866648"/>
          </a:xfrm>
        </p:grpSpPr>
        <p:sp>
          <p:nvSpPr>
            <p:cNvPr id="83" name="Freeform 83"/>
            <p:cNvSpPr/>
            <p:nvPr/>
          </p:nvSpPr>
          <p:spPr>
            <a:xfrm>
              <a:off x="0" y="0"/>
              <a:ext cx="866648" cy="866648"/>
            </a:xfrm>
            <a:custGeom>
              <a:avLst/>
              <a:gdLst/>
              <a:ahLst/>
              <a:cxnLst/>
              <a:rect l="l" t="t" r="r" b="b"/>
              <a:pathLst>
                <a:path w="866648" h="866648">
                  <a:moveTo>
                    <a:pt x="0" y="94234"/>
                  </a:moveTo>
                  <a:cubicBezTo>
                    <a:pt x="0" y="42164"/>
                    <a:pt x="42164" y="0"/>
                    <a:pt x="94234" y="0"/>
                  </a:cubicBezTo>
                  <a:lnTo>
                    <a:pt x="772414" y="0"/>
                  </a:lnTo>
                  <a:cubicBezTo>
                    <a:pt x="824484" y="0"/>
                    <a:pt x="866648" y="42164"/>
                    <a:pt x="866648" y="94234"/>
                  </a:cubicBezTo>
                  <a:lnTo>
                    <a:pt x="866648" y="772414"/>
                  </a:lnTo>
                  <a:cubicBezTo>
                    <a:pt x="866648" y="824484"/>
                    <a:pt x="824484" y="866648"/>
                    <a:pt x="772414" y="866648"/>
                  </a:cubicBezTo>
                  <a:lnTo>
                    <a:pt x="94234" y="866648"/>
                  </a:lnTo>
                  <a:cubicBezTo>
                    <a:pt x="42164" y="866648"/>
                    <a:pt x="0" y="824484"/>
                    <a:pt x="0" y="772414"/>
                  </a:cubicBezTo>
                  <a:close/>
                </a:path>
              </a:pathLst>
            </a:custGeom>
            <a:solidFill>
              <a:srgbClr val="1A1206"/>
            </a:solidFill>
            <a:ln w="19050" cap="sq">
              <a:solidFill>
                <a:srgbClr val="E9A944"/>
              </a:solidFill>
              <a:prstDash val="solid"/>
              <a:miter/>
            </a:ln>
          </p:spPr>
        </p:sp>
      </p:grpSp>
      <p:grpSp>
        <p:nvGrpSpPr>
          <p:cNvPr id="84" name="Group 84"/>
          <p:cNvGrpSpPr/>
          <p:nvPr/>
        </p:nvGrpSpPr>
        <p:grpSpPr>
          <a:xfrm>
            <a:off x="9779508" y="7283196"/>
            <a:ext cx="630936" cy="630936"/>
            <a:chOff x="0" y="0"/>
            <a:chExt cx="841248" cy="841248"/>
          </a:xfrm>
        </p:grpSpPr>
        <p:sp>
          <p:nvSpPr>
            <p:cNvPr id="85" name="Freeform 85"/>
            <p:cNvSpPr/>
            <p:nvPr/>
          </p:nvSpPr>
          <p:spPr>
            <a:xfrm>
              <a:off x="0" y="0"/>
              <a:ext cx="841248" cy="841248"/>
            </a:xfrm>
            <a:custGeom>
              <a:avLst/>
              <a:gdLst/>
              <a:ahLst/>
              <a:cxnLst/>
              <a:rect l="l" t="t" r="r" b="b"/>
              <a:pathLst>
                <a:path w="841248" h="841248">
                  <a:moveTo>
                    <a:pt x="0" y="0"/>
                  </a:moveTo>
                  <a:lnTo>
                    <a:pt x="841248" y="0"/>
                  </a:lnTo>
                  <a:lnTo>
                    <a:pt x="841248" y="841248"/>
                  </a:lnTo>
                  <a:lnTo>
                    <a:pt x="0" y="841248"/>
                  </a:lnTo>
                  <a:close/>
                </a:path>
              </a:pathLst>
            </a:custGeom>
            <a:blipFill>
              <a:blip r:embed="rId4">
                <a:alphaModFix amt="0"/>
              </a:blip>
              <a:stretch>
                <a:fillRect l="-78303" r="-78303"/>
              </a:stretch>
            </a:blipFill>
          </p:spPr>
        </p:sp>
        <p:sp>
          <p:nvSpPr>
            <p:cNvPr id="86" name="TextBox 86"/>
            <p:cNvSpPr txBox="1"/>
            <p:nvPr/>
          </p:nvSpPr>
          <p:spPr>
            <a:xfrm>
              <a:off x="0" y="-19050"/>
              <a:ext cx="841248" cy="860298"/>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06</a:t>
              </a:r>
            </a:p>
          </p:txBody>
        </p:sp>
      </p:grpSp>
      <p:grpSp>
        <p:nvGrpSpPr>
          <p:cNvPr id="87" name="Group 87"/>
          <p:cNvGrpSpPr/>
          <p:nvPr/>
        </p:nvGrpSpPr>
        <p:grpSpPr>
          <a:xfrm>
            <a:off x="10671048" y="7228332"/>
            <a:ext cx="6240780" cy="466344"/>
            <a:chOff x="0" y="0"/>
            <a:chExt cx="8321040" cy="621792"/>
          </a:xfrm>
        </p:grpSpPr>
        <p:sp>
          <p:nvSpPr>
            <p:cNvPr id="88" name="Freeform 88"/>
            <p:cNvSpPr/>
            <p:nvPr/>
          </p:nvSpPr>
          <p:spPr>
            <a:xfrm>
              <a:off x="0" y="0"/>
              <a:ext cx="8321040" cy="621792"/>
            </a:xfrm>
            <a:custGeom>
              <a:avLst/>
              <a:gdLst/>
              <a:ahLst/>
              <a:cxnLst/>
              <a:rect l="l" t="t" r="r" b="b"/>
              <a:pathLst>
                <a:path w="8321040" h="621792">
                  <a:moveTo>
                    <a:pt x="0" y="0"/>
                  </a:moveTo>
                  <a:lnTo>
                    <a:pt x="8321040" y="0"/>
                  </a:lnTo>
                  <a:lnTo>
                    <a:pt x="8321040" y="621792"/>
                  </a:lnTo>
                  <a:lnTo>
                    <a:pt x="0" y="621792"/>
                  </a:lnTo>
                  <a:close/>
                </a:path>
              </a:pathLst>
            </a:custGeom>
            <a:blipFill>
              <a:blip r:embed="rId4">
                <a:alphaModFix amt="0"/>
              </a:blip>
              <a:stretch>
                <a:fillRect t="-210755" b="-210755"/>
              </a:stretch>
            </a:blipFill>
          </p:spPr>
        </p:sp>
        <p:sp>
          <p:nvSpPr>
            <p:cNvPr id="89" name="TextBox 89"/>
            <p:cNvSpPr txBox="1"/>
            <p:nvPr/>
          </p:nvSpPr>
          <p:spPr>
            <a:xfrm>
              <a:off x="0" y="-9525"/>
              <a:ext cx="8321040" cy="631317"/>
            </a:xfrm>
            <a:prstGeom prst="rect">
              <a:avLst/>
            </a:prstGeom>
          </p:spPr>
          <p:txBody>
            <a:bodyPr lIns="0" tIns="0" rIns="0" bIns="0" rtlCol="0" anchor="ctr"/>
            <a:lstStyle/>
            <a:p>
              <a:pPr algn="l">
                <a:lnSpc>
                  <a:spcPts val="2790"/>
                </a:lnSpc>
              </a:pPr>
              <a:r>
                <a:rPr lang="en-US" sz="2325" b="1">
                  <a:solidFill>
                    <a:srgbClr val="FFFFFF"/>
                  </a:solidFill>
                  <a:latin typeface="Arial Bold"/>
                  <a:ea typeface="Arial Bold"/>
                  <a:cs typeface="Arial Bold"/>
                  <a:sym typeface="Arial Bold"/>
                </a:rPr>
                <a:t>Tanya Jawab</a:t>
              </a:r>
            </a:p>
          </p:txBody>
        </p:sp>
      </p:grpSp>
      <p:grpSp>
        <p:nvGrpSpPr>
          <p:cNvPr id="90" name="Group 90"/>
          <p:cNvGrpSpPr/>
          <p:nvPr/>
        </p:nvGrpSpPr>
        <p:grpSpPr>
          <a:xfrm>
            <a:off x="10671048" y="7735824"/>
            <a:ext cx="6240780" cy="685800"/>
            <a:chOff x="0" y="0"/>
            <a:chExt cx="8321040" cy="914400"/>
          </a:xfrm>
        </p:grpSpPr>
        <p:sp>
          <p:nvSpPr>
            <p:cNvPr id="91" name="Freeform 91"/>
            <p:cNvSpPr/>
            <p:nvPr/>
          </p:nvSpPr>
          <p:spPr>
            <a:xfrm>
              <a:off x="0" y="0"/>
              <a:ext cx="8321040" cy="914400"/>
            </a:xfrm>
            <a:custGeom>
              <a:avLst/>
              <a:gdLst/>
              <a:ahLst/>
              <a:cxnLst/>
              <a:rect l="l" t="t" r="r" b="b"/>
              <a:pathLst>
                <a:path w="8321040" h="914400">
                  <a:moveTo>
                    <a:pt x="0" y="0"/>
                  </a:moveTo>
                  <a:lnTo>
                    <a:pt x="8321040" y="0"/>
                  </a:lnTo>
                  <a:lnTo>
                    <a:pt x="8321040" y="914400"/>
                  </a:lnTo>
                  <a:lnTo>
                    <a:pt x="0" y="914400"/>
                  </a:lnTo>
                  <a:close/>
                </a:path>
              </a:pathLst>
            </a:custGeom>
            <a:blipFill>
              <a:blip r:embed="rId4">
                <a:alphaModFix amt="0"/>
              </a:blip>
              <a:stretch>
                <a:fillRect t="-127313" b="-127313"/>
              </a:stretch>
            </a:blipFill>
          </p:spPr>
        </p:sp>
        <p:sp>
          <p:nvSpPr>
            <p:cNvPr id="92" name="TextBox 92"/>
            <p:cNvSpPr txBox="1"/>
            <p:nvPr/>
          </p:nvSpPr>
          <p:spPr>
            <a:xfrm>
              <a:off x="0" y="-38100"/>
              <a:ext cx="8321040" cy="952500"/>
            </a:xfrm>
            <a:prstGeom prst="rect">
              <a:avLst/>
            </a:prstGeom>
          </p:spPr>
          <p:txBody>
            <a:bodyPr lIns="0" tIns="0" rIns="0" bIns="0" rtlCol="0" anchor="ctr"/>
            <a:lstStyle/>
            <a:p>
              <a:pPr algn="l">
                <a:lnSpc>
                  <a:spcPts val="2160"/>
                </a:lnSpc>
              </a:pPr>
              <a:r>
                <a:rPr lang="en-US" sz="1800">
                  <a:solidFill>
                    <a:srgbClr val="9FB0CE"/>
                  </a:solidFill>
                  <a:latin typeface="Calibri (MS)"/>
                  <a:ea typeface="Calibri (MS)"/>
                  <a:cs typeface="Calibri (MS)"/>
                  <a:sym typeface="Calibri (MS)"/>
                </a:rPr>
                <a:t>Diskusi terbuka dan kanal bantuan</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60120" y="576072"/>
            <a:ext cx="16322040" cy="384048"/>
            <a:chOff x="0" y="0"/>
            <a:chExt cx="21762720" cy="512064"/>
          </a:xfrm>
        </p:grpSpPr>
        <p:sp>
          <p:nvSpPr>
            <p:cNvPr id="4" name="Freeform 4"/>
            <p:cNvSpPr/>
            <p:nvPr/>
          </p:nvSpPr>
          <p:spPr>
            <a:xfrm>
              <a:off x="0" y="0"/>
              <a:ext cx="21762720" cy="512064"/>
            </a:xfrm>
            <a:custGeom>
              <a:avLst/>
              <a:gdLst/>
              <a:ahLst/>
              <a:cxnLst/>
              <a:rect l="l" t="t" r="r" b="b"/>
              <a:pathLst>
                <a:path w="21762720" h="512064">
                  <a:moveTo>
                    <a:pt x="0" y="0"/>
                  </a:moveTo>
                  <a:lnTo>
                    <a:pt x="21762720" y="0"/>
                  </a:lnTo>
                  <a:lnTo>
                    <a:pt x="21762720" y="512064"/>
                  </a:lnTo>
                  <a:lnTo>
                    <a:pt x="0" y="512064"/>
                  </a:lnTo>
                  <a:close/>
                </a:path>
              </a:pathLst>
            </a:custGeom>
            <a:blipFill>
              <a:blip r:embed="rId4">
                <a:alphaModFix amt="0"/>
              </a:blip>
              <a:stretch>
                <a:fillRect t="-778114" b="-778114"/>
              </a:stretch>
            </a:blipFill>
          </p:spPr>
        </p:sp>
        <p:sp>
          <p:nvSpPr>
            <p:cNvPr id="5" name="TextBox 5"/>
            <p:cNvSpPr txBox="1"/>
            <p:nvPr/>
          </p:nvSpPr>
          <p:spPr>
            <a:xfrm>
              <a:off x="0" y="-9525"/>
              <a:ext cx="21762720" cy="521589"/>
            </a:xfrm>
            <a:prstGeom prst="rect">
              <a:avLst/>
            </a:prstGeom>
          </p:spPr>
          <p:txBody>
            <a:bodyPr lIns="0" tIns="0" rIns="0" bIns="0" rtlCol="0" anchor="ctr"/>
            <a:lstStyle/>
            <a:p>
              <a:pPr algn="l">
                <a:lnSpc>
                  <a:spcPts val="1889"/>
                </a:lnSpc>
              </a:pPr>
              <a:r>
                <a:rPr lang="en-US" sz="1575" b="1" spc="330">
                  <a:solidFill>
                    <a:srgbClr val="E9A944"/>
                  </a:solidFill>
                  <a:latin typeface="Arial Bold"/>
                  <a:ea typeface="Arial Bold"/>
                  <a:cs typeface="Arial Bold"/>
                  <a:sym typeface="Arial Bold"/>
                </a:rPr>
                <a:t>BAGIAN 01</a:t>
              </a:r>
            </a:p>
          </p:txBody>
        </p:sp>
      </p:grpSp>
      <p:grpSp>
        <p:nvGrpSpPr>
          <p:cNvPr id="6" name="Group 6"/>
          <p:cNvGrpSpPr/>
          <p:nvPr/>
        </p:nvGrpSpPr>
        <p:grpSpPr>
          <a:xfrm>
            <a:off x="960120" y="987552"/>
            <a:ext cx="16322040" cy="850392"/>
            <a:chOff x="0" y="0"/>
            <a:chExt cx="21762720" cy="1133856"/>
          </a:xfrm>
        </p:grpSpPr>
        <p:sp>
          <p:nvSpPr>
            <p:cNvPr id="7" name="Freeform 7"/>
            <p:cNvSpPr/>
            <p:nvPr/>
          </p:nvSpPr>
          <p:spPr>
            <a:xfrm>
              <a:off x="0" y="0"/>
              <a:ext cx="21762720" cy="1133856"/>
            </a:xfrm>
            <a:custGeom>
              <a:avLst/>
              <a:gdLst/>
              <a:ahLst/>
              <a:cxnLst/>
              <a:rect l="l" t="t" r="r" b="b"/>
              <a:pathLst>
                <a:path w="21762720" h="1133856">
                  <a:moveTo>
                    <a:pt x="0" y="0"/>
                  </a:moveTo>
                  <a:lnTo>
                    <a:pt x="21762720" y="0"/>
                  </a:lnTo>
                  <a:lnTo>
                    <a:pt x="21762720" y="1133856"/>
                  </a:lnTo>
                  <a:lnTo>
                    <a:pt x="0" y="1133856"/>
                  </a:lnTo>
                  <a:close/>
                </a:path>
              </a:pathLst>
            </a:custGeom>
            <a:blipFill>
              <a:blip r:embed="rId4">
                <a:alphaModFix amt="0"/>
              </a:blip>
              <a:stretch>
                <a:fillRect t="-323987" b="-323987"/>
              </a:stretch>
            </a:blipFill>
          </p:spPr>
        </p:sp>
        <p:sp>
          <p:nvSpPr>
            <p:cNvPr id="8" name="TextBox 8"/>
            <p:cNvSpPr txBox="1"/>
            <p:nvPr/>
          </p:nvSpPr>
          <p:spPr>
            <a:xfrm>
              <a:off x="0" y="-28575"/>
              <a:ext cx="21762720" cy="1162431"/>
            </a:xfrm>
            <a:prstGeom prst="rect">
              <a:avLst/>
            </a:prstGeom>
          </p:spPr>
          <p:txBody>
            <a:bodyPr lIns="0" tIns="0" rIns="0" bIns="0" rtlCol="0" anchor="ctr"/>
            <a:lstStyle/>
            <a:p>
              <a:pPr algn="l">
                <a:lnSpc>
                  <a:spcPts val="5400"/>
                </a:lnSpc>
              </a:pPr>
              <a:r>
                <a:rPr lang="en-US" sz="4500" b="1" spc="59">
                  <a:solidFill>
                    <a:srgbClr val="FFFFFF"/>
                  </a:solidFill>
                  <a:latin typeface="Arial Bold"/>
                  <a:ea typeface="Arial Bold"/>
                  <a:cs typeface="Arial Bold"/>
                  <a:sym typeface="Arial Bold"/>
                </a:rPr>
                <a:t>Timeline Perlombaan</a:t>
              </a:r>
            </a:p>
          </p:txBody>
        </p:sp>
      </p:grpSp>
      <p:grpSp>
        <p:nvGrpSpPr>
          <p:cNvPr id="9" name="Group 9"/>
          <p:cNvGrpSpPr/>
          <p:nvPr/>
        </p:nvGrpSpPr>
        <p:grpSpPr>
          <a:xfrm>
            <a:off x="960120" y="9491472"/>
            <a:ext cx="13990320" cy="384048"/>
            <a:chOff x="0" y="0"/>
            <a:chExt cx="18653760" cy="512064"/>
          </a:xfrm>
        </p:grpSpPr>
        <p:sp>
          <p:nvSpPr>
            <p:cNvPr id="10" name="Freeform 10"/>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4">
                <a:alphaModFix amt="0"/>
              </a:blip>
              <a:stretch>
                <a:fillRect t="-659812" b="-659812"/>
              </a:stretch>
            </a:blipFill>
          </p:spPr>
        </p:sp>
        <p:sp>
          <p:nvSpPr>
            <p:cNvPr id="11" name="TextBox 11"/>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grpSp>
        <p:nvGrpSpPr>
          <p:cNvPr id="12" name="Group 12"/>
          <p:cNvGrpSpPr/>
          <p:nvPr/>
        </p:nvGrpSpPr>
        <p:grpSpPr>
          <a:xfrm>
            <a:off x="16322040" y="9464040"/>
            <a:ext cx="1001268" cy="411480"/>
            <a:chOff x="0" y="0"/>
            <a:chExt cx="1335024" cy="548640"/>
          </a:xfrm>
        </p:grpSpPr>
        <p:sp>
          <p:nvSpPr>
            <p:cNvPr id="13" name="Freeform 13"/>
            <p:cNvSpPr/>
            <p:nvPr/>
          </p:nvSpPr>
          <p:spPr>
            <a:xfrm>
              <a:off x="0" y="0"/>
              <a:ext cx="1335024" cy="548640"/>
            </a:xfrm>
            <a:custGeom>
              <a:avLst/>
              <a:gdLst/>
              <a:ahLst/>
              <a:cxnLst/>
              <a:rect l="l" t="t" r="r" b="b"/>
              <a:pathLst>
                <a:path w="1335024" h="548640">
                  <a:moveTo>
                    <a:pt x="0" y="0"/>
                  </a:moveTo>
                  <a:lnTo>
                    <a:pt x="1335024" y="0"/>
                  </a:lnTo>
                  <a:lnTo>
                    <a:pt x="1335024" y="548640"/>
                  </a:lnTo>
                  <a:lnTo>
                    <a:pt x="0" y="548640"/>
                  </a:lnTo>
                  <a:close/>
                </a:path>
              </a:pathLst>
            </a:custGeom>
            <a:blipFill>
              <a:blip r:embed="rId4">
                <a:alphaModFix amt="0"/>
              </a:blip>
              <a:stretch>
                <a:fillRect l="-2727" r="-2727"/>
              </a:stretch>
            </a:blipFill>
          </p:spPr>
        </p:sp>
        <p:sp>
          <p:nvSpPr>
            <p:cNvPr id="14" name="TextBox 14"/>
            <p:cNvSpPr txBox="1"/>
            <p:nvPr/>
          </p:nvSpPr>
          <p:spPr>
            <a:xfrm>
              <a:off x="0" y="-9525"/>
              <a:ext cx="1335024" cy="558165"/>
            </a:xfrm>
            <a:prstGeom prst="rect">
              <a:avLst/>
            </a:prstGeom>
          </p:spPr>
          <p:txBody>
            <a:bodyPr lIns="0" tIns="0" rIns="0" bIns="0" rtlCol="0" anchor="ctr"/>
            <a:lstStyle/>
            <a:p>
              <a:pPr algn="r">
                <a:lnSpc>
                  <a:spcPts val="1980"/>
                </a:lnSpc>
              </a:pPr>
              <a:r>
                <a:rPr lang="en-US" sz="1650" b="1">
                  <a:solidFill>
                    <a:srgbClr val="8A6420"/>
                  </a:solidFill>
                  <a:latin typeface="Courier New Bold"/>
                  <a:ea typeface="Courier New Bold"/>
                  <a:cs typeface="Courier New Bold"/>
                  <a:sym typeface="Courier New Bold"/>
                </a:rPr>
                <a:t>03</a:t>
              </a:r>
            </a:p>
          </p:txBody>
        </p:sp>
      </p:grpSp>
      <p:grpSp>
        <p:nvGrpSpPr>
          <p:cNvPr id="15" name="Group 15"/>
          <p:cNvGrpSpPr/>
          <p:nvPr/>
        </p:nvGrpSpPr>
        <p:grpSpPr>
          <a:xfrm>
            <a:off x="1014603" y="2218182"/>
            <a:ext cx="16308705" cy="5231130"/>
            <a:chOff x="0" y="0"/>
            <a:chExt cx="21744940" cy="6974840"/>
          </a:xfrm>
        </p:grpSpPr>
        <p:sp>
          <p:nvSpPr>
            <p:cNvPr id="16" name="Freeform 16"/>
            <p:cNvSpPr/>
            <p:nvPr/>
          </p:nvSpPr>
          <p:spPr>
            <a:xfrm>
              <a:off x="0" y="0"/>
              <a:ext cx="21744939" cy="6974840"/>
            </a:xfrm>
            <a:custGeom>
              <a:avLst/>
              <a:gdLst/>
              <a:ahLst/>
              <a:cxnLst/>
              <a:rect l="l" t="t" r="r" b="b"/>
              <a:pathLst>
                <a:path w="21744939" h="6974840">
                  <a:moveTo>
                    <a:pt x="0" y="110109"/>
                  </a:moveTo>
                  <a:cubicBezTo>
                    <a:pt x="0" y="49276"/>
                    <a:pt x="157761" y="0"/>
                    <a:pt x="352522" y="0"/>
                  </a:cubicBezTo>
                  <a:lnTo>
                    <a:pt x="21392418" y="0"/>
                  </a:lnTo>
                  <a:cubicBezTo>
                    <a:pt x="21587178" y="0"/>
                    <a:pt x="21744939" y="49276"/>
                    <a:pt x="21744939" y="110109"/>
                  </a:cubicBezTo>
                  <a:lnTo>
                    <a:pt x="21744939" y="6864731"/>
                  </a:lnTo>
                  <a:cubicBezTo>
                    <a:pt x="21744939" y="6925564"/>
                    <a:pt x="21587178" y="6974840"/>
                    <a:pt x="21392418" y="6974840"/>
                  </a:cubicBezTo>
                  <a:lnTo>
                    <a:pt x="352522" y="6974840"/>
                  </a:lnTo>
                  <a:cubicBezTo>
                    <a:pt x="157761" y="6974840"/>
                    <a:pt x="0" y="6925564"/>
                    <a:pt x="0" y="6864731"/>
                  </a:cubicBezTo>
                  <a:close/>
                </a:path>
              </a:pathLst>
            </a:custGeom>
            <a:solidFill>
              <a:srgbClr val="0D1632">
                <a:alpha val="77255"/>
              </a:srgbClr>
            </a:solidFill>
            <a:ln w="19050" cap="sq">
              <a:solidFill>
                <a:srgbClr val="24406F"/>
              </a:solidFill>
              <a:prstDash val="solid"/>
              <a:miter/>
            </a:ln>
          </p:spPr>
        </p:sp>
      </p:grpSp>
      <p:grpSp>
        <p:nvGrpSpPr>
          <p:cNvPr id="17" name="Group 17"/>
          <p:cNvGrpSpPr/>
          <p:nvPr/>
        </p:nvGrpSpPr>
        <p:grpSpPr>
          <a:xfrm>
            <a:off x="1371600" y="2622566"/>
            <a:ext cx="4251960" cy="411480"/>
            <a:chOff x="0" y="0"/>
            <a:chExt cx="5669280" cy="548640"/>
          </a:xfrm>
        </p:grpSpPr>
        <p:sp>
          <p:nvSpPr>
            <p:cNvPr id="18" name="Freeform 18"/>
            <p:cNvSpPr/>
            <p:nvPr/>
          </p:nvSpPr>
          <p:spPr>
            <a:xfrm>
              <a:off x="0" y="0"/>
              <a:ext cx="5669280" cy="548640"/>
            </a:xfrm>
            <a:custGeom>
              <a:avLst/>
              <a:gdLst/>
              <a:ahLst/>
              <a:cxnLst/>
              <a:rect l="l" t="t" r="r" b="b"/>
              <a:pathLst>
                <a:path w="5669280" h="548640">
                  <a:moveTo>
                    <a:pt x="0" y="0"/>
                  </a:moveTo>
                  <a:lnTo>
                    <a:pt x="5669280" y="0"/>
                  </a:lnTo>
                  <a:lnTo>
                    <a:pt x="5669280" y="548640"/>
                  </a:lnTo>
                  <a:lnTo>
                    <a:pt x="0" y="548640"/>
                  </a:lnTo>
                  <a:close/>
                </a:path>
              </a:pathLst>
            </a:custGeom>
            <a:blipFill>
              <a:blip r:embed="rId4">
                <a:alphaModFix amt="0"/>
              </a:blip>
              <a:stretch>
                <a:fillRect t="-151345" b="-151345"/>
              </a:stretch>
            </a:blipFill>
          </p:spPr>
        </p:sp>
        <p:sp>
          <p:nvSpPr>
            <p:cNvPr id="19" name="TextBox 19"/>
            <p:cNvSpPr txBox="1"/>
            <p:nvPr/>
          </p:nvSpPr>
          <p:spPr>
            <a:xfrm>
              <a:off x="0" y="-9525"/>
              <a:ext cx="5669280" cy="558165"/>
            </a:xfrm>
            <a:prstGeom prst="rect">
              <a:avLst/>
            </a:prstGeom>
          </p:spPr>
          <p:txBody>
            <a:bodyPr lIns="0" tIns="0" rIns="0" bIns="0" rtlCol="0" anchor="ctr"/>
            <a:lstStyle/>
            <a:p>
              <a:pPr algn="l">
                <a:lnSpc>
                  <a:spcPts val="2430"/>
                </a:lnSpc>
              </a:pPr>
              <a:r>
                <a:rPr lang="en-US" sz="2025" b="1" spc="180">
                  <a:solidFill>
                    <a:srgbClr val="E9A944"/>
                  </a:solidFill>
                  <a:latin typeface="Arial Bold"/>
                  <a:ea typeface="Arial Bold"/>
                  <a:cs typeface="Arial Bold"/>
                  <a:sym typeface="Arial Bold"/>
                </a:rPr>
                <a:t>FINAL</a:t>
              </a:r>
            </a:p>
          </p:txBody>
        </p:sp>
      </p:grpSp>
      <p:grpSp>
        <p:nvGrpSpPr>
          <p:cNvPr id="20" name="Group 20"/>
          <p:cNvGrpSpPr/>
          <p:nvPr/>
        </p:nvGrpSpPr>
        <p:grpSpPr>
          <a:xfrm>
            <a:off x="1371600" y="3061478"/>
            <a:ext cx="4251960" cy="329184"/>
            <a:chOff x="0" y="0"/>
            <a:chExt cx="5669280" cy="438912"/>
          </a:xfrm>
        </p:grpSpPr>
        <p:sp>
          <p:nvSpPr>
            <p:cNvPr id="21" name="Freeform 21"/>
            <p:cNvSpPr/>
            <p:nvPr/>
          </p:nvSpPr>
          <p:spPr>
            <a:xfrm>
              <a:off x="0" y="0"/>
              <a:ext cx="5669280" cy="438912"/>
            </a:xfrm>
            <a:custGeom>
              <a:avLst/>
              <a:gdLst/>
              <a:ahLst/>
              <a:cxnLst/>
              <a:rect l="l" t="t" r="r" b="b"/>
              <a:pathLst>
                <a:path w="5669280" h="438912">
                  <a:moveTo>
                    <a:pt x="0" y="0"/>
                  </a:moveTo>
                  <a:lnTo>
                    <a:pt x="5669280" y="0"/>
                  </a:lnTo>
                  <a:lnTo>
                    <a:pt x="5669280" y="438912"/>
                  </a:lnTo>
                  <a:lnTo>
                    <a:pt x="0" y="438912"/>
                  </a:lnTo>
                  <a:close/>
                </a:path>
              </a:pathLst>
            </a:custGeom>
            <a:blipFill>
              <a:blip r:embed="rId4">
                <a:alphaModFix amt="0"/>
              </a:blip>
              <a:stretch>
                <a:fillRect t="-201681" b="-201681"/>
              </a:stretch>
            </a:blipFill>
          </p:spPr>
        </p:sp>
        <p:sp>
          <p:nvSpPr>
            <p:cNvPr id="22" name="TextBox 22"/>
            <p:cNvSpPr txBox="1"/>
            <p:nvPr/>
          </p:nvSpPr>
          <p:spPr>
            <a:xfrm>
              <a:off x="0" y="-19050"/>
              <a:ext cx="5669280" cy="457962"/>
            </a:xfrm>
            <a:prstGeom prst="rect">
              <a:avLst/>
            </a:prstGeom>
          </p:spPr>
          <p:txBody>
            <a:bodyPr lIns="0" tIns="0" rIns="0" bIns="0" rtlCol="0" anchor="ctr"/>
            <a:lstStyle/>
            <a:p>
              <a:pPr algn="l">
                <a:lnSpc>
                  <a:spcPts val="1530"/>
                </a:lnSpc>
              </a:pPr>
              <a:r>
                <a:rPr lang="en-US" sz="1275" spc="179">
                  <a:solidFill>
                    <a:srgbClr val="6E7FA0"/>
                  </a:solidFill>
                  <a:latin typeface="Arial"/>
                  <a:ea typeface="Arial"/>
                  <a:cs typeface="Arial"/>
                  <a:sym typeface="Arial"/>
                </a:rPr>
                <a:t>OFFLINE · UNAIR</a:t>
              </a:r>
            </a:p>
          </p:txBody>
        </p:sp>
      </p:grpSp>
      <p:grpSp>
        <p:nvGrpSpPr>
          <p:cNvPr id="23" name="Group 23"/>
          <p:cNvGrpSpPr/>
          <p:nvPr/>
        </p:nvGrpSpPr>
        <p:grpSpPr>
          <a:xfrm>
            <a:off x="2226183" y="4814459"/>
            <a:ext cx="13019246" cy="60198"/>
            <a:chOff x="0" y="0"/>
            <a:chExt cx="17358995" cy="80264"/>
          </a:xfrm>
        </p:grpSpPr>
        <p:sp>
          <p:nvSpPr>
            <p:cNvPr id="24" name="Freeform 24"/>
            <p:cNvSpPr/>
            <p:nvPr/>
          </p:nvSpPr>
          <p:spPr>
            <a:xfrm>
              <a:off x="0" y="0"/>
              <a:ext cx="17358995" cy="80264"/>
            </a:xfrm>
            <a:custGeom>
              <a:avLst/>
              <a:gdLst/>
              <a:ahLst/>
              <a:cxnLst/>
              <a:rect l="l" t="t" r="r" b="b"/>
              <a:pathLst>
                <a:path w="17358995" h="80264">
                  <a:moveTo>
                    <a:pt x="0" y="0"/>
                  </a:moveTo>
                  <a:lnTo>
                    <a:pt x="17358995" y="0"/>
                  </a:lnTo>
                  <a:lnTo>
                    <a:pt x="17358995" y="80264"/>
                  </a:lnTo>
                  <a:lnTo>
                    <a:pt x="0" y="80264"/>
                  </a:lnTo>
                  <a:close/>
                </a:path>
              </a:pathLst>
            </a:custGeom>
            <a:solidFill>
              <a:srgbClr val="24406F"/>
            </a:solidFill>
            <a:ln w="19050" cap="sq">
              <a:solidFill>
                <a:srgbClr val="333333"/>
              </a:solidFill>
              <a:prstDash val="solid"/>
              <a:miter/>
            </a:ln>
          </p:spPr>
        </p:sp>
      </p:grpSp>
      <p:grpSp>
        <p:nvGrpSpPr>
          <p:cNvPr id="25" name="Group 25"/>
          <p:cNvGrpSpPr/>
          <p:nvPr/>
        </p:nvGrpSpPr>
        <p:grpSpPr>
          <a:xfrm>
            <a:off x="1083564" y="3857006"/>
            <a:ext cx="2359152" cy="685800"/>
            <a:chOff x="0" y="0"/>
            <a:chExt cx="3145536" cy="914400"/>
          </a:xfrm>
        </p:grpSpPr>
        <p:sp>
          <p:nvSpPr>
            <p:cNvPr id="26" name="Freeform 26"/>
            <p:cNvSpPr/>
            <p:nvPr/>
          </p:nvSpPr>
          <p:spPr>
            <a:xfrm>
              <a:off x="0" y="0"/>
              <a:ext cx="3145536" cy="914400"/>
            </a:xfrm>
            <a:custGeom>
              <a:avLst/>
              <a:gdLst/>
              <a:ahLst/>
              <a:cxnLst/>
              <a:rect l="l" t="t" r="r" b="b"/>
              <a:pathLst>
                <a:path w="3145536" h="914400">
                  <a:moveTo>
                    <a:pt x="0" y="0"/>
                  </a:moveTo>
                  <a:lnTo>
                    <a:pt x="3145536" y="0"/>
                  </a:lnTo>
                  <a:lnTo>
                    <a:pt x="3145536" y="914400"/>
                  </a:lnTo>
                  <a:lnTo>
                    <a:pt x="0" y="914400"/>
                  </a:lnTo>
                  <a:close/>
                </a:path>
              </a:pathLst>
            </a:custGeom>
            <a:blipFill>
              <a:blip r:embed="rId4">
                <a:alphaModFix amt="0"/>
              </a:blip>
              <a:stretch>
                <a:fillRect t="-17028" b="-17028"/>
              </a:stretch>
            </a:blipFill>
          </p:spPr>
        </p:sp>
        <p:sp>
          <p:nvSpPr>
            <p:cNvPr id="27" name="TextBox 27"/>
            <p:cNvSpPr txBox="1"/>
            <p:nvPr/>
          </p:nvSpPr>
          <p:spPr>
            <a:xfrm>
              <a:off x="0" y="0"/>
              <a:ext cx="3145536" cy="914400"/>
            </a:xfrm>
            <a:prstGeom prst="rect">
              <a:avLst/>
            </a:prstGeom>
          </p:spPr>
          <p:txBody>
            <a:bodyPr lIns="0" tIns="0" rIns="0" bIns="0" rtlCol="0" anchor="b"/>
            <a:lstStyle/>
            <a:p>
              <a:pPr algn="ctr">
                <a:lnSpc>
                  <a:spcPts val="1889"/>
                </a:lnSpc>
              </a:pPr>
              <a:r>
                <a:rPr lang="en-US" sz="1575" b="1">
                  <a:solidFill>
                    <a:srgbClr val="4ADE80"/>
                  </a:solidFill>
                  <a:latin typeface="Courier New Bold"/>
                  <a:ea typeface="Courier New Bold"/>
                  <a:cs typeface="Courier New Bold"/>
                  <a:sym typeface="Courier New Bold"/>
                </a:rPr>
                <a:t>27 Okt 2026</a:t>
              </a:r>
            </a:p>
          </p:txBody>
        </p:sp>
      </p:grpSp>
      <p:grpSp>
        <p:nvGrpSpPr>
          <p:cNvPr id="28" name="Group 28"/>
          <p:cNvGrpSpPr/>
          <p:nvPr/>
        </p:nvGrpSpPr>
        <p:grpSpPr>
          <a:xfrm>
            <a:off x="1330095" y="5280898"/>
            <a:ext cx="1792176" cy="1165860"/>
            <a:chOff x="0" y="0"/>
            <a:chExt cx="2389569" cy="1554480"/>
          </a:xfrm>
        </p:grpSpPr>
        <p:sp>
          <p:nvSpPr>
            <p:cNvPr id="29" name="Freeform 29"/>
            <p:cNvSpPr/>
            <p:nvPr/>
          </p:nvSpPr>
          <p:spPr>
            <a:xfrm>
              <a:off x="0" y="0"/>
              <a:ext cx="2389569" cy="1554480"/>
            </a:xfrm>
            <a:custGeom>
              <a:avLst/>
              <a:gdLst/>
              <a:ahLst/>
              <a:cxnLst/>
              <a:rect l="l" t="t" r="r" b="b"/>
              <a:pathLst>
                <a:path w="2389569" h="1554480">
                  <a:moveTo>
                    <a:pt x="0" y="0"/>
                  </a:moveTo>
                  <a:lnTo>
                    <a:pt x="2389569" y="0"/>
                  </a:lnTo>
                  <a:lnTo>
                    <a:pt x="2389569" y="1554480"/>
                  </a:lnTo>
                  <a:lnTo>
                    <a:pt x="0" y="1554480"/>
                  </a:lnTo>
                  <a:close/>
                </a:path>
              </a:pathLst>
            </a:custGeom>
            <a:blipFill>
              <a:blip r:embed="rId4">
                <a:alphaModFix amt="0"/>
              </a:blip>
              <a:stretch>
                <a:fillRect l="-17646" r="-49283"/>
              </a:stretch>
            </a:blipFill>
          </p:spPr>
        </p:sp>
        <p:sp>
          <p:nvSpPr>
            <p:cNvPr id="30" name="TextBox 30"/>
            <p:cNvSpPr txBox="1"/>
            <p:nvPr/>
          </p:nvSpPr>
          <p:spPr>
            <a:xfrm>
              <a:off x="0" y="-38100"/>
              <a:ext cx="2389569" cy="1592580"/>
            </a:xfrm>
            <a:prstGeom prst="rect">
              <a:avLst/>
            </a:prstGeom>
          </p:spPr>
          <p:txBody>
            <a:bodyPr lIns="0" tIns="0" rIns="0" bIns="0" rtlCol="0" anchor="t"/>
            <a:lstStyle/>
            <a:p>
              <a:pPr algn="ctr">
                <a:lnSpc>
                  <a:spcPts val="2160"/>
                </a:lnSpc>
              </a:pPr>
              <a:r>
                <a:rPr lang="en-US" sz="1800">
                  <a:solidFill>
                    <a:srgbClr val="FFFFFF"/>
                  </a:solidFill>
                  <a:latin typeface="Calibri (MS)"/>
                  <a:ea typeface="Calibri (MS)"/>
                  <a:cs typeface="Calibri (MS)"/>
                  <a:sym typeface="Calibri (MS)"/>
                </a:rPr>
                <a:t>Technical Meeting Final</a:t>
              </a:r>
            </a:p>
          </p:txBody>
        </p:sp>
      </p:grpSp>
      <p:grpSp>
        <p:nvGrpSpPr>
          <p:cNvPr id="31" name="Group 31"/>
          <p:cNvGrpSpPr/>
          <p:nvPr/>
        </p:nvGrpSpPr>
        <p:grpSpPr>
          <a:xfrm>
            <a:off x="4768453" y="4739307"/>
            <a:ext cx="270700" cy="270700"/>
            <a:chOff x="0" y="0"/>
            <a:chExt cx="360934" cy="360934"/>
          </a:xfrm>
        </p:grpSpPr>
        <p:sp>
          <p:nvSpPr>
            <p:cNvPr id="32" name="Freeform 32"/>
            <p:cNvSpPr/>
            <p:nvPr/>
          </p:nvSpPr>
          <p:spPr>
            <a:xfrm>
              <a:off x="0" y="0"/>
              <a:ext cx="360934" cy="360934"/>
            </a:xfrm>
            <a:custGeom>
              <a:avLst/>
              <a:gdLst/>
              <a:ahLst/>
              <a:cxnLst/>
              <a:rect l="l" t="t" r="r" b="b"/>
              <a:pathLst>
                <a:path w="360934" h="360934">
                  <a:moveTo>
                    <a:pt x="0" y="180467"/>
                  </a:moveTo>
                  <a:cubicBezTo>
                    <a:pt x="0" y="80772"/>
                    <a:pt x="80772" y="0"/>
                    <a:pt x="180467" y="0"/>
                  </a:cubicBezTo>
                  <a:cubicBezTo>
                    <a:pt x="280162" y="0"/>
                    <a:pt x="360934" y="80772"/>
                    <a:pt x="360934" y="180467"/>
                  </a:cubicBezTo>
                  <a:cubicBezTo>
                    <a:pt x="360934" y="280162"/>
                    <a:pt x="280162" y="360934"/>
                    <a:pt x="180467" y="360934"/>
                  </a:cubicBezTo>
                  <a:cubicBezTo>
                    <a:pt x="80772" y="360934"/>
                    <a:pt x="0" y="280162"/>
                    <a:pt x="0" y="180467"/>
                  </a:cubicBezTo>
                  <a:close/>
                </a:path>
              </a:pathLst>
            </a:custGeom>
            <a:solidFill>
              <a:srgbClr val="E9A944"/>
            </a:solidFill>
            <a:ln w="23812" cap="sq">
              <a:solidFill>
                <a:srgbClr val="060B1C"/>
              </a:solidFill>
              <a:prstDash val="solid"/>
              <a:miter/>
            </a:ln>
          </p:spPr>
        </p:sp>
      </p:grpSp>
      <p:grpSp>
        <p:nvGrpSpPr>
          <p:cNvPr id="33" name="Group 33"/>
          <p:cNvGrpSpPr/>
          <p:nvPr/>
        </p:nvGrpSpPr>
        <p:grpSpPr>
          <a:xfrm>
            <a:off x="3724751" y="3857006"/>
            <a:ext cx="2359152" cy="685800"/>
            <a:chOff x="0" y="0"/>
            <a:chExt cx="3145536" cy="914400"/>
          </a:xfrm>
        </p:grpSpPr>
        <p:sp>
          <p:nvSpPr>
            <p:cNvPr id="34" name="Freeform 34"/>
            <p:cNvSpPr/>
            <p:nvPr/>
          </p:nvSpPr>
          <p:spPr>
            <a:xfrm>
              <a:off x="0" y="0"/>
              <a:ext cx="3145536" cy="914400"/>
            </a:xfrm>
            <a:custGeom>
              <a:avLst/>
              <a:gdLst/>
              <a:ahLst/>
              <a:cxnLst/>
              <a:rect l="l" t="t" r="r" b="b"/>
              <a:pathLst>
                <a:path w="3145536" h="914400">
                  <a:moveTo>
                    <a:pt x="0" y="0"/>
                  </a:moveTo>
                  <a:lnTo>
                    <a:pt x="3145536" y="0"/>
                  </a:lnTo>
                  <a:lnTo>
                    <a:pt x="3145536" y="914400"/>
                  </a:lnTo>
                  <a:lnTo>
                    <a:pt x="0" y="914400"/>
                  </a:lnTo>
                  <a:close/>
                </a:path>
              </a:pathLst>
            </a:custGeom>
            <a:blipFill>
              <a:blip r:embed="rId4">
                <a:alphaModFix amt="0"/>
              </a:blip>
              <a:stretch>
                <a:fillRect t="-17028" b="-17028"/>
              </a:stretch>
            </a:blipFill>
          </p:spPr>
        </p:sp>
        <p:sp>
          <p:nvSpPr>
            <p:cNvPr id="35" name="TextBox 35"/>
            <p:cNvSpPr txBox="1"/>
            <p:nvPr/>
          </p:nvSpPr>
          <p:spPr>
            <a:xfrm>
              <a:off x="0" y="0"/>
              <a:ext cx="3145536" cy="914400"/>
            </a:xfrm>
            <a:prstGeom prst="rect">
              <a:avLst/>
            </a:prstGeom>
          </p:spPr>
          <p:txBody>
            <a:bodyPr lIns="0" tIns="0" rIns="0" bIns="0" rtlCol="0" anchor="b"/>
            <a:lstStyle/>
            <a:p>
              <a:pPr algn="ctr">
                <a:lnSpc>
                  <a:spcPts val="1889"/>
                </a:lnSpc>
              </a:pPr>
              <a:r>
                <a:rPr lang="en-US" sz="1575" b="1">
                  <a:solidFill>
                    <a:srgbClr val="9FB0CE"/>
                  </a:solidFill>
                  <a:latin typeface="Courier New Bold"/>
                  <a:ea typeface="Courier New Bold"/>
                  <a:cs typeface="Courier New Bold"/>
                  <a:sym typeface="Courier New Bold"/>
                </a:rPr>
                <a:t>28 Okt 2026</a:t>
              </a:r>
            </a:p>
            <a:p>
              <a:pPr algn="ctr">
                <a:lnSpc>
                  <a:spcPts val="1889"/>
                </a:lnSpc>
              </a:pPr>
              <a:r>
                <a:rPr lang="en-US" sz="1575" b="1">
                  <a:solidFill>
                    <a:srgbClr val="9FB0CE"/>
                  </a:solidFill>
                  <a:latin typeface="Courier New Bold"/>
                  <a:ea typeface="Courier New Bold"/>
                  <a:cs typeface="Courier New Bold"/>
                  <a:sym typeface="Courier New Bold"/>
                </a:rPr>
                <a:t>06.30 - 07.00 WIB</a:t>
              </a:r>
            </a:p>
          </p:txBody>
        </p:sp>
      </p:grpSp>
      <p:grpSp>
        <p:nvGrpSpPr>
          <p:cNvPr id="36" name="Group 36"/>
          <p:cNvGrpSpPr/>
          <p:nvPr/>
        </p:nvGrpSpPr>
        <p:grpSpPr>
          <a:xfrm>
            <a:off x="3724227" y="5280898"/>
            <a:ext cx="2359152" cy="1165860"/>
            <a:chOff x="0" y="0"/>
            <a:chExt cx="3145536" cy="1554480"/>
          </a:xfrm>
        </p:grpSpPr>
        <p:sp>
          <p:nvSpPr>
            <p:cNvPr id="37" name="Freeform 37"/>
            <p:cNvSpPr/>
            <p:nvPr/>
          </p:nvSpPr>
          <p:spPr>
            <a:xfrm>
              <a:off x="0" y="0"/>
              <a:ext cx="3145536" cy="1554480"/>
            </a:xfrm>
            <a:custGeom>
              <a:avLst/>
              <a:gdLst/>
              <a:ahLst/>
              <a:cxnLst/>
              <a:rect l="l" t="t" r="r" b="b"/>
              <a:pathLst>
                <a:path w="3145536" h="1554480">
                  <a:moveTo>
                    <a:pt x="0" y="0"/>
                  </a:moveTo>
                  <a:lnTo>
                    <a:pt x="3145536" y="0"/>
                  </a:lnTo>
                  <a:lnTo>
                    <a:pt x="3145536" y="1554480"/>
                  </a:lnTo>
                  <a:lnTo>
                    <a:pt x="0" y="1554480"/>
                  </a:lnTo>
                  <a:close/>
                </a:path>
              </a:pathLst>
            </a:custGeom>
            <a:blipFill>
              <a:blip r:embed="rId4">
                <a:alphaModFix amt="0"/>
              </a:blip>
              <a:stretch>
                <a:fillRect l="-13405" r="-13405"/>
              </a:stretch>
            </a:blipFill>
          </p:spPr>
        </p:sp>
        <p:sp>
          <p:nvSpPr>
            <p:cNvPr id="38" name="TextBox 38"/>
            <p:cNvSpPr txBox="1"/>
            <p:nvPr/>
          </p:nvSpPr>
          <p:spPr>
            <a:xfrm>
              <a:off x="0" y="-38100"/>
              <a:ext cx="3145536" cy="1592580"/>
            </a:xfrm>
            <a:prstGeom prst="rect">
              <a:avLst/>
            </a:prstGeom>
          </p:spPr>
          <p:txBody>
            <a:bodyPr lIns="0" tIns="0" rIns="0" bIns="0" rtlCol="0" anchor="t"/>
            <a:lstStyle/>
            <a:p>
              <a:pPr algn="ctr">
                <a:lnSpc>
                  <a:spcPts val="2160"/>
                </a:lnSpc>
              </a:pPr>
              <a:r>
                <a:rPr lang="en-US" sz="1800">
                  <a:solidFill>
                    <a:srgbClr val="FFFFFF"/>
                  </a:solidFill>
                  <a:latin typeface="Calibri (MS)"/>
                  <a:ea typeface="Calibri (MS)"/>
                  <a:cs typeface="Calibri (MS)"/>
                  <a:sym typeface="Calibri (MS)"/>
                </a:rPr>
                <a:t>Registrasi ulang, briefing teknis, dan undian urutan pitch</a:t>
              </a:r>
            </a:p>
          </p:txBody>
        </p:sp>
      </p:grpSp>
      <p:grpSp>
        <p:nvGrpSpPr>
          <p:cNvPr id="39" name="Group 39"/>
          <p:cNvGrpSpPr/>
          <p:nvPr/>
        </p:nvGrpSpPr>
        <p:grpSpPr>
          <a:xfrm>
            <a:off x="2829403" y="6351889"/>
            <a:ext cx="12679104" cy="1234440"/>
            <a:chOff x="0" y="0"/>
            <a:chExt cx="16905473" cy="1645920"/>
          </a:xfrm>
        </p:grpSpPr>
        <p:sp>
          <p:nvSpPr>
            <p:cNvPr id="40" name="Freeform 40"/>
            <p:cNvSpPr/>
            <p:nvPr/>
          </p:nvSpPr>
          <p:spPr>
            <a:xfrm>
              <a:off x="0" y="0"/>
              <a:ext cx="16905472" cy="1645920"/>
            </a:xfrm>
            <a:custGeom>
              <a:avLst/>
              <a:gdLst/>
              <a:ahLst/>
              <a:cxnLst/>
              <a:rect l="l" t="t" r="r" b="b"/>
              <a:pathLst>
                <a:path w="16905472" h="1645920">
                  <a:moveTo>
                    <a:pt x="0" y="0"/>
                  </a:moveTo>
                  <a:lnTo>
                    <a:pt x="16905472" y="0"/>
                  </a:lnTo>
                  <a:lnTo>
                    <a:pt x="16905472" y="1645920"/>
                  </a:lnTo>
                  <a:lnTo>
                    <a:pt x="0" y="1645920"/>
                  </a:lnTo>
                  <a:close/>
                </a:path>
              </a:pathLst>
            </a:custGeom>
            <a:blipFill>
              <a:blip r:embed="rId4">
                <a:alphaModFix amt="0"/>
              </a:blip>
              <a:stretch>
                <a:fillRect t="-17115" r="66464" b="-17115"/>
              </a:stretch>
            </a:blipFill>
          </p:spPr>
        </p:sp>
        <p:sp>
          <p:nvSpPr>
            <p:cNvPr id="41" name="TextBox 41"/>
            <p:cNvSpPr txBox="1"/>
            <p:nvPr/>
          </p:nvSpPr>
          <p:spPr>
            <a:xfrm>
              <a:off x="0" y="-38100"/>
              <a:ext cx="16905473" cy="1684020"/>
            </a:xfrm>
            <a:prstGeom prst="rect">
              <a:avLst/>
            </a:prstGeom>
          </p:spPr>
          <p:txBody>
            <a:bodyPr lIns="0" tIns="0" rIns="0" bIns="0" rtlCol="0" anchor="ctr"/>
            <a:lstStyle/>
            <a:p>
              <a:pPr algn="ctr">
                <a:lnSpc>
                  <a:spcPts val="2070"/>
                </a:lnSpc>
              </a:pPr>
              <a:r>
                <a:rPr lang="en-US" sz="1725" i="1">
                  <a:solidFill>
                    <a:srgbClr val="6E7FA0"/>
                  </a:solidFill>
                  <a:latin typeface="Calibri (MS) Italics"/>
                  <a:ea typeface="Calibri (MS) Italics"/>
                  <a:cs typeface="Calibri (MS) Italics"/>
                  <a:sym typeface="Calibri (MS) Italics"/>
                </a:rPr>
                <a:t>Digelar luring di UNAIR, bagian dari rangkaian Campus Data Week 27–29 Oktober 2026.</a:t>
              </a:r>
            </a:p>
          </p:txBody>
        </p:sp>
      </p:grpSp>
      <p:grpSp>
        <p:nvGrpSpPr>
          <p:cNvPr id="42" name="Group 42"/>
          <p:cNvGrpSpPr/>
          <p:nvPr/>
        </p:nvGrpSpPr>
        <p:grpSpPr>
          <a:xfrm>
            <a:off x="950595" y="7973187"/>
            <a:ext cx="16382238" cy="979170"/>
            <a:chOff x="0" y="0"/>
            <a:chExt cx="21842984" cy="1305560"/>
          </a:xfrm>
        </p:grpSpPr>
        <p:sp>
          <p:nvSpPr>
            <p:cNvPr id="43" name="Freeform 43"/>
            <p:cNvSpPr/>
            <p:nvPr/>
          </p:nvSpPr>
          <p:spPr>
            <a:xfrm>
              <a:off x="0" y="0"/>
              <a:ext cx="21842985" cy="1305560"/>
            </a:xfrm>
            <a:custGeom>
              <a:avLst/>
              <a:gdLst/>
              <a:ahLst/>
              <a:cxnLst/>
              <a:rect l="l" t="t" r="r" b="b"/>
              <a:pathLst>
                <a:path w="21842985" h="1305560">
                  <a:moveTo>
                    <a:pt x="0" y="111887"/>
                  </a:moveTo>
                  <a:cubicBezTo>
                    <a:pt x="0" y="50038"/>
                    <a:pt x="50038" y="0"/>
                    <a:pt x="111887" y="0"/>
                  </a:cubicBezTo>
                  <a:lnTo>
                    <a:pt x="21731098" y="0"/>
                  </a:lnTo>
                  <a:cubicBezTo>
                    <a:pt x="21792947" y="0"/>
                    <a:pt x="21842985" y="50038"/>
                    <a:pt x="21842985" y="111887"/>
                  </a:cubicBezTo>
                  <a:lnTo>
                    <a:pt x="21842985" y="1193673"/>
                  </a:lnTo>
                  <a:cubicBezTo>
                    <a:pt x="21842985" y="1255522"/>
                    <a:pt x="21792947" y="1305560"/>
                    <a:pt x="21731098" y="1305560"/>
                  </a:cubicBezTo>
                  <a:lnTo>
                    <a:pt x="111887" y="1305560"/>
                  </a:lnTo>
                  <a:cubicBezTo>
                    <a:pt x="50038" y="1305560"/>
                    <a:pt x="0" y="1255522"/>
                    <a:pt x="0" y="1193673"/>
                  </a:cubicBezTo>
                  <a:close/>
                </a:path>
              </a:pathLst>
            </a:custGeom>
            <a:solidFill>
              <a:srgbClr val="1A1206">
                <a:alpha val="20000"/>
              </a:srgbClr>
            </a:solidFill>
            <a:ln w="19050" cap="sq">
              <a:solidFill>
                <a:srgbClr val="8A6420"/>
              </a:solidFill>
              <a:prstDash val="solid"/>
              <a:miter/>
            </a:ln>
          </p:spPr>
        </p:sp>
      </p:grpSp>
      <p:grpSp>
        <p:nvGrpSpPr>
          <p:cNvPr id="44" name="Group 44"/>
          <p:cNvGrpSpPr/>
          <p:nvPr/>
        </p:nvGrpSpPr>
        <p:grpSpPr>
          <a:xfrm>
            <a:off x="1159002" y="7982712"/>
            <a:ext cx="15924276" cy="960120"/>
            <a:chOff x="0" y="0"/>
            <a:chExt cx="21232368" cy="1280160"/>
          </a:xfrm>
        </p:grpSpPr>
        <p:sp>
          <p:nvSpPr>
            <p:cNvPr id="45" name="Freeform 45"/>
            <p:cNvSpPr/>
            <p:nvPr/>
          </p:nvSpPr>
          <p:spPr>
            <a:xfrm>
              <a:off x="0" y="0"/>
              <a:ext cx="21232368" cy="1280160"/>
            </a:xfrm>
            <a:custGeom>
              <a:avLst/>
              <a:gdLst/>
              <a:ahLst/>
              <a:cxnLst/>
              <a:rect l="l" t="t" r="r" b="b"/>
              <a:pathLst>
                <a:path w="21232368" h="1280160">
                  <a:moveTo>
                    <a:pt x="0" y="0"/>
                  </a:moveTo>
                  <a:lnTo>
                    <a:pt x="21232368" y="0"/>
                  </a:lnTo>
                  <a:lnTo>
                    <a:pt x="21232368" y="1280160"/>
                  </a:lnTo>
                  <a:lnTo>
                    <a:pt x="0" y="1280160"/>
                  </a:lnTo>
                  <a:close/>
                </a:path>
              </a:pathLst>
            </a:custGeom>
            <a:blipFill>
              <a:blip r:embed="rId4">
                <a:alphaModFix amt="0"/>
              </a:blip>
              <a:stretch>
                <a:fillRect t="-267327" r="1808" b="-267327"/>
              </a:stretch>
            </a:blipFill>
          </p:spPr>
        </p:sp>
        <p:sp>
          <p:nvSpPr>
            <p:cNvPr id="46" name="TextBox 46"/>
            <p:cNvSpPr txBox="1"/>
            <p:nvPr/>
          </p:nvSpPr>
          <p:spPr>
            <a:xfrm>
              <a:off x="0" y="-38100"/>
              <a:ext cx="21232368" cy="1318260"/>
            </a:xfrm>
            <a:prstGeom prst="rect">
              <a:avLst/>
            </a:prstGeom>
          </p:spPr>
          <p:txBody>
            <a:bodyPr lIns="0" tIns="0" rIns="0" bIns="0" rtlCol="0" anchor="ctr"/>
            <a:lstStyle/>
            <a:p>
              <a:pPr algn="ctr">
                <a:lnSpc>
                  <a:spcPts val="2250"/>
                </a:lnSpc>
              </a:pPr>
              <a:r>
                <a:rPr lang="en-US" sz="1875">
                  <a:solidFill>
                    <a:srgbClr val="9FB0CE"/>
                  </a:solidFill>
                  <a:latin typeface="Calibri (MS)"/>
                  <a:ea typeface="Calibri (MS)"/>
                  <a:cs typeface="Calibri (MS)"/>
                  <a:sym typeface="Calibri (MS)"/>
                </a:rPr>
                <a:t>Catat dua tenggat kunci:  </a:t>
              </a:r>
              <a:r>
                <a:rPr lang="en-US" sz="1875" b="1">
                  <a:solidFill>
                    <a:srgbClr val="E9A944"/>
                  </a:solidFill>
                  <a:latin typeface="Calibri (MS) Bold"/>
                  <a:ea typeface="Calibri (MS) Bold"/>
                  <a:cs typeface="Calibri (MS) Bold"/>
                  <a:sym typeface="Calibri (MS) Bold"/>
                </a:rPr>
                <a:t>rilis dataset, kamus data, &amp; secret brief 28 Oktober 2026 pukul 07.00 WIB</a:t>
              </a:r>
              <a:r>
                <a:rPr lang="en-US" sz="1875">
                  <a:solidFill>
                    <a:srgbClr val="9FB0CE"/>
                  </a:solidFill>
                  <a:latin typeface="Calibri (MS)"/>
                  <a:ea typeface="Calibri (MS)"/>
                  <a:cs typeface="Calibri (MS)"/>
                  <a:sym typeface="Calibri (MS)"/>
                </a:rPr>
                <a:t>  dan  </a:t>
              </a:r>
              <a:r>
                <a:rPr lang="en-US" sz="1875" b="1">
                  <a:solidFill>
                    <a:srgbClr val="E9A944"/>
                  </a:solidFill>
                  <a:latin typeface="Calibri (MS) Bold"/>
                  <a:ea typeface="Calibri (MS) Bold"/>
                  <a:cs typeface="Calibri (MS) Bold"/>
                  <a:sym typeface="Calibri (MS) Bold"/>
                </a:rPr>
                <a:t>batas unggah karya 28 Oktober 2026 pukul 12.00 WIB</a:t>
              </a:r>
            </a:p>
          </p:txBody>
        </p:sp>
      </p:grpSp>
      <p:grpSp>
        <p:nvGrpSpPr>
          <p:cNvPr id="47" name="Group 47"/>
          <p:cNvGrpSpPr/>
          <p:nvPr/>
        </p:nvGrpSpPr>
        <p:grpSpPr>
          <a:xfrm>
            <a:off x="2171319" y="4643533"/>
            <a:ext cx="380428" cy="380428"/>
            <a:chOff x="0" y="0"/>
            <a:chExt cx="507238" cy="507238"/>
          </a:xfrm>
        </p:grpSpPr>
        <p:sp>
          <p:nvSpPr>
            <p:cNvPr id="48" name="Freeform 48"/>
            <p:cNvSpPr/>
            <p:nvPr/>
          </p:nvSpPr>
          <p:spPr>
            <a:xfrm>
              <a:off x="0" y="0"/>
              <a:ext cx="507238" cy="507238"/>
            </a:xfrm>
            <a:custGeom>
              <a:avLst/>
              <a:gdLst/>
              <a:ahLst/>
              <a:cxnLst/>
              <a:rect l="l" t="t" r="r" b="b"/>
              <a:pathLst>
                <a:path w="507238" h="507238">
                  <a:moveTo>
                    <a:pt x="0" y="253619"/>
                  </a:moveTo>
                  <a:cubicBezTo>
                    <a:pt x="0" y="113538"/>
                    <a:pt x="113538" y="0"/>
                    <a:pt x="253619" y="0"/>
                  </a:cubicBezTo>
                  <a:cubicBezTo>
                    <a:pt x="393700" y="0"/>
                    <a:pt x="507238" y="113538"/>
                    <a:pt x="507238" y="253619"/>
                  </a:cubicBezTo>
                  <a:cubicBezTo>
                    <a:pt x="507238" y="393700"/>
                    <a:pt x="393700" y="507238"/>
                    <a:pt x="253619" y="507238"/>
                  </a:cubicBezTo>
                  <a:cubicBezTo>
                    <a:pt x="113538" y="507238"/>
                    <a:pt x="0" y="393700"/>
                    <a:pt x="0" y="253619"/>
                  </a:cubicBezTo>
                  <a:close/>
                </a:path>
              </a:pathLst>
            </a:custGeom>
            <a:solidFill>
              <a:srgbClr val="4ADE80"/>
            </a:solidFill>
            <a:ln w="23812" cap="sq">
              <a:solidFill>
                <a:srgbClr val="060B1C"/>
              </a:solidFill>
              <a:prstDash val="solid"/>
              <a:miter/>
            </a:ln>
          </p:spPr>
        </p:sp>
      </p:grpSp>
      <p:grpSp>
        <p:nvGrpSpPr>
          <p:cNvPr id="49" name="Group 49"/>
          <p:cNvGrpSpPr/>
          <p:nvPr/>
        </p:nvGrpSpPr>
        <p:grpSpPr>
          <a:xfrm>
            <a:off x="1696021" y="6166437"/>
            <a:ext cx="1331024" cy="370904"/>
            <a:chOff x="0" y="0"/>
            <a:chExt cx="1774698" cy="494538"/>
          </a:xfrm>
        </p:grpSpPr>
        <p:grpSp>
          <p:nvGrpSpPr>
            <p:cNvPr id="50" name="Group 50"/>
            <p:cNvGrpSpPr/>
            <p:nvPr/>
          </p:nvGrpSpPr>
          <p:grpSpPr>
            <a:xfrm>
              <a:off x="0" y="0"/>
              <a:ext cx="1774698" cy="494538"/>
              <a:chOff x="0" y="0"/>
              <a:chExt cx="1774698" cy="494538"/>
            </a:xfrm>
          </p:grpSpPr>
          <p:sp>
            <p:nvSpPr>
              <p:cNvPr id="51" name="Freeform 51"/>
              <p:cNvSpPr/>
              <p:nvPr/>
            </p:nvSpPr>
            <p:spPr>
              <a:xfrm>
                <a:off x="0" y="0"/>
                <a:ext cx="1774698" cy="494538"/>
              </a:xfrm>
              <a:custGeom>
                <a:avLst/>
                <a:gdLst/>
                <a:ahLst/>
                <a:cxnLst/>
                <a:rect l="l" t="t" r="r" b="b"/>
                <a:pathLst>
                  <a:path w="1774698" h="494538">
                    <a:moveTo>
                      <a:pt x="0" y="76073"/>
                    </a:moveTo>
                    <a:cubicBezTo>
                      <a:pt x="0" y="34036"/>
                      <a:pt x="34036" y="0"/>
                      <a:pt x="76073" y="0"/>
                    </a:cubicBezTo>
                    <a:lnTo>
                      <a:pt x="1698625" y="0"/>
                    </a:lnTo>
                    <a:cubicBezTo>
                      <a:pt x="1740662" y="0"/>
                      <a:pt x="1774698" y="34036"/>
                      <a:pt x="1774698" y="76073"/>
                    </a:cubicBezTo>
                    <a:lnTo>
                      <a:pt x="1774698" y="418465"/>
                    </a:lnTo>
                    <a:cubicBezTo>
                      <a:pt x="1774698" y="460502"/>
                      <a:pt x="1740662" y="494538"/>
                      <a:pt x="1698625" y="494538"/>
                    </a:cubicBezTo>
                    <a:lnTo>
                      <a:pt x="76073" y="494538"/>
                    </a:lnTo>
                    <a:cubicBezTo>
                      <a:pt x="34036" y="494538"/>
                      <a:pt x="0" y="460502"/>
                      <a:pt x="0" y="418465"/>
                    </a:cubicBezTo>
                    <a:close/>
                  </a:path>
                </a:pathLst>
              </a:custGeom>
              <a:solidFill>
                <a:srgbClr val="0E2A1C"/>
              </a:solidFill>
              <a:ln w="14288" cap="sq">
                <a:solidFill>
                  <a:srgbClr val="4ADE80"/>
                </a:solidFill>
                <a:prstDash val="solid"/>
                <a:miter/>
              </a:ln>
            </p:spPr>
          </p:sp>
        </p:grpSp>
        <p:grpSp>
          <p:nvGrpSpPr>
            <p:cNvPr id="52" name="Group 52"/>
            <p:cNvGrpSpPr/>
            <p:nvPr/>
          </p:nvGrpSpPr>
          <p:grpSpPr>
            <a:xfrm>
              <a:off x="9525" y="9525"/>
              <a:ext cx="1755648" cy="475488"/>
              <a:chOff x="0" y="0"/>
              <a:chExt cx="1755648" cy="475488"/>
            </a:xfrm>
          </p:grpSpPr>
          <p:sp>
            <p:nvSpPr>
              <p:cNvPr id="53" name="Freeform 53"/>
              <p:cNvSpPr/>
              <p:nvPr/>
            </p:nvSpPr>
            <p:spPr>
              <a:xfrm>
                <a:off x="0" y="0"/>
                <a:ext cx="1755648" cy="475488"/>
              </a:xfrm>
              <a:custGeom>
                <a:avLst/>
                <a:gdLst/>
                <a:ahLst/>
                <a:cxnLst/>
                <a:rect l="l" t="t" r="r" b="b"/>
                <a:pathLst>
                  <a:path w="1755648" h="475488">
                    <a:moveTo>
                      <a:pt x="0" y="0"/>
                    </a:moveTo>
                    <a:lnTo>
                      <a:pt x="1755648" y="0"/>
                    </a:lnTo>
                    <a:lnTo>
                      <a:pt x="1755648" y="475488"/>
                    </a:lnTo>
                    <a:lnTo>
                      <a:pt x="0" y="475488"/>
                    </a:lnTo>
                    <a:close/>
                  </a:path>
                </a:pathLst>
              </a:custGeom>
              <a:blipFill>
                <a:blip r:embed="rId4">
                  <a:alphaModFix amt="0"/>
                </a:blip>
                <a:stretch>
                  <a:fillRect t="-21944" b="-21944"/>
                </a:stretch>
              </a:blipFill>
            </p:spPr>
          </p:sp>
          <p:sp>
            <p:nvSpPr>
              <p:cNvPr id="54" name="TextBox 54"/>
              <p:cNvSpPr txBox="1"/>
              <p:nvPr/>
            </p:nvSpPr>
            <p:spPr>
              <a:xfrm>
                <a:off x="0" y="-19050"/>
                <a:ext cx="1755648" cy="494538"/>
              </a:xfrm>
              <a:prstGeom prst="rect">
                <a:avLst/>
              </a:prstGeom>
            </p:spPr>
            <p:txBody>
              <a:bodyPr lIns="0" tIns="0" rIns="0" bIns="0" rtlCol="0" anchor="ctr"/>
              <a:lstStyle/>
              <a:p>
                <a:pPr algn="ctr">
                  <a:lnSpc>
                    <a:spcPts val="1439"/>
                  </a:lnSpc>
                </a:pPr>
                <a:r>
                  <a:rPr lang="en-US" sz="1200" b="1" spc="150">
                    <a:solidFill>
                      <a:srgbClr val="4ADE80"/>
                    </a:solidFill>
                    <a:latin typeface="Arial Bold"/>
                    <a:ea typeface="Arial Bold"/>
                    <a:cs typeface="Arial Bold"/>
                    <a:sym typeface="Arial Bold"/>
                  </a:rPr>
                  <a:t>HARI INI</a:t>
                </a:r>
              </a:p>
            </p:txBody>
          </p:sp>
        </p:grpSp>
      </p:grpSp>
      <p:grpSp>
        <p:nvGrpSpPr>
          <p:cNvPr id="55" name="Group 55"/>
          <p:cNvGrpSpPr/>
          <p:nvPr/>
        </p:nvGrpSpPr>
        <p:grpSpPr>
          <a:xfrm>
            <a:off x="6310027" y="3857006"/>
            <a:ext cx="2359152" cy="685800"/>
            <a:chOff x="0" y="0"/>
            <a:chExt cx="3145536" cy="914400"/>
          </a:xfrm>
        </p:grpSpPr>
        <p:sp>
          <p:nvSpPr>
            <p:cNvPr id="56" name="Freeform 56"/>
            <p:cNvSpPr/>
            <p:nvPr/>
          </p:nvSpPr>
          <p:spPr>
            <a:xfrm>
              <a:off x="0" y="0"/>
              <a:ext cx="3145536" cy="914400"/>
            </a:xfrm>
            <a:custGeom>
              <a:avLst/>
              <a:gdLst/>
              <a:ahLst/>
              <a:cxnLst/>
              <a:rect l="l" t="t" r="r" b="b"/>
              <a:pathLst>
                <a:path w="3145536" h="914400">
                  <a:moveTo>
                    <a:pt x="0" y="0"/>
                  </a:moveTo>
                  <a:lnTo>
                    <a:pt x="3145536" y="0"/>
                  </a:lnTo>
                  <a:lnTo>
                    <a:pt x="3145536" y="914400"/>
                  </a:lnTo>
                  <a:lnTo>
                    <a:pt x="0" y="914400"/>
                  </a:lnTo>
                  <a:close/>
                </a:path>
              </a:pathLst>
            </a:custGeom>
            <a:blipFill>
              <a:blip r:embed="rId4">
                <a:alphaModFix amt="0"/>
              </a:blip>
              <a:stretch>
                <a:fillRect t="-17028" b="-17028"/>
              </a:stretch>
            </a:blipFill>
          </p:spPr>
        </p:sp>
        <p:sp>
          <p:nvSpPr>
            <p:cNvPr id="57" name="TextBox 57"/>
            <p:cNvSpPr txBox="1"/>
            <p:nvPr/>
          </p:nvSpPr>
          <p:spPr>
            <a:xfrm>
              <a:off x="0" y="0"/>
              <a:ext cx="3145536" cy="914400"/>
            </a:xfrm>
            <a:prstGeom prst="rect">
              <a:avLst/>
            </a:prstGeom>
          </p:spPr>
          <p:txBody>
            <a:bodyPr lIns="0" tIns="0" rIns="0" bIns="0" rtlCol="0" anchor="b"/>
            <a:lstStyle/>
            <a:p>
              <a:pPr algn="ctr">
                <a:lnSpc>
                  <a:spcPts val="1889"/>
                </a:lnSpc>
              </a:pPr>
              <a:r>
                <a:rPr lang="en-US" sz="1575" b="1">
                  <a:solidFill>
                    <a:srgbClr val="9FB0CE"/>
                  </a:solidFill>
                  <a:latin typeface="Courier New Bold"/>
                  <a:ea typeface="Courier New Bold"/>
                  <a:cs typeface="Courier New Bold"/>
                  <a:sym typeface="Courier New Bold"/>
                </a:rPr>
                <a:t>28 Okt 2026</a:t>
              </a:r>
            </a:p>
            <a:p>
              <a:pPr algn="ctr">
                <a:lnSpc>
                  <a:spcPts val="1889"/>
                </a:lnSpc>
              </a:pPr>
              <a:r>
                <a:rPr lang="en-US" sz="1575" b="1">
                  <a:solidFill>
                    <a:srgbClr val="9FB0CE"/>
                  </a:solidFill>
                  <a:latin typeface="Courier New Bold"/>
                  <a:ea typeface="Courier New Bold"/>
                  <a:cs typeface="Courier New Bold"/>
                  <a:sym typeface="Courier New Bold"/>
                </a:rPr>
                <a:t>07.00 WIB</a:t>
              </a:r>
            </a:p>
          </p:txBody>
        </p:sp>
      </p:grpSp>
      <p:grpSp>
        <p:nvGrpSpPr>
          <p:cNvPr id="58" name="Group 58"/>
          <p:cNvGrpSpPr/>
          <p:nvPr/>
        </p:nvGrpSpPr>
        <p:grpSpPr>
          <a:xfrm>
            <a:off x="8895302" y="3857006"/>
            <a:ext cx="2359152" cy="685800"/>
            <a:chOff x="0" y="0"/>
            <a:chExt cx="3145536" cy="914400"/>
          </a:xfrm>
        </p:grpSpPr>
        <p:sp>
          <p:nvSpPr>
            <p:cNvPr id="59" name="Freeform 59"/>
            <p:cNvSpPr/>
            <p:nvPr/>
          </p:nvSpPr>
          <p:spPr>
            <a:xfrm>
              <a:off x="0" y="0"/>
              <a:ext cx="3145536" cy="914400"/>
            </a:xfrm>
            <a:custGeom>
              <a:avLst/>
              <a:gdLst/>
              <a:ahLst/>
              <a:cxnLst/>
              <a:rect l="l" t="t" r="r" b="b"/>
              <a:pathLst>
                <a:path w="3145536" h="914400">
                  <a:moveTo>
                    <a:pt x="0" y="0"/>
                  </a:moveTo>
                  <a:lnTo>
                    <a:pt x="3145536" y="0"/>
                  </a:lnTo>
                  <a:lnTo>
                    <a:pt x="3145536" y="914400"/>
                  </a:lnTo>
                  <a:lnTo>
                    <a:pt x="0" y="914400"/>
                  </a:lnTo>
                  <a:close/>
                </a:path>
              </a:pathLst>
            </a:custGeom>
            <a:blipFill>
              <a:blip r:embed="rId4">
                <a:alphaModFix amt="0"/>
              </a:blip>
              <a:stretch>
                <a:fillRect t="-17028" b="-17028"/>
              </a:stretch>
            </a:blipFill>
          </p:spPr>
        </p:sp>
        <p:sp>
          <p:nvSpPr>
            <p:cNvPr id="60" name="TextBox 60"/>
            <p:cNvSpPr txBox="1"/>
            <p:nvPr/>
          </p:nvSpPr>
          <p:spPr>
            <a:xfrm>
              <a:off x="0" y="0"/>
              <a:ext cx="3145536" cy="914400"/>
            </a:xfrm>
            <a:prstGeom prst="rect">
              <a:avLst/>
            </a:prstGeom>
          </p:spPr>
          <p:txBody>
            <a:bodyPr lIns="0" tIns="0" rIns="0" bIns="0" rtlCol="0" anchor="b"/>
            <a:lstStyle/>
            <a:p>
              <a:pPr algn="ctr">
                <a:lnSpc>
                  <a:spcPts val="1889"/>
                </a:lnSpc>
              </a:pPr>
              <a:r>
                <a:rPr lang="en-US" sz="1575" b="1">
                  <a:solidFill>
                    <a:srgbClr val="9FB0CE"/>
                  </a:solidFill>
                  <a:latin typeface="Courier New Bold"/>
                  <a:ea typeface="Courier New Bold"/>
                  <a:cs typeface="Courier New Bold"/>
                  <a:sym typeface="Courier New Bold"/>
                </a:rPr>
                <a:t>28 Okt 2026</a:t>
              </a:r>
            </a:p>
            <a:p>
              <a:pPr algn="ctr">
                <a:lnSpc>
                  <a:spcPts val="1889"/>
                </a:lnSpc>
              </a:pPr>
              <a:r>
                <a:rPr lang="en-US" sz="1575" b="1">
                  <a:solidFill>
                    <a:srgbClr val="9FB0CE"/>
                  </a:solidFill>
                  <a:latin typeface="Courier New Bold"/>
                  <a:ea typeface="Courier New Bold"/>
                  <a:cs typeface="Courier New Bold"/>
                  <a:sym typeface="Courier New Bold"/>
                </a:rPr>
                <a:t>07.00 - 12.00 WIB</a:t>
              </a:r>
            </a:p>
          </p:txBody>
        </p:sp>
      </p:grpSp>
      <p:grpSp>
        <p:nvGrpSpPr>
          <p:cNvPr id="61" name="Group 61"/>
          <p:cNvGrpSpPr/>
          <p:nvPr/>
        </p:nvGrpSpPr>
        <p:grpSpPr>
          <a:xfrm>
            <a:off x="11480578" y="3857006"/>
            <a:ext cx="2359152" cy="685800"/>
            <a:chOff x="0" y="0"/>
            <a:chExt cx="3145536" cy="914400"/>
          </a:xfrm>
        </p:grpSpPr>
        <p:sp>
          <p:nvSpPr>
            <p:cNvPr id="62" name="Freeform 62"/>
            <p:cNvSpPr/>
            <p:nvPr/>
          </p:nvSpPr>
          <p:spPr>
            <a:xfrm>
              <a:off x="0" y="0"/>
              <a:ext cx="3145536" cy="914400"/>
            </a:xfrm>
            <a:custGeom>
              <a:avLst/>
              <a:gdLst/>
              <a:ahLst/>
              <a:cxnLst/>
              <a:rect l="l" t="t" r="r" b="b"/>
              <a:pathLst>
                <a:path w="3145536" h="914400">
                  <a:moveTo>
                    <a:pt x="0" y="0"/>
                  </a:moveTo>
                  <a:lnTo>
                    <a:pt x="3145536" y="0"/>
                  </a:lnTo>
                  <a:lnTo>
                    <a:pt x="3145536" y="914400"/>
                  </a:lnTo>
                  <a:lnTo>
                    <a:pt x="0" y="914400"/>
                  </a:lnTo>
                  <a:close/>
                </a:path>
              </a:pathLst>
            </a:custGeom>
            <a:blipFill>
              <a:blip r:embed="rId4">
                <a:alphaModFix amt="0"/>
              </a:blip>
              <a:stretch>
                <a:fillRect t="-17028" b="-17028"/>
              </a:stretch>
            </a:blipFill>
          </p:spPr>
        </p:sp>
        <p:sp>
          <p:nvSpPr>
            <p:cNvPr id="63" name="TextBox 63"/>
            <p:cNvSpPr txBox="1"/>
            <p:nvPr/>
          </p:nvSpPr>
          <p:spPr>
            <a:xfrm>
              <a:off x="0" y="0"/>
              <a:ext cx="3145536" cy="914400"/>
            </a:xfrm>
            <a:prstGeom prst="rect">
              <a:avLst/>
            </a:prstGeom>
          </p:spPr>
          <p:txBody>
            <a:bodyPr lIns="0" tIns="0" rIns="0" bIns="0" rtlCol="0" anchor="b"/>
            <a:lstStyle/>
            <a:p>
              <a:pPr algn="ctr">
                <a:lnSpc>
                  <a:spcPts val="1889"/>
                </a:lnSpc>
              </a:pPr>
              <a:r>
                <a:rPr lang="en-US" sz="1575" b="1">
                  <a:solidFill>
                    <a:srgbClr val="9FB0CE"/>
                  </a:solidFill>
                  <a:latin typeface="Courier New Bold"/>
                  <a:ea typeface="Courier New Bold"/>
                  <a:cs typeface="Courier New Bold"/>
                  <a:sym typeface="Courier New Bold"/>
                </a:rPr>
                <a:t>28 Okt 2026</a:t>
              </a:r>
            </a:p>
            <a:p>
              <a:pPr algn="ctr">
                <a:lnSpc>
                  <a:spcPts val="1889"/>
                </a:lnSpc>
              </a:pPr>
              <a:r>
                <a:rPr lang="en-US" sz="1575" b="1">
                  <a:solidFill>
                    <a:srgbClr val="9FB0CE"/>
                  </a:solidFill>
                  <a:latin typeface="Courier New Bold"/>
                  <a:ea typeface="Courier New Bold"/>
                  <a:cs typeface="Courier New Bold"/>
                  <a:sym typeface="Courier New Bold"/>
                </a:rPr>
                <a:t>12.00 WIB</a:t>
              </a:r>
            </a:p>
          </p:txBody>
        </p:sp>
      </p:grpSp>
      <p:grpSp>
        <p:nvGrpSpPr>
          <p:cNvPr id="64" name="Group 64"/>
          <p:cNvGrpSpPr/>
          <p:nvPr/>
        </p:nvGrpSpPr>
        <p:grpSpPr>
          <a:xfrm>
            <a:off x="7354252" y="4709208"/>
            <a:ext cx="270700" cy="270700"/>
            <a:chOff x="0" y="0"/>
            <a:chExt cx="360934" cy="360934"/>
          </a:xfrm>
        </p:grpSpPr>
        <p:sp>
          <p:nvSpPr>
            <p:cNvPr id="65" name="Freeform 65"/>
            <p:cNvSpPr/>
            <p:nvPr/>
          </p:nvSpPr>
          <p:spPr>
            <a:xfrm>
              <a:off x="0" y="0"/>
              <a:ext cx="360934" cy="360934"/>
            </a:xfrm>
            <a:custGeom>
              <a:avLst/>
              <a:gdLst/>
              <a:ahLst/>
              <a:cxnLst/>
              <a:rect l="l" t="t" r="r" b="b"/>
              <a:pathLst>
                <a:path w="360934" h="360934">
                  <a:moveTo>
                    <a:pt x="0" y="180467"/>
                  </a:moveTo>
                  <a:cubicBezTo>
                    <a:pt x="0" y="80772"/>
                    <a:pt x="80772" y="0"/>
                    <a:pt x="180467" y="0"/>
                  </a:cubicBezTo>
                  <a:cubicBezTo>
                    <a:pt x="280162" y="0"/>
                    <a:pt x="360934" y="80772"/>
                    <a:pt x="360934" y="180467"/>
                  </a:cubicBezTo>
                  <a:cubicBezTo>
                    <a:pt x="360934" y="280162"/>
                    <a:pt x="280162" y="360934"/>
                    <a:pt x="180467" y="360934"/>
                  </a:cubicBezTo>
                  <a:cubicBezTo>
                    <a:pt x="80772" y="360934"/>
                    <a:pt x="0" y="280162"/>
                    <a:pt x="0" y="180467"/>
                  </a:cubicBezTo>
                  <a:close/>
                </a:path>
              </a:pathLst>
            </a:custGeom>
            <a:solidFill>
              <a:srgbClr val="E9A944"/>
            </a:solidFill>
            <a:ln w="23812" cap="sq">
              <a:solidFill>
                <a:srgbClr val="060B1C"/>
              </a:solidFill>
              <a:prstDash val="solid"/>
              <a:miter/>
            </a:ln>
          </p:spPr>
        </p:sp>
      </p:grpSp>
      <p:grpSp>
        <p:nvGrpSpPr>
          <p:cNvPr id="66" name="Group 66"/>
          <p:cNvGrpSpPr/>
          <p:nvPr/>
        </p:nvGrpSpPr>
        <p:grpSpPr>
          <a:xfrm>
            <a:off x="9939528" y="4679109"/>
            <a:ext cx="270700" cy="270700"/>
            <a:chOff x="0" y="0"/>
            <a:chExt cx="360934" cy="360934"/>
          </a:xfrm>
        </p:grpSpPr>
        <p:sp>
          <p:nvSpPr>
            <p:cNvPr id="67" name="Freeform 67"/>
            <p:cNvSpPr/>
            <p:nvPr/>
          </p:nvSpPr>
          <p:spPr>
            <a:xfrm>
              <a:off x="0" y="0"/>
              <a:ext cx="360934" cy="360934"/>
            </a:xfrm>
            <a:custGeom>
              <a:avLst/>
              <a:gdLst/>
              <a:ahLst/>
              <a:cxnLst/>
              <a:rect l="l" t="t" r="r" b="b"/>
              <a:pathLst>
                <a:path w="360934" h="360934">
                  <a:moveTo>
                    <a:pt x="0" y="180467"/>
                  </a:moveTo>
                  <a:cubicBezTo>
                    <a:pt x="0" y="80772"/>
                    <a:pt x="80772" y="0"/>
                    <a:pt x="180467" y="0"/>
                  </a:cubicBezTo>
                  <a:cubicBezTo>
                    <a:pt x="280162" y="0"/>
                    <a:pt x="360934" y="80772"/>
                    <a:pt x="360934" y="180467"/>
                  </a:cubicBezTo>
                  <a:cubicBezTo>
                    <a:pt x="360934" y="280162"/>
                    <a:pt x="280162" y="360934"/>
                    <a:pt x="180467" y="360934"/>
                  </a:cubicBezTo>
                  <a:cubicBezTo>
                    <a:pt x="80772" y="360934"/>
                    <a:pt x="0" y="280162"/>
                    <a:pt x="0" y="180467"/>
                  </a:cubicBezTo>
                  <a:close/>
                </a:path>
              </a:pathLst>
            </a:custGeom>
            <a:solidFill>
              <a:srgbClr val="E9A944"/>
            </a:solidFill>
            <a:ln w="23812" cap="sq">
              <a:solidFill>
                <a:srgbClr val="060B1C"/>
              </a:solidFill>
              <a:prstDash val="solid"/>
              <a:miter/>
            </a:ln>
          </p:spPr>
        </p:sp>
      </p:grpSp>
      <p:grpSp>
        <p:nvGrpSpPr>
          <p:cNvPr id="68" name="Group 68"/>
          <p:cNvGrpSpPr/>
          <p:nvPr/>
        </p:nvGrpSpPr>
        <p:grpSpPr>
          <a:xfrm>
            <a:off x="12524803" y="4698397"/>
            <a:ext cx="270700" cy="270700"/>
            <a:chOff x="0" y="0"/>
            <a:chExt cx="360934" cy="360934"/>
          </a:xfrm>
        </p:grpSpPr>
        <p:sp>
          <p:nvSpPr>
            <p:cNvPr id="69" name="Freeform 69"/>
            <p:cNvSpPr/>
            <p:nvPr/>
          </p:nvSpPr>
          <p:spPr>
            <a:xfrm>
              <a:off x="0" y="0"/>
              <a:ext cx="360934" cy="360934"/>
            </a:xfrm>
            <a:custGeom>
              <a:avLst/>
              <a:gdLst/>
              <a:ahLst/>
              <a:cxnLst/>
              <a:rect l="l" t="t" r="r" b="b"/>
              <a:pathLst>
                <a:path w="360934" h="360934">
                  <a:moveTo>
                    <a:pt x="0" y="180467"/>
                  </a:moveTo>
                  <a:cubicBezTo>
                    <a:pt x="0" y="80772"/>
                    <a:pt x="80772" y="0"/>
                    <a:pt x="180467" y="0"/>
                  </a:cubicBezTo>
                  <a:cubicBezTo>
                    <a:pt x="280162" y="0"/>
                    <a:pt x="360934" y="80772"/>
                    <a:pt x="360934" y="180467"/>
                  </a:cubicBezTo>
                  <a:cubicBezTo>
                    <a:pt x="360934" y="280162"/>
                    <a:pt x="280162" y="360934"/>
                    <a:pt x="180467" y="360934"/>
                  </a:cubicBezTo>
                  <a:cubicBezTo>
                    <a:pt x="80772" y="360934"/>
                    <a:pt x="0" y="280162"/>
                    <a:pt x="0" y="180467"/>
                  </a:cubicBezTo>
                  <a:close/>
                </a:path>
              </a:pathLst>
            </a:custGeom>
            <a:solidFill>
              <a:srgbClr val="E9A944"/>
            </a:solidFill>
            <a:ln w="23812" cap="sq">
              <a:solidFill>
                <a:srgbClr val="060B1C"/>
              </a:solidFill>
              <a:prstDash val="solid"/>
              <a:miter/>
            </a:ln>
          </p:spPr>
        </p:sp>
      </p:grpSp>
      <p:grpSp>
        <p:nvGrpSpPr>
          <p:cNvPr id="70" name="Group 70"/>
          <p:cNvGrpSpPr/>
          <p:nvPr/>
        </p:nvGrpSpPr>
        <p:grpSpPr>
          <a:xfrm>
            <a:off x="15110079" y="4698397"/>
            <a:ext cx="270700" cy="270700"/>
            <a:chOff x="0" y="0"/>
            <a:chExt cx="360934" cy="360934"/>
          </a:xfrm>
        </p:grpSpPr>
        <p:sp>
          <p:nvSpPr>
            <p:cNvPr id="71" name="Freeform 71"/>
            <p:cNvSpPr/>
            <p:nvPr/>
          </p:nvSpPr>
          <p:spPr>
            <a:xfrm>
              <a:off x="0" y="0"/>
              <a:ext cx="360934" cy="360934"/>
            </a:xfrm>
            <a:custGeom>
              <a:avLst/>
              <a:gdLst/>
              <a:ahLst/>
              <a:cxnLst/>
              <a:rect l="l" t="t" r="r" b="b"/>
              <a:pathLst>
                <a:path w="360934" h="360934">
                  <a:moveTo>
                    <a:pt x="0" y="180467"/>
                  </a:moveTo>
                  <a:cubicBezTo>
                    <a:pt x="0" y="80772"/>
                    <a:pt x="80772" y="0"/>
                    <a:pt x="180467" y="0"/>
                  </a:cubicBezTo>
                  <a:cubicBezTo>
                    <a:pt x="280162" y="0"/>
                    <a:pt x="360934" y="80772"/>
                    <a:pt x="360934" y="180467"/>
                  </a:cubicBezTo>
                  <a:cubicBezTo>
                    <a:pt x="360934" y="280162"/>
                    <a:pt x="280162" y="360934"/>
                    <a:pt x="180467" y="360934"/>
                  </a:cubicBezTo>
                  <a:cubicBezTo>
                    <a:pt x="80772" y="360934"/>
                    <a:pt x="0" y="280162"/>
                    <a:pt x="0" y="180467"/>
                  </a:cubicBezTo>
                  <a:close/>
                </a:path>
              </a:pathLst>
            </a:custGeom>
            <a:solidFill>
              <a:srgbClr val="E9A944"/>
            </a:solidFill>
            <a:ln w="23812" cap="sq">
              <a:solidFill>
                <a:srgbClr val="060B1C"/>
              </a:solidFill>
              <a:prstDash val="solid"/>
              <a:miter/>
            </a:ln>
          </p:spPr>
        </p:sp>
      </p:grpSp>
      <p:grpSp>
        <p:nvGrpSpPr>
          <p:cNvPr id="72" name="Group 72"/>
          <p:cNvGrpSpPr/>
          <p:nvPr/>
        </p:nvGrpSpPr>
        <p:grpSpPr>
          <a:xfrm>
            <a:off x="14065853" y="3857006"/>
            <a:ext cx="2359152" cy="685800"/>
            <a:chOff x="0" y="0"/>
            <a:chExt cx="3145536" cy="914400"/>
          </a:xfrm>
        </p:grpSpPr>
        <p:sp>
          <p:nvSpPr>
            <p:cNvPr id="73" name="Freeform 73"/>
            <p:cNvSpPr/>
            <p:nvPr/>
          </p:nvSpPr>
          <p:spPr>
            <a:xfrm>
              <a:off x="0" y="0"/>
              <a:ext cx="3145536" cy="914400"/>
            </a:xfrm>
            <a:custGeom>
              <a:avLst/>
              <a:gdLst/>
              <a:ahLst/>
              <a:cxnLst/>
              <a:rect l="l" t="t" r="r" b="b"/>
              <a:pathLst>
                <a:path w="3145536" h="914400">
                  <a:moveTo>
                    <a:pt x="0" y="0"/>
                  </a:moveTo>
                  <a:lnTo>
                    <a:pt x="3145536" y="0"/>
                  </a:lnTo>
                  <a:lnTo>
                    <a:pt x="3145536" y="914400"/>
                  </a:lnTo>
                  <a:lnTo>
                    <a:pt x="0" y="914400"/>
                  </a:lnTo>
                  <a:close/>
                </a:path>
              </a:pathLst>
            </a:custGeom>
            <a:blipFill>
              <a:blip r:embed="rId4">
                <a:alphaModFix amt="0"/>
              </a:blip>
              <a:stretch>
                <a:fillRect t="-17028" b="-17028"/>
              </a:stretch>
            </a:blipFill>
          </p:spPr>
        </p:sp>
        <p:sp>
          <p:nvSpPr>
            <p:cNvPr id="74" name="TextBox 74"/>
            <p:cNvSpPr txBox="1"/>
            <p:nvPr/>
          </p:nvSpPr>
          <p:spPr>
            <a:xfrm>
              <a:off x="0" y="0"/>
              <a:ext cx="3145536" cy="914400"/>
            </a:xfrm>
            <a:prstGeom prst="rect">
              <a:avLst/>
            </a:prstGeom>
          </p:spPr>
          <p:txBody>
            <a:bodyPr lIns="0" tIns="0" rIns="0" bIns="0" rtlCol="0" anchor="b"/>
            <a:lstStyle/>
            <a:p>
              <a:pPr algn="ctr">
                <a:lnSpc>
                  <a:spcPts val="1889"/>
                </a:lnSpc>
              </a:pPr>
              <a:r>
                <a:rPr lang="en-US" sz="1575" b="1">
                  <a:solidFill>
                    <a:srgbClr val="9FB0CE"/>
                  </a:solidFill>
                  <a:latin typeface="Courier New Bold"/>
                  <a:ea typeface="Courier New Bold"/>
                  <a:cs typeface="Courier New Bold"/>
                  <a:sym typeface="Courier New Bold"/>
                </a:rPr>
                <a:t>28 Okt 2026</a:t>
              </a:r>
            </a:p>
            <a:p>
              <a:pPr algn="ctr">
                <a:lnSpc>
                  <a:spcPts val="1889"/>
                </a:lnSpc>
              </a:pPr>
              <a:r>
                <a:rPr lang="en-US" sz="1575" b="1">
                  <a:solidFill>
                    <a:srgbClr val="9FB0CE"/>
                  </a:solidFill>
                  <a:latin typeface="Courier New Bold"/>
                  <a:ea typeface="Courier New Bold"/>
                  <a:cs typeface="Courier New Bold"/>
                  <a:sym typeface="Courier New Bold"/>
                </a:rPr>
                <a:t>14.30 WIB</a:t>
              </a:r>
            </a:p>
          </p:txBody>
        </p:sp>
      </p:grpSp>
      <p:grpSp>
        <p:nvGrpSpPr>
          <p:cNvPr id="75" name="Group 75"/>
          <p:cNvGrpSpPr/>
          <p:nvPr/>
        </p:nvGrpSpPr>
        <p:grpSpPr>
          <a:xfrm>
            <a:off x="6536331" y="5280898"/>
            <a:ext cx="1906543" cy="1429354"/>
            <a:chOff x="0" y="0"/>
            <a:chExt cx="2542058" cy="1905806"/>
          </a:xfrm>
        </p:grpSpPr>
        <p:sp>
          <p:nvSpPr>
            <p:cNvPr id="76" name="Freeform 76"/>
            <p:cNvSpPr/>
            <p:nvPr/>
          </p:nvSpPr>
          <p:spPr>
            <a:xfrm>
              <a:off x="0" y="0"/>
              <a:ext cx="2542058" cy="1905806"/>
            </a:xfrm>
            <a:custGeom>
              <a:avLst/>
              <a:gdLst/>
              <a:ahLst/>
              <a:cxnLst/>
              <a:rect l="l" t="t" r="r" b="b"/>
              <a:pathLst>
                <a:path w="2542058" h="1905806">
                  <a:moveTo>
                    <a:pt x="0" y="0"/>
                  </a:moveTo>
                  <a:lnTo>
                    <a:pt x="2542058" y="0"/>
                  </a:lnTo>
                  <a:lnTo>
                    <a:pt x="2542058" y="1905806"/>
                  </a:lnTo>
                  <a:lnTo>
                    <a:pt x="0" y="1905806"/>
                  </a:lnTo>
                  <a:close/>
                </a:path>
              </a:pathLst>
            </a:custGeom>
            <a:blipFill>
              <a:blip r:embed="rId4">
                <a:alphaModFix amt="0"/>
              </a:blip>
              <a:stretch>
                <a:fillRect l="-16588" r="-40328" b="18434"/>
              </a:stretch>
            </a:blipFill>
          </p:spPr>
        </p:sp>
        <p:sp>
          <p:nvSpPr>
            <p:cNvPr id="77" name="TextBox 77"/>
            <p:cNvSpPr txBox="1"/>
            <p:nvPr/>
          </p:nvSpPr>
          <p:spPr>
            <a:xfrm>
              <a:off x="0" y="-38100"/>
              <a:ext cx="2542058" cy="1943906"/>
            </a:xfrm>
            <a:prstGeom prst="rect">
              <a:avLst/>
            </a:prstGeom>
          </p:spPr>
          <p:txBody>
            <a:bodyPr lIns="0" tIns="0" rIns="0" bIns="0" rtlCol="0" anchor="t"/>
            <a:lstStyle/>
            <a:p>
              <a:pPr algn="ctr">
                <a:lnSpc>
                  <a:spcPts val="2160"/>
                </a:lnSpc>
              </a:pPr>
              <a:r>
                <a:rPr lang="en-US" sz="1800">
                  <a:solidFill>
                    <a:srgbClr val="FFFFFF"/>
                  </a:solidFill>
                  <a:latin typeface="Calibri (MS)"/>
                  <a:ea typeface="Calibri (MS)"/>
                  <a:cs typeface="Calibri (MS)"/>
                  <a:sym typeface="Calibri (MS)"/>
                </a:rPr>
                <a:t>Dataset baru, kamus data, dan  secret brief dibuka secara serentak</a:t>
              </a:r>
            </a:p>
          </p:txBody>
        </p:sp>
      </p:grpSp>
      <p:grpSp>
        <p:nvGrpSpPr>
          <p:cNvPr id="78" name="Group 78"/>
          <p:cNvGrpSpPr/>
          <p:nvPr/>
        </p:nvGrpSpPr>
        <p:grpSpPr>
          <a:xfrm>
            <a:off x="8895302" y="5226034"/>
            <a:ext cx="2359152" cy="1165860"/>
            <a:chOff x="0" y="0"/>
            <a:chExt cx="3145536" cy="1554480"/>
          </a:xfrm>
        </p:grpSpPr>
        <p:sp>
          <p:nvSpPr>
            <p:cNvPr id="79" name="Freeform 79"/>
            <p:cNvSpPr/>
            <p:nvPr/>
          </p:nvSpPr>
          <p:spPr>
            <a:xfrm>
              <a:off x="0" y="0"/>
              <a:ext cx="3145536" cy="1554480"/>
            </a:xfrm>
            <a:custGeom>
              <a:avLst/>
              <a:gdLst/>
              <a:ahLst/>
              <a:cxnLst/>
              <a:rect l="l" t="t" r="r" b="b"/>
              <a:pathLst>
                <a:path w="3145536" h="1554480">
                  <a:moveTo>
                    <a:pt x="0" y="0"/>
                  </a:moveTo>
                  <a:lnTo>
                    <a:pt x="3145536" y="0"/>
                  </a:lnTo>
                  <a:lnTo>
                    <a:pt x="3145536" y="1554480"/>
                  </a:lnTo>
                  <a:lnTo>
                    <a:pt x="0" y="1554480"/>
                  </a:lnTo>
                  <a:close/>
                </a:path>
              </a:pathLst>
            </a:custGeom>
            <a:blipFill>
              <a:blip r:embed="rId4">
                <a:alphaModFix amt="0"/>
              </a:blip>
              <a:stretch>
                <a:fillRect l="-13405" r="-13405"/>
              </a:stretch>
            </a:blipFill>
          </p:spPr>
        </p:sp>
        <p:sp>
          <p:nvSpPr>
            <p:cNvPr id="80" name="TextBox 80"/>
            <p:cNvSpPr txBox="1"/>
            <p:nvPr/>
          </p:nvSpPr>
          <p:spPr>
            <a:xfrm>
              <a:off x="0" y="-38100"/>
              <a:ext cx="3145536" cy="1592580"/>
            </a:xfrm>
            <a:prstGeom prst="rect">
              <a:avLst/>
            </a:prstGeom>
          </p:spPr>
          <p:txBody>
            <a:bodyPr lIns="0" tIns="0" rIns="0" bIns="0" rtlCol="0" anchor="t"/>
            <a:lstStyle/>
            <a:p>
              <a:pPr algn="ctr">
                <a:lnSpc>
                  <a:spcPts val="2160"/>
                </a:lnSpc>
              </a:pPr>
              <a:r>
                <a:rPr lang="en-US" sz="1800">
                  <a:solidFill>
                    <a:srgbClr val="FFFFFF"/>
                  </a:solidFill>
                  <a:latin typeface="Calibri (MS)"/>
                  <a:ea typeface="Calibri (MS)"/>
                  <a:cs typeface="Calibri (MS)"/>
                  <a:sym typeface="Calibri (MS)"/>
                </a:rPr>
                <a:t>Live Data Sprint (5 jam)</a:t>
              </a:r>
            </a:p>
          </p:txBody>
        </p:sp>
      </p:grpSp>
      <p:grpSp>
        <p:nvGrpSpPr>
          <p:cNvPr id="81" name="Group 81"/>
          <p:cNvGrpSpPr/>
          <p:nvPr/>
        </p:nvGrpSpPr>
        <p:grpSpPr>
          <a:xfrm>
            <a:off x="11480578" y="5226034"/>
            <a:ext cx="2359152" cy="1165860"/>
            <a:chOff x="0" y="0"/>
            <a:chExt cx="3145536" cy="1554480"/>
          </a:xfrm>
        </p:grpSpPr>
        <p:sp>
          <p:nvSpPr>
            <p:cNvPr id="82" name="Freeform 82"/>
            <p:cNvSpPr/>
            <p:nvPr/>
          </p:nvSpPr>
          <p:spPr>
            <a:xfrm>
              <a:off x="0" y="0"/>
              <a:ext cx="3145536" cy="1554480"/>
            </a:xfrm>
            <a:custGeom>
              <a:avLst/>
              <a:gdLst/>
              <a:ahLst/>
              <a:cxnLst/>
              <a:rect l="l" t="t" r="r" b="b"/>
              <a:pathLst>
                <a:path w="3145536" h="1554480">
                  <a:moveTo>
                    <a:pt x="0" y="0"/>
                  </a:moveTo>
                  <a:lnTo>
                    <a:pt x="3145536" y="0"/>
                  </a:lnTo>
                  <a:lnTo>
                    <a:pt x="3145536" y="1554480"/>
                  </a:lnTo>
                  <a:lnTo>
                    <a:pt x="0" y="1554480"/>
                  </a:lnTo>
                  <a:close/>
                </a:path>
              </a:pathLst>
            </a:custGeom>
            <a:blipFill>
              <a:blip r:embed="rId4">
                <a:alphaModFix amt="0"/>
              </a:blip>
              <a:stretch>
                <a:fillRect l="-13405" r="-13405"/>
              </a:stretch>
            </a:blipFill>
          </p:spPr>
        </p:sp>
        <p:sp>
          <p:nvSpPr>
            <p:cNvPr id="83" name="TextBox 83"/>
            <p:cNvSpPr txBox="1"/>
            <p:nvPr/>
          </p:nvSpPr>
          <p:spPr>
            <a:xfrm>
              <a:off x="0" y="-38100"/>
              <a:ext cx="3145536" cy="1592580"/>
            </a:xfrm>
            <a:prstGeom prst="rect">
              <a:avLst/>
            </a:prstGeom>
          </p:spPr>
          <p:txBody>
            <a:bodyPr lIns="0" tIns="0" rIns="0" bIns="0" rtlCol="0" anchor="t"/>
            <a:lstStyle/>
            <a:p>
              <a:pPr algn="ctr">
                <a:lnSpc>
                  <a:spcPts val="2160"/>
                </a:lnSpc>
              </a:pPr>
              <a:r>
                <a:rPr lang="en-US" sz="1800">
                  <a:solidFill>
                    <a:srgbClr val="FFFFFF"/>
                  </a:solidFill>
                  <a:latin typeface="Calibri (MS)"/>
                  <a:ea typeface="Calibri (MS)"/>
                  <a:cs typeface="Calibri (MS)"/>
                  <a:sym typeface="Calibri (MS)"/>
                </a:rPr>
                <a:t>Batas waktu pengumpulan karya (Pdf dan PNG)</a:t>
              </a:r>
            </a:p>
          </p:txBody>
        </p:sp>
      </p:grpSp>
      <p:grpSp>
        <p:nvGrpSpPr>
          <p:cNvPr id="84" name="Group 84"/>
          <p:cNvGrpSpPr/>
          <p:nvPr/>
        </p:nvGrpSpPr>
        <p:grpSpPr>
          <a:xfrm>
            <a:off x="14065853" y="5245322"/>
            <a:ext cx="2359152" cy="1165860"/>
            <a:chOff x="0" y="0"/>
            <a:chExt cx="3145536" cy="1554480"/>
          </a:xfrm>
        </p:grpSpPr>
        <p:sp>
          <p:nvSpPr>
            <p:cNvPr id="85" name="Freeform 85"/>
            <p:cNvSpPr/>
            <p:nvPr/>
          </p:nvSpPr>
          <p:spPr>
            <a:xfrm>
              <a:off x="0" y="0"/>
              <a:ext cx="3145536" cy="1554480"/>
            </a:xfrm>
            <a:custGeom>
              <a:avLst/>
              <a:gdLst/>
              <a:ahLst/>
              <a:cxnLst/>
              <a:rect l="l" t="t" r="r" b="b"/>
              <a:pathLst>
                <a:path w="3145536" h="1554480">
                  <a:moveTo>
                    <a:pt x="0" y="0"/>
                  </a:moveTo>
                  <a:lnTo>
                    <a:pt x="3145536" y="0"/>
                  </a:lnTo>
                  <a:lnTo>
                    <a:pt x="3145536" y="1554480"/>
                  </a:lnTo>
                  <a:lnTo>
                    <a:pt x="0" y="1554480"/>
                  </a:lnTo>
                  <a:close/>
                </a:path>
              </a:pathLst>
            </a:custGeom>
            <a:blipFill>
              <a:blip r:embed="rId4">
                <a:alphaModFix amt="0"/>
              </a:blip>
              <a:stretch>
                <a:fillRect l="-13405" r="-13405"/>
              </a:stretch>
            </a:blipFill>
          </p:spPr>
        </p:sp>
        <p:sp>
          <p:nvSpPr>
            <p:cNvPr id="86" name="TextBox 86"/>
            <p:cNvSpPr txBox="1"/>
            <p:nvPr/>
          </p:nvSpPr>
          <p:spPr>
            <a:xfrm>
              <a:off x="0" y="-38100"/>
              <a:ext cx="3145536" cy="1592580"/>
            </a:xfrm>
            <a:prstGeom prst="rect">
              <a:avLst/>
            </a:prstGeom>
          </p:spPr>
          <p:txBody>
            <a:bodyPr lIns="0" tIns="0" rIns="0" bIns="0" rtlCol="0" anchor="t"/>
            <a:lstStyle/>
            <a:p>
              <a:pPr algn="ctr">
                <a:lnSpc>
                  <a:spcPts val="2160"/>
                </a:lnSpc>
              </a:pPr>
              <a:r>
                <a:rPr lang="en-US" sz="1800">
                  <a:solidFill>
                    <a:srgbClr val="FFFFFF"/>
                  </a:solidFill>
                  <a:latin typeface="Calibri (MS)"/>
                  <a:ea typeface="Calibri (MS)"/>
                  <a:cs typeface="Calibri (MS)"/>
                  <a:sym typeface="Calibri (MS)"/>
                </a:rPr>
                <a:t>Awarding</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60120" y="576072"/>
            <a:ext cx="16322040" cy="384048"/>
            <a:chOff x="0" y="0"/>
            <a:chExt cx="21762720" cy="512064"/>
          </a:xfrm>
        </p:grpSpPr>
        <p:sp>
          <p:nvSpPr>
            <p:cNvPr id="4" name="Freeform 4"/>
            <p:cNvSpPr/>
            <p:nvPr/>
          </p:nvSpPr>
          <p:spPr>
            <a:xfrm>
              <a:off x="0" y="0"/>
              <a:ext cx="21762720" cy="512064"/>
            </a:xfrm>
            <a:custGeom>
              <a:avLst/>
              <a:gdLst/>
              <a:ahLst/>
              <a:cxnLst/>
              <a:rect l="l" t="t" r="r" b="b"/>
              <a:pathLst>
                <a:path w="21762720" h="512064">
                  <a:moveTo>
                    <a:pt x="0" y="0"/>
                  </a:moveTo>
                  <a:lnTo>
                    <a:pt x="21762720" y="0"/>
                  </a:lnTo>
                  <a:lnTo>
                    <a:pt x="21762720" y="512064"/>
                  </a:lnTo>
                  <a:lnTo>
                    <a:pt x="0" y="512064"/>
                  </a:lnTo>
                  <a:close/>
                </a:path>
              </a:pathLst>
            </a:custGeom>
            <a:blipFill>
              <a:blip r:embed="rId4">
                <a:alphaModFix amt="0"/>
              </a:blip>
              <a:stretch>
                <a:fillRect t="-778114" b="-778114"/>
              </a:stretch>
            </a:blipFill>
          </p:spPr>
        </p:sp>
        <p:sp>
          <p:nvSpPr>
            <p:cNvPr id="5" name="TextBox 5"/>
            <p:cNvSpPr txBox="1"/>
            <p:nvPr/>
          </p:nvSpPr>
          <p:spPr>
            <a:xfrm>
              <a:off x="0" y="-9525"/>
              <a:ext cx="21762720" cy="521589"/>
            </a:xfrm>
            <a:prstGeom prst="rect">
              <a:avLst/>
            </a:prstGeom>
          </p:spPr>
          <p:txBody>
            <a:bodyPr lIns="0" tIns="0" rIns="0" bIns="0" rtlCol="0" anchor="ctr"/>
            <a:lstStyle/>
            <a:p>
              <a:pPr algn="l">
                <a:lnSpc>
                  <a:spcPts val="1889"/>
                </a:lnSpc>
              </a:pPr>
              <a:r>
                <a:rPr lang="en-US" sz="1575" b="1" spc="330">
                  <a:solidFill>
                    <a:srgbClr val="E9A944"/>
                  </a:solidFill>
                  <a:latin typeface="Arial Bold"/>
                  <a:ea typeface="Arial Bold"/>
                  <a:cs typeface="Arial Bold"/>
                  <a:sym typeface="Arial Bold"/>
                </a:rPr>
                <a:t>BAGIAN 02</a:t>
              </a:r>
            </a:p>
          </p:txBody>
        </p:sp>
      </p:grpSp>
      <p:grpSp>
        <p:nvGrpSpPr>
          <p:cNvPr id="6" name="Group 6"/>
          <p:cNvGrpSpPr/>
          <p:nvPr/>
        </p:nvGrpSpPr>
        <p:grpSpPr>
          <a:xfrm>
            <a:off x="960120" y="987552"/>
            <a:ext cx="16322040" cy="932762"/>
            <a:chOff x="0" y="0"/>
            <a:chExt cx="21762720" cy="1243682"/>
          </a:xfrm>
        </p:grpSpPr>
        <p:sp>
          <p:nvSpPr>
            <p:cNvPr id="7" name="Freeform 7"/>
            <p:cNvSpPr/>
            <p:nvPr/>
          </p:nvSpPr>
          <p:spPr>
            <a:xfrm>
              <a:off x="0" y="0"/>
              <a:ext cx="21762720" cy="1243682"/>
            </a:xfrm>
            <a:custGeom>
              <a:avLst/>
              <a:gdLst/>
              <a:ahLst/>
              <a:cxnLst/>
              <a:rect l="l" t="t" r="r" b="b"/>
              <a:pathLst>
                <a:path w="21762720" h="1243682">
                  <a:moveTo>
                    <a:pt x="0" y="0"/>
                  </a:moveTo>
                  <a:lnTo>
                    <a:pt x="21762720" y="0"/>
                  </a:lnTo>
                  <a:lnTo>
                    <a:pt x="21762720" y="1243682"/>
                  </a:lnTo>
                  <a:lnTo>
                    <a:pt x="0" y="1243682"/>
                  </a:lnTo>
                  <a:close/>
                </a:path>
              </a:pathLst>
            </a:custGeom>
            <a:blipFill>
              <a:blip r:embed="rId4">
                <a:alphaModFix amt="0"/>
              </a:blip>
              <a:stretch>
                <a:fillRect t="-295376" b="-286545"/>
              </a:stretch>
            </a:blipFill>
          </p:spPr>
        </p:sp>
        <p:sp>
          <p:nvSpPr>
            <p:cNvPr id="8" name="TextBox 8"/>
            <p:cNvSpPr txBox="1"/>
            <p:nvPr/>
          </p:nvSpPr>
          <p:spPr>
            <a:xfrm>
              <a:off x="0" y="-28575"/>
              <a:ext cx="21762720" cy="1272257"/>
            </a:xfrm>
            <a:prstGeom prst="rect">
              <a:avLst/>
            </a:prstGeom>
          </p:spPr>
          <p:txBody>
            <a:bodyPr lIns="0" tIns="0" rIns="0" bIns="0" rtlCol="0" anchor="ctr"/>
            <a:lstStyle/>
            <a:p>
              <a:pPr algn="l">
                <a:lnSpc>
                  <a:spcPts val="5400"/>
                </a:lnSpc>
              </a:pPr>
              <a:r>
                <a:rPr lang="en-US" sz="4500" b="1" spc="59">
                  <a:solidFill>
                    <a:srgbClr val="FFFFFF"/>
                  </a:solidFill>
                  <a:latin typeface="Arial Bold"/>
                  <a:ea typeface="Arial Bold"/>
                  <a:cs typeface="Arial Bold"/>
                  <a:sym typeface="Arial Bold"/>
                </a:rPr>
                <a:t>Brief Babak Final</a:t>
              </a:r>
            </a:p>
          </p:txBody>
        </p:sp>
      </p:grpSp>
      <p:grpSp>
        <p:nvGrpSpPr>
          <p:cNvPr id="9" name="Group 9"/>
          <p:cNvGrpSpPr/>
          <p:nvPr/>
        </p:nvGrpSpPr>
        <p:grpSpPr>
          <a:xfrm>
            <a:off x="960120" y="9491472"/>
            <a:ext cx="13990320" cy="384048"/>
            <a:chOff x="0" y="0"/>
            <a:chExt cx="18653760" cy="512064"/>
          </a:xfrm>
        </p:grpSpPr>
        <p:sp>
          <p:nvSpPr>
            <p:cNvPr id="10" name="Freeform 10"/>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4">
                <a:alphaModFix amt="0"/>
              </a:blip>
              <a:stretch>
                <a:fillRect t="-659812" b="-659812"/>
              </a:stretch>
            </a:blipFill>
          </p:spPr>
        </p:sp>
        <p:sp>
          <p:nvSpPr>
            <p:cNvPr id="11" name="TextBox 11"/>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grpSp>
        <p:nvGrpSpPr>
          <p:cNvPr id="12" name="Group 12"/>
          <p:cNvGrpSpPr/>
          <p:nvPr/>
        </p:nvGrpSpPr>
        <p:grpSpPr>
          <a:xfrm>
            <a:off x="16322040" y="9464040"/>
            <a:ext cx="1001268" cy="411480"/>
            <a:chOff x="0" y="0"/>
            <a:chExt cx="1335024" cy="548640"/>
          </a:xfrm>
        </p:grpSpPr>
        <p:sp>
          <p:nvSpPr>
            <p:cNvPr id="13" name="Freeform 13"/>
            <p:cNvSpPr/>
            <p:nvPr/>
          </p:nvSpPr>
          <p:spPr>
            <a:xfrm>
              <a:off x="0" y="0"/>
              <a:ext cx="1335024" cy="548640"/>
            </a:xfrm>
            <a:custGeom>
              <a:avLst/>
              <a:gdLst/>
              <a:ahLst/>
              <a:cxnLst/>
              <a:rect l="l" t="t" r="r" b="b"/>
              <a:pathLst>
                <a:path w="1335024" h="548640">
                  <a:moveTo>
                    <a:pt x="0" y="0"/>
                  </a:moveTo>
                  <a:lnTo>
                    <a:pt x="1335024" y="0"/>
                  </a:lnTo>
                  <a:lnTo>
                    <a:pt x="1335024" y="548640"/>
                  </a:lnTo>
                  <a:lnTo>
                    <a:pt x="0" y="548640"/>
                  </a:lnTo>
                  <a:close/>
                </a:path>
              </a:pathLst>
            </a:custGeom>
            <a:blipFill>
              <a:blip r:embed="rId4">
                <a:alphaModFix amt="0"/>
              </a:blip>
              <a:stretch>
                <a:fillRect l="-2727" r="-2727"/>
              </a:stretch>
            </a:blipFill>
          </p:spPr>
        </p:sp>
        <p:sp>
          <p:nvSpPr>
            <p:cNvPr id="14" name="TextBox 14"/>
            <p:cNvSpPr txBox="1"/>
            <p:nvPr/>
          </p:nvSpPr>
          <p:spPr>
            <a:xfrm>
              <a:off x="0" y="-9525"/>
              <a:ext cx="1335024" cy="558165"/>
            </a:xfrm>
            <a:prstGeom prst="rect">
              <a:avLst/>
            </a:prstGeom>
          </p:spPr>
          <p:txBody>
            <a:bodyPr lIns="0" tIns="0" rIns="0" bIns="0" rtlCol="0" anchor="ctr"/>
            <a:lstStyle/>
            <a:p>
              <a:pPr algn="r">
                <a:lnSpc>
                  <a:spcPts val="1980"/>
                </a:lnSpc>
              </a:pPr>
              <a:r>
                <a:rPr lang="en-US" sz="1650" b="1">
                  <a:solidFill>
                    <a:srgbClr val="8A6420"/>
                  </a:solidFill>
                  <a:latin typeface="Courier New Bold"/>
                  <a:ea typeface="Courier New Bold"/>
                  <a:cs typeface="Courier New Bold"/>
                  <a:sym typeface="Courier New Bold"/>
                </a:rPr>
                <a:t>04</a:t>
              </a:r>
            </a:p>
          </p:txBody>
        </p:sp>
      </p:grpSp>
      <p:grpSp>
        <p:nvGrpSpPr>
          <p:cNvPr id="15" name="Group 15"/>
          <p:cNvGrpSpPr/>
          <p:nvPr/>
        </p:nvGrpSpPr>
        <p:grpSpPr>
          <a:xfrm>
            <a:off x="950595" y="2349627"/>
            <a:ext cx="16382238" cy="2899410"/>
            <a:chOff x="0" y="0"/>
            <a:chExt cx="21842984" cy="3865880"/>
          </a:xfrm>
        </p:grpSpPr>
        <p:sp>
          <p:nvSpPr>
            <p:cNvPr id="16" name="Freeform 16"/>
            <p:cNvSpPr/>
            <p:nvPr/>
          </p:nvSpPr>
          <p:spPr>
            <a:xfrm>
              <a:off x="0" y="0"/>
              <a:ext cx="21842983" cy="3865880"/>
            </a:xfrm>
            <a:custGeom>
              <a:avLst/>
              <a:gdLst/>
              <a:ahLst/>
              <a:cxnLst/>
              <a:rect l="l" t="t" r="r" b="b"/>
              <a:pathLst>
                <a:path w="21842983" h="3865880">
                  <a:moveTo>
                    <a:pt x="0" y="110490"/>
                  </a:moveTo>
                  <a:cubicBezTo>
                    <a:pt x="0" y="49403"/>
                    <a:pt x="49403" y="0"/>
                    <a:pt x="110490" y="0"/>
                  </a:cubicBezTo>
                  <a:lnTo>
                    <a:pt x="21732494" y="0"/>
                  </a:lnTo>
                  <a:cubicBezTo>
                    <a:pt x="21793454" y="0"/>
                    <a:pt x="21842983" y="49403"/>
                    <a:pt x="21842983" y="110490"/>
                  </a:cubicBezTo>
                  <a:lnTo>
                    <a:pt x="21842983" y="3755390"/>
                  </a:lnTo>
                  <a:cubicBezTo>
                    <a:pt x="21842983" y="3816350"/>
                    <a:pt x="21793581" y="3865880"/>
                    <a:pt x="21732494" y="3865880"/>
                  </a:cubicBezTo>
                  <a:lnTo>
                    <a:pt x="110490" y="3865880"/>
                  </a:lnTo>
                  <a:cubicBezTo>
                    <a:pt x="49530" y="3865880"/>
                    <a:pt x="0" y="3816477"/>
                    <a:pt x="0" y="3755390"/>
                  </a:cubicBezTo>
                  <a:close/>
                </a:path>
              </a:pathLst>
            </a:custGeom>
            <a:solidFill>
              <a:srgbClr val="1A1206">
                <a:alpha val="20000"/>
              </a:srgbClr>
            </a:solidFill>
            <a:ln w="19050" cap="sq">
              <a:solidFill>
                <a:srgbClr val="8A6420"/>
              </a:solidFill>
              <a:prstDash val="solid"/>
              <a:miter/>
            </a:ln>
          </p:spPr>
        </p:sp>
      </p:grpSp>
      <p:grpSp>
        <p:nvGrpSpPr>
          <p:cNvPr id="17" name="Group 17"/>
          <p:cNvGrpSpPr/>
          <p:nvPr/>
        </p:nvGrpSpPr>
        <p:grpSpPr>
          <a:xfrm>
            <a:off x="1440180" y="2743200"/>
            <a:ext cx="11384280" cy="384048"/>
            <a:chOff x="0" y="0"/>
            <a:chExt cx="15179040" cy="512064"/>
          </a:xfrm>
        </p:grpSpPr>
        <p:sp>
          <p:nvSpPr>
            <p:cNvPr id="18" name="Freeform 18"/>
            <p:cNvSpPr/>
            <p:nvPr/>
          </p:nvSpPr>
          <p:spPr>
            <a:xfrm>
              <a:off x="0" y="0"/>
              <a:ext cx="15179039" cy="512064"/>
            </a:xfrm>
            <a:custGeom>
              <a:avLst/>
              <a:gdLst/>
              <a:ahLst/>
              <a:cxnLst/>
              <a:rect l="l" t="t" r="r" b="b"/>
              <a:pathLst>
                <a:path w="15179039" h="512064">
                  <a:moveTo>
                    <a:pt x="0" y="0"/>
                  </a:moveTo>
                  <a:lnTo>
                    <a:pt x="15179039" y="0"/>
                  </a:lnTo>
                  <a:lnTo>
                    <a:pt x="15179039" y="512064"/>
                  </a:lnTo>
                  <a:lnTo>
                    <a:pt x="0" y="512064"/>
                  </a:lnTo>
                  <a:close/>
                </a:path>
              </a:pathLst>
            </a:custGeom>
            <a:blipFill>
              <a:blip r:embed="rId4">
                <a:alphaModFix amt="0"/>
              </a:blip>
              <a:stretch>
                <a:fillRect t="-527592" b="-527592"/>
              </a:stretch>
            </a:blipFill>
          </p:spPr>
        </p:sp>
        <p:sp>
          <p:nvSpPr>
            <p:cNvPr id="19" name="TextBox 19"/>
            <p:cNvSpPr txBox="1"/>
            <p:nvPr/>
          </p:nvSpPr>
          <p:spPr>
            <a:xfrm>
              <a:off x="0" y="-19050"/>
              <a:ext cx="15179040" cy="531114"/>
            </a:xfrm>
            <a:prstGeom prst="rect">
              <a:avLst/>
            </a:prstGeom>
          </p:spPr>
          <p:txBody>
            <a:bodyPr lIns="0" tIns="0" rIns="0" bIns="0" rtlCol="0" anchor="ctr"/>
            <a:lstStyle/>
            <a:p>
              <a:pPr algn="l">
                <a:lnSpc>
                  <a:spcPts val="1800"/>
                </a:lnSpc>
              </a:pPr>
              <a:r>
                <a:rPr lang="en-US" sz="1500" b="1" spc="240">
                  <a:solidFill>
                    <a:srgbClr val="E9A944"/>
                  </a:solidFill>
                  <a:latin typeface="Arial Bold"/>
                  <a:ea typeface="Arial Bold"/>
                  <a:cs typeface="Arial Bold"/>
                  <a:sym typeface="Arial Bold"/>
                </a:rPr>
                <a:t>TUGAS PESERTA</a:t>
              </a:r>
            </a:p>
          </p:txBody>
        </p:sp>
      </p:grpSp>
      <p:grpSp>
        <p:nvGrpSpPr>
          <p:cNvPr id="20" name="Group 20"/>
          <p:cNvGrpSpPr/>
          <p:nvPr/>
        </p:nvGrpSpPr>
        <p:grpSpPr>
          <a:xfrm>
            <a:off x="1440180" y="3223260"/>
            <a:ext cx="11795760" cy="754380"/>
            <a:chOff x="0" y="0"/>
            <a:chExt cx="15727680" cy="1005840"/>
          </a:xfrm>
        </p:grpSpPr>
        <p:sp>
          <p:nvSpPr>
            <p:cNvPr id="21" name="Freeform 21"/>
            <p:cNvSpPr/>
            <p:nvPr/>
          </p:nvSpPr>
          <p:spPr>
            <a:xfrm>
              <a:off x="0" y="0"/>
              <a:ext cx="15727680" cy="1005840"/>
            </a:xfrm>
            <a:custGeom>
              <a:avLst/>
              <a:gdLst/>
              <a:ahLst/>
              <a:cxnLst/>
              <a:rect l="l" t="t" r="r" b="b"/>
              <a:pathLst>
                <a:path w="15727680" h="1005840">
                  <a:moveTo>
                    <a:pt x="0" y="0"/>
                  </a:moveTo>
                  <a:lnTo>
                    <a:pt x="15727680" y="0"/>
                  </a:lnTo>
                  <a:lnTo>
                    <a:pt x="15727680" y="1005840"/>
                  </a:lnTo>
                  <a:lnTo>
                    <a:pt x="0" y="1005840"/>
                  </a:lnTo>
                  <a:close/>
                </a:path>
              </a:pathLst>
            </a:custGeom>
            <a:blipFill>
              <a:blip r:embed="rId4">
                <a:alphaModFix amt="0"/>
              </a:blip>
              <a:stretch>
                <a:fillRect t="-254675" b="-254675"/>
              </a:stretch>
            </a:blipFill>
          </p:spPr>
        </p:sp>
        <p:sp>
          <p:nvSpPr>
            <p:cNvPr id="22" name="TextBox 22"/>
            <p:cNvSpPr txBox="1"/>
            <p:nvPr/>
          </p:nvSpPr>
          <p:spPr>
            <a:xfrm>
              <a:off x="0" y="-19050"/>
              <a:ext cx="15727680" cy="1024890"/>
            </a:xfrm>
            <a:prstGeom prst="rect">
              <a:avLst/>
            </a:prstGeom>
          </p:spPr>
          <p:txBody>
            <a:bodyPr lIns="0" tIns="0" rIns="0" bIns="0" rtlCol="0" anchor="ctr"/>
            <a:lstStyle/>
            <a:p>
              <a:pPr algn="l">
                <a:lnSpc>
                  <a:spcPts val="4140"/>
                </a:lnSpc>
              </a:pPr>
              <a:r>
                <a:rPr lang="en-US" sz="3450" b="1">
                  <a:solidFill>
                    <a:srgbClr val="FFFFFF"/>
                  </a:solidFill>
                  <a:latin typeface="Arial Bold"/>
                  <a:ea typeface="Arial Bold"/>
                  <a:cs typeface="Arial Bold"/>
                  <a:sym typeface="Arial Bold"/>
                </a:rPr>
                <a:t>Menyusun </a:t>
              </a:r>
              <a:r>
                <a:rPr lang="en-US" sz="3450" b="1">
                  <a:solidFill>
                    <a:srgbClr val="E9A944"/>
                  </a:solidFill>
                  <a:latin typeface="Arial Bold"/>
                  <a:ea typeface="Arial Bold"/>
                  <a:cs typeface="Arial Bold"/>
                  <a:sym typeface="Arial Bold"/>
                </a:rPr>
                <a:t>1 infografis statis</a:t>
              </a:r>
              <a:r>
                <a:rPr lang="en-US" sz="3450" b="1">
                  <a:solidFill>
                    <a:srgbClr val="FFFFFF"/>
                  </a:solidFill>
                  <a:latin typeface="Arial Bold"/>
                  <a:ea typeface="Arial Bold"/>
                  <a:cs typeface="Arial Bold"/>
                  <a:sym typeface="Arial Bold"/>
                </a:rPr>
                <a:t> dari dataset resmi</a:t>
              </a:r>
            </a:p>
          </p:txBody>
        </p:sp>
      </p:grpSp>
      <p:grpSp>
        <p:nvGrpSpPr>
          <p:cNvPr id="23" name="Group 23"/>
          <p:cNvGrpSpPr/>
          <p:nvPr/>
        </p:nvGrpSpPr>
        <p:grpSpPr>
          <a:xfrm>
            <a:off x="1440180" y="4087368"/>
            <a:ext cx="11658600" cy="822960"/>
            <a:chOff x="0" y="0"/>
            <a:chExt cx="15544800" cy="1097280"/>
          </a:xfrm>
        </p:grpSpPr>
        <p:sp>
          <p:nvSpPr>
            <p:cNvPr id="24" name="Freeform 24"/>
            <p:cNvSpPr/>
            <p:nvPr/>
          </p:nvSpPr>
          <p:spPr>
            <a:xfrm>
              <a:off x="0" y="0"/>
              <a:ext cx="15544800" cy="1097280"/>
            </a:xfrm>
            <a:custGeom>
              <a:avLst/>
              <a:gdLst/>
              <a:ahLst/>
              <a:cxnLst/>
              <a:rect l="l" t="t" r="r" b="b"/>
              <a:pathLst>
                <a:path w="15544800" h="1097280">
                  <a:moveTo>
                    <a:pt x="0" y="0"/>
                  </a:moveTo>
                  <a:lnTo>
                    <a:pt x="15544800" y="0"/>
                  </a:lnTo>
                  <a:lnTo>
                    <a:pt x="15544800" y="1097280"/>
                  </a:lnTo>
                  <a:lnTo>
                    <a:pt x="0" y="1097280"/>
                  </a:lnTo>
                  <a:close/>
                </a:path>
              </a:pathLst>
            </a:custGeom>
            <a:blipFill>
              <a:blip r:embed="rId4">
                <a:alphaModFix amt="0"/>
              </a:blip>
              <a:stretch>
                <a:fillRect t="-226038" b="-226038"/>
              </a:stretch>
            </a:blipFill>
          </p:spPr>
        </p:sp>
        <p:sp>
          <p:nvSpPr>
            <p:cNvPr id="25" name="TextBox 25"/>
            <p:cNvSpPr txBox="1"/>
            <p:nvPr/>
          </p:nvSpPr>
          <p:spPr>
            <a:xfrm>
              <a:off x="0" y="-47625"/>
              <a:ext cx="15544800" cy="1144905"/>
            </a:xfrm>
            <a:prstGeom prst="rect">
              <a:avLst/>
            </a:prstGeom>
          </p:spPr>
          <p:txBody>
            <a:bodyPr lIns="0" tIns="0" rIns="0" bIns="0" rtlCol="0" anchor="ctr"/>
            <a:lstStyle/>
            <a:p>
              <a:pPr algn="l">
                <a:lnSpc>
                  <a:spcPts val="2340"/>
                </a:lnSpc>
              </a:pPr>
              <a:r>
                <a:rPr lang="en-US" sz="1950">
                  <a:solidFill>
                    <a:srgbClr val="9FB0CE"/>
                  </a:solidFill>
                  <a:latin typeface="Calibri (MS)"/>
                  <a:ea typeface="Calibri (MS)"/>
                  <a:cs typeface="Calibri (MS)"/>
                  <a:sym typeface="Calibri (MS)"/>
                </a:rPr>
                <a:t>Seluruh angka, temuan, dan narasi dalam karya harus dapat ditelusuri ke dataset yang dirilis panitia pada 28 Oktober 2026.</a:t>
              </a:r>
            </a:p>
          </p:txBody>
        </p:sp>
      </p:grpSp>
      <p:grpSp>
        <p:nvGrpSpPr>
          <p:cNvPr id="26" name="Group 26"/>
          <p:cNvGrpSpPr/>
          <p:nvPr/>
        </p:nvGrpSpPr>
        <p:grpSpPr>
          <a:xfrm>
            <a:off x="13500735" y="2802255"/>
            <a:ext cx="35509" cy="2007870"/>
            <a:chOff x="0" y="0"/>
            <a:chExt cx="47346" cy="2677160"/>
          </a:xfrm>
        </p:grpSpPr>
        <p:sp>
          <p:nvSpPr>
            <p:cNvPr id="27" name="Freeform 27"/>
            <p:cNvSpPr/>
            <p:nvPr/>
          </p:nvSpPr>
          <p:spPr>
            <a:xfrm>
              <a:off x="0" y="0"/>
              <a:ext cx="47371" cy="2677160"/>
            </a:xfrm>
            <a:custGeom>
              <a:avLst/>
              <a:gdLst/>
              <a:ahLst/>
              <a:cxnLst/>
              <a:rect l="l" t="t" r="r" b="b"/>
              <a:pathLst>
                <a:path w="47371" h="2677160">
                  <a:moveTo>
                    <a:pt x="0" y="0"/>
                  </a:moveTo>
                  <a:lnTo>
                    <a:pt x="47371" y="0"/>
                  </a:lnTo>
                  <a:lnTo>
                    <a:pt x="47371" y="2677160"/>
                  </a:lnTo>
                  <a:lnTo>
                    <a:pt x="0" y="2677160"/>
                  </a:lnTo>
                  <a:close/>
                </a:path>
              </a:pathLst>
            </a:custGeom>
            <a:solidFill>
              <a:srgbClr val="8A6420"/>
            </a:solidFill>
            <a:ln w="19050" cap="sq">
              <a:solidFill>
                <a:srgbClr val="333333"/>
              </a:solidFill>
              <a:prstDash val="solid"/>
              <a:miter/>
            </a:ln>
          </p:spPr>
        </p:sp>
      </p:grpSp>
      <p:grpSp>
        <p:nvGrpSpPr>
          <p:cNvPr id="28" name="Group 28"/>
          <p:cNvGrpSpPr/>
          <p:nvPr/>
        </p:nvGrpSpPr>
        <p:grpSpPr>
          <a:xfrm>
            <a:off x="13990320" y="2811780"/>
            <a:ext cx="3017520" cy="384048"/>
            <a:chOff x="0" y="0"/>
            <a:chExt cx="4023360" cy="512064"/>
          </a:xfrm>
        </p:grpSpPr>
        <p:sp>
          <p:nvSpPr>
            <p:cNvPr id="29" name="Freeform 29"/>
            <p:cNvSpPr/>
            <p:nvPr/>
          </p:nvSpPr>
          <p:spPr>
            <a:xfrm>
              <a:off x="0" y="0"/>
              <a:ext cx="4023360" cy="512064"/>
            </a:xfrm>
            <a:custGeom>
              <a:avLst/>
              <a:gdLst/>
              <a:ahLst/>
              <a:cxnLst/>
              <a:rect l="l" t="t" r="r" b="b"/>
              <a:pathLst>
                <a:path w="4023360" h="512064">
                  <a:moveTo>
                    <a:pt x="0" y="0"/>
                  </a:moveTo>
                  <a:lnTo>
                    <a:pt x="4023360" y="0"/>
                  </a:lnTo>
                  <a:lnTo>
                    <a:pt x="4023360" y="512064"/>
                  </a:lnTo>
                  <a:lnTo>
                    <a:pt x="0" y="512064"/>
                  </a:lnTo>
                  <a:close/>
                </a:path>
              </a:pathLst>
            </a:custGeom>
            <a:blipFill>
              <a:blip r:embed="rId4">
                <a:alphaModFix amt="0"/>
              </a:blip>
              <a:stretch>
                <a:fillRect t="-103096" b="-103096"/>
              </a:stretch>
            </a:blipFill>
          </p:spPr>
        </p:sp>
        <p:sp>
          <p:nvSpPr>
            <p:cNvPr id="30" name="TextBox 30"/>
            <p:cNvSpPr txBox="1"/>
            <p:nvPr/>
          </p:nvSpPr>
          <p:spPr>
            <a:xfrm>
              <a:off x="0" y="-19050"/>
              <a:ext cx="4023360" cy="531114"/>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KOMPOSISI TIM</a:t>
              </a:r>
            </a:p>
          </p:txBody>
        </p:sp>
      </p:grpSp>
      <p:grpSp>
        <p:nvGrpSpPr>
          <p:cNvPr id="31" name="Group 31"/>
          <p:cNvGrpSpPr/>
          <p:nvPr/>
        </p:nvGrpSpPr>
        <p:grpSpPr>
          <a:xfrm>
            <a:off x="13990320" y="3264408"/>
            <a:ext cx="3017520" cy="822960"/>
            <a:chOff x="0" y="0"/>
            <a:chExt cx="4023360" cy="1097280"/>
          </a:xfrm>
        </p:grpSpPr>
        <p:sp>
          <p:nvSpPr>
            <p:cNvPr id="32" name="Freeform 32"/>
            <p:cNvSpPr/>
            <p:nvPr/>
          </p:nvSpPr>
          <p:spPr>
            <a:xfrm>
              <a:off x="0" y="0"/>
              <a:ext cx="4023360" cy="1097280"/>
            </a:xfrm>
            <a:custGeom>
              <a:avLst/>
              <a:gdLst/>
              <a:ahLst/>
              <a:cxnLst/>
              <a:rect l="l" t="t" r="r" b="b"/>
              <a:pathLst>
                <a:path w="4023360" h="1097280">
                  <a:moveTo>
                    <a:pt x="0" y="0"/>
                  </a:moveTo>
                  <a:lnTo>
                    <a:pt x="4023360" y="0"/>
                  </a:lnTo>
                  <a:lnTo>
                    <a:pt x="4023360" y="1097280"/>
                  </a:lnTo>
                  <a:lnTo>
                    <a:pt x="0" y="1097280"/>
                  </a:lnTo>
                  <a:close/>
                </a:path>
              </a:pathLst>
            </a:custGeom>
            <a:blipFill>
              <a:blip r:embed="rId4">
                <a:alphaModFix amt="0"/>
              </a:blip>
              <a:stretch>
                <a:fillRect t="-21445" b="-21445"/>
              </a:stretch>
            </a:blipFill>
          </p:spPr>
        </p:sp>
        <p:sp>
          <p:nvSpPr>
            <p:cNvPr id="33" name="TextBox 33"/>
            <p:cNvSpPr txBox="1"/>
            <p:nvPr/>
          </p:nvSpPr>
          <p:spPr>
            <a:xfrm>
              <a:off x="0" y="-38100"/>
              <a:ext cx="4023360" cy="1135380"/>
            </a:xfrm>
            <a:prstGeom prst="rect">
              <a:avLst/>
            </a:prstGeom>
          </p:spPr>
          <p:txBody>
            <a:bodyPr lIns="0" tIns="0" rIns="0" bIns="0" rtlCol="0" anchor="ctr"/>
            <a:lstStyle/>
            <a:p>
              <a:pPr algn="l">
                <a:lnSpc>
                  <a:spcPts val="2879"/>
                </a:lnSpc>
              </a:pPr>
              <a:r>
                <a:rPr lang="en-US" sz="2400" b="1">
                  <a:solidFill>
                    <a:srgbClr val="FFFFFF"/>
                  </a:solidFill>
                  <a:latin typeface="Calibri (MS) Bold"/>
                  <a:ea typeface="Calibri (MS) Bold"/>
                  <a:cs typeface="Calibri (MS) Bold"/>
                  <a:sym typeface="Calibri (MS) Bold"/>
                </a:rPr>
                <a:t>3</a:t>
              </a:r>
              <a:r>
                <a:rPr lang="en-US" sz="2400">
                  <a:solidFill>
                    <a:srgbClr val="FFFFFF"/>
                  </a:solidFill>
                  <a:latin typeface="Calibri (MS)"/>
                  <a:ea typeface="Calibri (MS)"/>
                  <a:cs typeface="Calibri (MS)"/>
                  <a:sym typeface="Calibri (MS)"/>
                </a:rPr>
                <a:t>  orang</a:t>
              </a:r>
            </a:p>
          </p:txBody>
        </p:sp>
      </p:grpSp>
      <p:grpSp>
        <p:nvGrpSpPr>
          <p:cNvPr id="34" name="Group 34"/>
          <p:cNvGrpSpPr/>
          <p:nvPr/>
        </p:nvGrpSpPr>
        <p:grpSpPr>
          <a:xfrm>
            <a:off x="13990320" y="4114800"/>
            <a:ext cx="3154680" cy="822960"/>
            <a:chOff x="0" y="0"/>
            <a:chExt cx="4206240" cy="1097280"/>
          </a:xfrm>
        </p:grpSpPr>
        <p:sp>
          <p:nvSpPr>
            <p:cNvPr id="35" name="Freeform 35"/>
            <p:cNvSpPr/>
            <p:nvPr/>
          </p:nvSpPr>
          <p:spPr>
            <a:xfrm>
              <a:off x="0" y="0"/>
              <a:ext cx="4206240" cy="1097280"/>
            </a:xfrm>
            <a:custGeom>
              <a:avLst/>
              <a:gdLst/>
              <a:ahLst/>
              <a:cxnLst/>
              <a:rect l="l" t="t" r="r" b="b"/>
              <a:pathLst>
                <a:path w="4206240" h="1097280">
                  <a:moveTo>
                    <a:pt x="0" y="0"/>
                  </a:moveTo>
                  <a:lnTo>
                    <a:pt x="4206240" y="0"/>
                  </a:lnTo>
                  <a:lnTo>
                    <a:pt x="4206240" y="1097280"/>
                  </a:lnTo>
                  <a:lnTo>
                    <a:pt x="0" y="1097280"/>
                  </a:lnTo>
                  <a:close/>
                </a:path>
              </a:pathLst>
            </a:custGeom>
            <a:blipFill>
              <a:blip r:embed="rId4">
                <a:alphaModFix amt="0"/>
              </a:blip>
              <a:stretch>
                <a:fillRect t="-24692" b="-24692"/>
              </a:stretch>
            </a:blipFill>
          </p:spPr>
        </p:sp>
        <p:sp>
          <p:nvSpPr>
            <p:cNvPr id="36" name="TextBox 36"/>
            <p:cNvSpPr txBox="1"/>
            <p:nvPr/>
          </p:nvSpPr>
          <p:spPr>
            <a:xfrm>
              <a:off x="0" y="-28575"/>
              <a:ext cx="4206240" cy="1125855"/>
            </a:xfrm>
            <a:prstGeom prst="rect">
              <a:avLst/>
            </a:prstGeom>
          </p:spPr>
          <p:txBody>
            <a:bodyPr lIns="0" tIns="0" rIns="0" bIns="0" rtlCol="0" anchor="ctr"/>
            <a:lstStyle/>
            <a:p>
              <a:pPr algn="l">
                <a:lnSpc>
                  <a:spcPts val="1980"/>
                </a:lnSpc>
              </a:pPr>
              <a:r>
                <a:rPr lang="en-US" sz="1650">
                  <a:solidFill>
                    <a:srgbClr val="9FB0CE"/>
                  </a:solidFill>
                  <a:latin typeface="Calibri (MS)"/>
                  <a:ea typeface="Calibri (MS)"/>
                  <a:cs typeface="Calibri (MS)"/>
                  <a:sym typeface="Calibri (MS)"/>
                </a:rPr>
                <a:t>Hanya anggota yang terdaftar yang boleh mengerjakan karya.</a:t>
              </a:r>
            </a:p>
          </p:txBody>
        </p:sp>
      </p:grpSp>
      <p:grpSp>
        <p:nvGrpSpPr>
          <p:cNvPr id="37" name="Group 37"/>
          <p:cNvGrpSpPr/>
          <p:nvPr/>
        </p:nvGrpSpPr>
        <p:grpSpPr>
          <a:xfrm>
            <a:off x="950595" y="5545455"/>
            <a:ext cx="3901414" cy="3379470"/>
            <a:chOff x="0" y="0"/>
            <a:chExt cx="5201885" cy="4505960"/>
          </a:xfrm>
        </p:grpSpPr>
        <p:sp>
          <p:nvSpPr>
            <p:cNvPr id="38" name="Freeform 38"/>
            <p:cNvSpPr/>
            <p:nvPr/>
          </p:nvSpPr>
          <p:spPr>
            <a:xfrm>
              <a:off x="0" y="0"/>
              <a:ext cx="5201885" cy="4505960"/>
            </a:xfrm>
            <a:custGeom>
              <a:avLst/>
              <a:gdLst/>
              <a:ahLst/>
              <a:cxnLst/>
              <a:rect l="l" t="t" r="r" b="b"/>
              <a:pathLst>
                <a:path w="5201885" h="4505960">
                  <a:moveTo>
                    <a:pt x="0" y="110363"/>
                  </a:moveTo>
                  <a:cubicBezTo>
                    <a:pt x="0" y="49403"/>
                    <a:pt x="37335" y="0"/>
                    <a:pt x="83403" y="0"/>
                  </a:cubicBezTo>
                  <a:lnTo>
                    <a:pt x="5118482" y="0"/>
                  </a:lnTo>
                  <a:cubicBezTo>
                    <a:pt x="5164550" y="0"/>
                    <a:pt x="5201885" y="49403"/>
                    <a:pt x="5201885" y="110363"/>
                  </a:cubicBezTo>
                  <a:lnTo>
                    <a:pt x="5201885" y="4395597"/>
                  </a:lnTo>
                  <a:cubicBezTo>
                    <a:pt x="5201885" y="4456557"/>
                    <a:pt x="5164550" y="4505960"/>
                    <a:pt x="5118482" y="4505960"/>
                  </a:cubicBezTo>
                  <a:lnTo>
                    <a:pt x="83403" y="4505960"/>
                  </a:lnTo>
                  <a:cubicBezTo>
                    <a:pt x="37335" y="4505960"/>
                    <a:pt x="0" y="4456557"/>
                    <a:pt x="0" y="4395597"/>
                  </a:cubicBezTo>
                  <a:close/>
                </a:path>
              </a:pathLst>
            </a:custGeom>
            <a:solidFill>
              <a:srgbClr val="0D1632">
                <a:alpha val="77255"/>
              </a:srgbClr>
            </a:solidFill>
            <a:ln w="19050" cap="sq">
              <a:solidFill>
                <a:srgbClr val="24406F"/>
              </a:solidFill>
              <a:prstDash val="solid"/>
              <a:miter/>
            </a:ln>
          </p:spPr>
        </p:sp>
      </p:grpSp>
      <p:grpSp>
        <p:nvGrpSpPr>
          <p:cNvPr id="39" name="Group 39"/>
          <p:cNvGrpSpPr/>
          <p:nvPr/>
        </p:nvGrpSpPr>
        <p:grpSpPr>
          <a:xfrm>
            <a:off x="1362075" y="5956935"/>
            <a:ext cx="622554" cy="622554"/>
            <a:chOff x="0" y="0"/>
            <a:chExt cx="830072" cy="830072"/>
          </a:xfrm>
        </p:grpSpPr>
        <p:sp>
          <p:nvSpPr>
            <p:cNvPr id="40" name="Freeform 40"/>
            <p:cNvSpPr/>
            <p:nvPr/>
          </p:nvSpPr>
          <p:spPr>
            <a:xfrm>
              <a:off x="0" y="0"/>
              <a:ext cx="830072" cy="830072"/>
            </a:xfrm>
            <a:custGeom>
              <a:avLst/>
              <a:gdLst/>
              <a:ahLst/>
              <a:cxnLst/>
              <a:rect l="l" t="t" r="r" b="b"/>
              <a:pathLst>
                <a:path w="830072" h="830072">
                  <a:moveTo>
                    <a:pt x="0" y="94361"/>
                  </a:moveTo>
                  <a:cubicBezTo>
                    <a:pt x="0" y="42291"/>
                    <a:pt x="42291" y="0"/>
                    <a:pt x="94361" y="0"/>
                  </a:cubicBezTo>
                  <a:lnTo>
                    <a:pt x="735711" y="0"/>
                  </a:lnTo>
                  <a:cubicBezTo>
                    <a:pt x="787781" y="0"/>
                    <a:pt x="830072" y="42291"/>
                    <a:pt x="830072" y="94361"/>
                  </a:cubicBezTo>
                  <a:lnTo>
                    <a:pt x="830072" y="735711"/>
                  </a:lnTo>
                  <a:cubicBezTo>
                    <a:pt x="830072" y="787781"/>
                    <a:pt x="787781" y="830072"/>
                    <a:pt x="735711" y="830072"/>
                  </a:cubicBezTo>
                  <a:lnTo>
                    <a:pt x="94361" y="830072"/>
                  </a:lnTo>
                  <a:cubicBezTo>
                    <a:pt x="42291" y="830072"/>
                    <a:pt x="0" y="787781"/>
                    <a:pt x="0" y="735711"/>
                  </a:cubicBezTo>
                  <a:close/>
                </a:path>
              </a:pathLst>
            </a:custGeom>
            <a:solidFill>
              <a:srgbClr val="1A1206"/>
            </a:solidFill>
            <a:ln w="19050" cap="sq">
              <a:solidFill>
                <a:srgbClr val="E9A944"/>
              </a:solidFill>
              <a:prstDash val="solid"/>
              <a:miter/>
            </a:ln>
          </p:spPr>
        </p:sp>
      </p:grpSp>
      <p:grpSp>
        <p:nvGrpSpPr>
          <p:cNvPr id="41" name="Group 41"/>
          <p:cNvGrpSpPr/>
          <p:nvPr/>
        </p:nvGrpSpPr>
        <p:grpSpPr>
          <a:xfrm>
            <a:off x="1371600" y="5966460"/>
            <a:ext cx="603504" cy="603504"/>
            <a:chOff x="0" y="0"/>
            <a:chExt cx="804672" cy="804672"/>
          </a:xfrm>
        </p:grpSpPr>
        <p:sp>
          <p:nvSpPr>
            <p:cNvPr id="42" name="Freeform 42"/>
            <p:cNvSpPr/>
            <p:nvPr/>
          </p:nvSpPr>
          <p:spPr>
            <a:xfrm>
              <a:off x="0" y="0"/>
              <a:ext cx="804672" cy="804672"/>
            </a:xfrm>
            <a:custGeom>
              <a:avLst/>
              <a:gdLst/>
              <a:ahLst/>
              <a:cxnLst/>
              <a:rect l="l" t="t" r="r" b="b"/>
              <a:pathLst>
                <a:path w="804672" h="804672">
                  <a:moveTo>
                    <a:pt x="0" y="0"/>
                  </a:moveTo>
                  <a:lnTo>
                    <a:pt x="804672" y="0"/>
                  </a:lnTo>
                  <a:lnTo>
                    <a:pt x="804672" y="804672"/>
                  </a:lnTo>
                  <a:lnTo>
                    <a:pt x="0" y="804672"/>
                  </a:lnTo>
                  <a:close/>
                </a:path>
              </a:pathLst>
            </a:custGeom>
            <a:blipFill>
              <a:blip r:embed="rId4">
                <a:alphaModFix amt="0"/>
              </a:blip>
              <a:stretch>
                <a:fillRect l="-78303" r="-78303"/>
              </a:stretch>
            </a:blipFill>
          </p:spPr>
        </p:sp>
        <p:sp>
          <p:nvSpPr>
            <p:cNvPr id="43" name="TextBox 43"/>
            <p:cNvSpPr txBox="1"/>
            <p:nvPr/>
          </p:nvSpPr>
          <p:spPr>
            <a:xfrm>
              <a:off x="0" y="-19050"/>
              <a:ext cx="804672" cy="823722"/>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01</a:t>
              </a:r>
            </a:p>
          </p:txBody>
        </p:sp>
      </p:grpSp>
      <p:grpSp>
        <p:nvGrpSpPr>
          <p:cNvPr id="44" name="Group 44"/>
          <p:cNvGrpSpPr/>
          <p:nvPr/>
        </p:nvGrpSpPr>
        <p:grpSpPr>
          <a:xfrm>
            <a:off x="2194560" y="6035022"/>
            <a:ext cx="2234059" cy="466381"/>
            <a:chOff x="0" y="0"/>
            <a:chExt cx="2978746" cy="621841"/>
          </a:xfrm>
        </p:grpSpPr>
        <p:sp>
          <p:nvSpPr>
            <p:cNvPr id="45" name="Freeform 45"/>
            <p:cNvSpPr/>
            <p:nvPr/>
          </p:nvSpPr>
          <p:spPr>
            <a:xfrm>
              <a:off x="0" y="0"/>
              <a:ext cx="2978746" cy="621841"/>
            </a:xfrm>
            <a:custGeom>
              <a:avLst/>
              <a:gdLst/>
              <a:ahLst/>
              <a:cxnLst/>
              <a:rect l="l" t="t" r="r" b="b"/>
              <a:pathLst>
                <a:path w="2978746" h="621841">
                  <a:moveTo>
                    <a:pt x="0" y="0"/>
                  </a:moveTo>
                  <a:lnTo>
                    <a:pt x="2978746" y="0"/>
                  </a:lnTo>
                  <a:lnTo>
                    <a:pt x="2978746" y="621841"/>
                  </a:lnTo>
                  <a:lnTo>
                    <a:pt x="0" y="621841"/>
                  </a:lnTo>
                  <a:close/>
                </a:path>
              </a:pathLst>
            </a:custGeom>
            <a:blipFill>
              <a:blip r:embed="rId4">
                <a:alphaModFix amt="0"/>
              </a:blip>
              <a:stretch>
                <a:fillRect t="-96130" r="-56557" b="-96122"/>
              </a:stretch>
            </a:blipFill>
          </p:spPr>
        </p:sp>
        <p:sp>
          <p:nvSpPr>
            <p:cNvPr id="46" name="TextBox 46"/>
            <p:cNvSpPr txBox="1"/>
            <p:nvPr/>
          </p:nvSpPr>
          <p:spPr>
            <a:xfrm>
              <a:off x="0" y="-19050"/>
              <a:ext cx="2978746" cy="640891"/>
            </a:xfrm>
            <a:prstGeom prst="rect">
              <a:avLst/>
            </a:prstGeom>
          </p:spPr>
          <p:txBody>
            <a:bodyPr lIns="0" tIns="0" rIns="0" bIns="0" rtlCol="0" anchor="ctr"/>
            <a:lstStyle/>
            <a:p>
              <a:pPr algn="l">
                <a:lnSpc>
                  <a:spcPts val="2700"/>
                </a:lnSpc>
              </a:pPr>
              <a:r>
                <a:rPr lang="en-US" sz="2250" b="1">
                  <a:solidFill>
                    <a:srgbClr val="FFFFFF"/>
                  </a:solidFill>
                  <a:latin typeface="Arial Bold"/>
                  <a:ea typeface="Arial Bold"/>
                  <a:cs typeface="Arial Bold"/>
                  <a:sym typeface="Arial Bold"/>
                </a:rPr>
                <a:t>Ambil dataset</a:t>
              </a:r>
            </a:p>
          </p:txBody>
        </p:sp>
      </p:grpSp>
      <p:grpSp>
        <p:nvGrpSpPr>
          <p:cNvPr id="47" name="Group 47"/>
          <p:cNvGrpSpPr/>
          <p:nvPr/>
        </p:nvGrpSpPr>
        <p:grpSpPr>
          <a:xfrm>
            <a:off x="1362075" y="6693789"/>
            <a:ext cx="3066544" cy="1920240"/>
            <a:chOff x="0" y="0"/>
            <a:chExt cx="4088726" cy="2560320"/>
          </a:xfrm>
        </p:grpSpPr>
        <p:sp>
          <p:nvSpPr>
            <p:cNvPr id="48" name="Freeform 48"/>
            <p:cNvSpPr/>
            <p:nvPr/>
          </p:nvSpPr>
          <p:spPr>
            <a:xfrm>
              <a:off x="0" y="0"/>
              <a:ext cx="4088726" cy="2560320"/>
            </a:xfrm>
            <a:custGeom>
              <a:avLst/>
              <a:gdLst/>
              <a:ahLst/>
              <a:cxnLst/>
              <a:rect l="l" t="t" r="r" b="b"/>
              <a:pathLst>
                <a:path w="4088726" h="2560320">
                  <a:moveTo>
                    <a:pt x="0" y="0"/>
                  </a:moveTo>
                  <a:lnTo>
                    <a:pt x="4088726" y="0"/>
                  </a:lnTo>
                  <a:lnTo>
                    <a:pt x="4088726" y="2560320"/>
                  </a:lnTo>
                  <a:lnTo>
                    <a:pt x="0" y="2560320"/>
                  </a:lnTo>
                  <a:close/>
                </a:path>
              </a:pathLst>
            </a:custGeom>
            <a:blipFill>
              <a:blip r:embed="rId4">
                <a:alphaModFix amt="0"/>
              </a:blip>
              <a:stretch>
                <a:fillRect l="-9896" r="-50788"/>
              </a:stretch>
            </a:blipFill>
          </p:spPr>
        </p:sp>
        <p:sp>
          <p:nvSpPr>
            <p:cNvPr id="49" name="TextBox 49"/>
            <p:cNvSpPr txBox="1"/>
            <p:nvPr/>
          </p:nvSpPr>
          <p:spPr>
            <a:xfrm>
              <a:off x="0" y="-38100"/>
              <a:ext cx="4088726" cy="2598420"/>
            </a:xfrm>
            <a:prstGeom prst="rect">
              <a:avLst/>
            </a:prstGeom>
          </p:spPr>
          <p:txBody>
            <a:bodyPr lIns="0" tIns="0" rIns="0" bIns="0" rtlCol="0" anchor="ctr"/>
            <a:lstStyle/>
            <a:p>
              <a:pPr algn="l">
                <a:lnSpc>
                  <a:spcPts val="2250"/>
                </a:lnSpc>
              </a:pPr>
              <a:r>
                <a:rPr lang="en-US" sz="1875">
                  <a:solidFill>
                    <a:srgbClr val="9FB0CE"/>
                  </a:solidFill>
                  <a:latin typeface="Calibri (MS)"/>
                  <a:ea typeface="Calibri (MS)"/>
                  <a:cs typeface="Calibri (MS)"/>
                  <a:sym typeface="Calibri (MS)"/>
                </a:rPr>
                <a:t>Dataset dan kamus data resmi dirilis 28 Oktober 2026 pukul 07.00 WIB melalui portal Campus Data Week.</a:t>
              </a:r>
            </a:p>
          </p:txBody>
        </p:sp>
      </p:grpSp>
      <p:grpSp>
        <p:nvGrpSpPr>
          <p:cNvPr id="50" name="Group 50"/>
          <p:cNvGrpSpPr/>
          <p:nvPr/>
        </p:nvGrpSpPr>
        <p:grpSpPr>
          <a:xfrm>
            <a:off x="5109464" y="5545455"/>
            <a:ext cx="3901414" cy="3379470"/>
            <a:chOff x="0" y="0"/>
            <a:chExt cx="5201885" cy="4505960"/>
          </a:xfrm>
        </p:grpSpPr>
        <p:sp>
          <p:nvSpPr>
            <p:cNvPr id="51" name="Freeform 51"/>
            <p:cNvSpPr/>
            <p:nvPr/>
          </p:nvSpPr>
          <p:spPr>
            <a:xfrm>
              <a:off x="0" y="0"/>
              <a:ext cx="5201885" cy="4505960"/>
            </a:xfrm>
            <a:custGeom>
              <a:avLst/>
              <a:gdLst/>
              <a:ahLst/>
              <a:cxnLst/>
              <a:rect l="l" t="t" r="r" b="b"/>
              <a:pathLst>
                <a:path w="5201885" h="4505960">
                  <a:moveTo>
                    <a:pt x="0" y="110363"/>
                  </a:moveTo>
                  <a:cubicBezTo>
                    <a:pt x="0" y="49403"/>
                    <a:pt x="37335" y="0"/>
                    <a:pt x="83403" y="0"/>
                  </a:cubicBezTo>
                  <a:lnTo>
                    <a:pt x="5118482" y="0"/>
                  </a:lnTo>
                  <a:cubicBezTo>
                    <a:pt x="5164550" y="0"/>
                    <a:pt x="5201885" y="49403"/>
                    <a:pt x="5201885" y="110363"/>
                  </a:cubicBezTo>
                  <a:lnTo>
                    <a:pt x="5201885" y="4395597"/>
                  </a:lnTo>
                  <a:cubicBezTo>
                    <a:pt x="5201885" y="4456557"/>
                    <a:pt x="5164550" y="4505960"/>
                    <a:pt x="5118482" y="4505960"/>
                  </a:cubicBezTo>
                  <a:lnTo>
                    <a:pt x="83403" y="4505960"/>
                  </a:lnTo>
                  <a:cubicBezTo>
                    <a:pt x="37335" y="4505960"/>
                    <a:pt x="0" y="4456557"/>
                    <a:pt x="0" y="4395597"/>
                  </a:cubicBezTo>
                  <a:close/>
                </a:path>
              </a:pathLst>
            </a:custGeom>
            <a:solidFill>
              <a:srgbClr val="0D1632">
                <a:alpha val="77255"/>
              </a:srgbClr>
            </a:solidFill>
            <a:ln w="19050" cap="sq">
              <a:solidFill>
                <a:srgbClr val="24406F"/>
              </a:solidFill>
              <a:prstDash val="solid"/>
              <a:miter/>
            </a:ln>
          </p:spPr>
        </p:sp>
      </p:grpSp>
      <p:grpSp>
        <p:nvGrpSpPr>
          <p:cNvPr id="52" name="Group 52"/>
          <p:cNvGrpSpPr/>
          <p:nvPr/>
        </p:nvGrpSpPr>
        <p:grpSpPr>
          <a:xfrm>
            <a:off x="9272550" y="5545455"/>
            <a:ext cx="3901414" cy="3379470"/>
            <a:chOff x="0" y="0"/>
            <a:chExt cx="5201885" cy="4505960"/>
          </a:xfrm>
        </p:grpSpPr>
        <p:sp>
          <p:nvSpPr>
            <p:cNvPr id="53" name="Freeform 53"/>
            <p:cNvSpPr/>
            <p:nvPr/>
          </p:nvSpPr>
          <p:spPr>
            <a:xfrm>
              <a:off x="0" y="0"/>
              <a:ext cx="5201885" cy="4505960"/>
            </a:xfrm>
            <a:custGeom>
              <a:avLst/>
              <a:gdLst/>
              <a:ahLst/>
              <a:cxnLst/>
              <a:rect l="l" t="t" r="r" b="b"/>
              <a:pathLst>
                <a:path w="5201885" h="4505960">
                  <a:moveTo>
                    <a:pt x="0" y="110363"/>
                  </a:moveTo>
                  <a:cubicBezTo>
                    <a:pt x="0" y="49403"/>
                    <a:pt x="37335" y="0"/>
                    <a:pt x="83403" y="0"/>
                  </a:cubicBezTo>
                  <a:lnTo>
                    <a:pt x="5118482" y="0"/>
                  </a:lnTo>
                  <a:cubicBezTo>
                    <a:pt x="5164550" y="0"/>
                    <a:pt x="5201885" y="49403"/>
                    <a:pt x="5201885" y="110363"/>
                  </a:cubicBezTo>
                  <a:lnTo>
                    <a:pt x="5201885" y="4395597"/>
                  </a:lnTo>
                  <a:cubicBezTo>
                    <a:pt x="5201885" y="4456557"/>
                    <a:pt x="5164550" y="4505960"/>
                    <a:pt x="5118482" y="4505960"/>
                  </a:cubicBezTo>
                  <a:lnTo>
                    <a:pt x="83403" y="4505960"/>
                  </a:lnTo>
                  <a:cubicBezTo>
                    <a:pt x="37335" y="4505960"/>
                    <a:pt x="0" y="4456557"/>
                    <a:pt x="0" y="4395597"/>
                  </a:cubicBezTo>
                  <a:close/>
                </a:path>
              </a:pathLst>
            </a:custGeom>
            <a:solidFill>
              <a:srgbClr val="0D1632">
                <a:alpha val="77255"/>
              </a:srgbClr>
            </a:solidFill>
            <a:ln w="19050" cap="sq">
              <a:solidFill>
                <a:srgbClr val="24406F"/>
              </a:solidFill>
              <a:prstDash val="solid"/>
              <a:miter/>
            </a:ln>
          </p:spPr>
        </p:sp>
      </p:grpSp>
      <p:grpSp>
        <p:nvGrpSpPr>
          <p:cNvPr id="54" name="Group 54"/>
          <p:cNvGrpSpPr/>
          <p:nvPr/>
        </p:nvGrpSpPr>
        <p:grpSpPr>
          <a:xfrm>
            <a:off x="13431419" y="5545455"/>
            <a:ext cx="3901414" cy="3379470"/>
            <a:chOff x="0" y="0"/>
            <a:chExt cx="5201885" cy="4505960"/>
          </a:xfrm>
        </p:grpSpPr>
        <p:sp>
          <p:nvSpPr>
            <p:cNvPr id="55" name="Freeform 55"/>
            <p:cNvSpPr/>
            <p:nvPr/>
          </p:nvSpPr>
          <p:spPr>
            <a:xfrm>
              <a:off x="0" y="0"/>
              <a:ext cx="5201885" cy="4505960"/>
            </a:xfrm>
            <a:custGeom>
              <a:avLst/>
              <a:gdLst/>
              <a:ahLst/>
              <a:cxnLst/>
              <a:rect l="l" t="t" r="r" b="b"/>
              <a:pathLst>
                <a:path w="5201885" h="4505960">
                  <a:moveTo>
                    <a:pt x="0" y="110363"/>
                  </a:moveTo>
                  <a:cubicBezTo>
                    <a:pt x="0" y="49403"/>
                    <a:pt x="37335" y="0"/>
                    <a:pt x="83403" y="0"/>
                  </a:cubicBezTo>
                  <a:lnTo>
                    <a:pt x="5118482" y="0"/>
                  </a:lnTo>
                  <a:cubicBezTo>
                    <a:pt x="5164550" y="0"/>
                    <a:pt x="5201885" y="49403"/>
                    <a:pt x="5201885" y="110363"/>
                  </a:cubicBezTo>
                  <a:lnTo>
                    <a:pt x="5201885" y="4395597"/>
                  </a:lnTo>
                  <a:cubicBezTo>
                    <a:pt x="5201885" y="4456557"/>
                    <a:pt x="5164550" y="4505960"/>
                    <a:pt x="5118482" y="4505960"/>
                  </a:cubicBezTo>
                  <a:lnTo>
                    <a:pt x="83403" y="4505960"/>
                  </a:lnTo>
                  <a:cubicBezTo>
                    <a:pt x="37335" y="4505960"/>
                    <a:pt x="0" y="4456557"/>
                    <a:pt x="0" y="4395597"/>
                  </a:cubicBezTo>
                  <a:close/>
                </a:path>
              </a:pathLst>
            </a:custGeom>
            <a:solidFill>
              <a:srgbClr val="0D1632">
                <a:alpha val="77255"/>
              </a:srgbClr>
            </a:solidFill>
            <a:ln w="19050" cap="sq">
              <a:solidFill>
                <a:srgbClr val="24406F"/>
              </a:solidFill>
              <a:prstDash val="solid"/>
              <a:miter/>
            </a:ln>
          </p:spPr>
        </p:sp>
      </p:grpSp>
      <p:grpSp>
        <p:nvGrpSpPr>
          <p:cNvPr id="56" name="Group 56"/>
          <p:cNvGrpSpPr/>
          <p:nvPr/>
        </p:nvGrpSpPr>
        <p:grpSpPr>
          <a:xfrm>
            <a:off x="5526899" y="5906643"/>
            <a:ext cx="622554" cy="622554"/>
            <a:chOff x="0" y="0"/>
            <a:chExt cx="830072" cy="830072"/>
          </a:xfrm>
        </p:grpSpPr>
        <p:sp>
          <p:nvSpPr>
            <p:cNvPr id="57" name="Freeform 57"/>
            <p:cNvSpPr/>
            <p:nvPr/>
          </p:nvSpPr>
          <p:spPr>
            <a:xfrm>
              <a:off x="0" y="0"/>
              <a:ext cx="830072" cy="830072"/>
            </a:xfrm>
            <a:custGeom>
              <a:avLst/>
              <a:gdLst/>
              <a:ahLst/>
              <a:cxnLst/>
              <a:rect l="l" t="t" r="r" b="b"/>
              <a:pathLst>
                <a:path w="830072" h="830072">
                  <a:moveTo>
                    <a:pt x="0" y="94361"/>
                  </a:moveTo>
                  <a:cubicBezTo>
                    <a:pt x="0" y="42291"/>
                    <a:pt x="42291" y="0"/>
                    <a:pt x="94361" y="0"/>
                  </a:cubicBezTo>
                  <a:lnTo>
                    <a:pt x="735711" y="0"/>
                  </a:lnTo>
                  <a:cubicBezTo>
                    <a:pt x="787781" y="0"/>
                    <a:pt x="830072" y="42291"/>
                    <a:pt x="830072" y="94361"/>
                  </a:cubicBezTo>
                  <a:lnTo>
                    <a:pt x="830072" y="735711"/>
                  </a:lnTo>
                  <a:cubicBezTo>
                    <a:pt x="830072" y="787781"/>
                    <a:pt x="787781" y="830072"/>
                    <a:pt x="735711" y="830072"/>
                  </a:cubicBezTo>
                  <a:lnTo>
                    <a:pt x="94361" y="830072"/>
                  </a:lnTo>
                  <a:cubicBezTo>
                    <a:pt x="42291" y="830072"/>
                    <a:pt x="0" y="787781"/>
                    <a:pt x="0" y="735711"/>
                  </a:cubicBezTo>
                  <a:close/>
                </a:path>
              </a:pathLst>
            </a:custGeom>
            <a:solidFill>
              <a:srgbClr val="1A1206"/>
            </a:solidFill>
            <a:ln w="19050" cap="sq">
              <a:solidFill>
                <a:srgbClr val="E9A944"/>
              </a:solidFill>
              <a:prstDash val="solid"/>
              <a:miter/>
            </a:ln>
          </p:spPr>
        </p:sp>
      </p:grpSp>
      <p:grpSp>
        <p:nvGrpSpPr>
          <p:cNvPr id="58" name="Group 58"/>
          <p:cNvGrpSpPr/>
          <p:nvPr/>
        </p:nvGrpSpPr>
        <p:grpSpPr>
          <a:xfrm>
            <a:off x="5536424" y="5916168"/>
            <a:ext cx="603504" cy="603504"/>
            <a:chOff x="0" y="0"/>
            <a:chExt cx="804672" cy="804672"/>
          </a:xfrm>
        </p:grpSpPr>
        <p:sp>
          <p:nvSpPr>
            <p:cNvPr id="59" name="Freeform 59"/>
            <p:cNvSpPr/>
            <p:nvPr/>
          </p:nvSpPr>
          <p:spPr>
            <a:xfrm>
              <a:off x="0" y="0"/>
              <a:ext cx="804672" cy="804672"/>
            </a:xfrm>
            <a:custGeom>
              <a:avLst/>
              <a:gdLst/>
              <a:ahLst/>
              <a:cxnLst/>
              <a:rect l="l" t="t" r="r" b="b"/>
              <a:pathLst>
                <a:path w="804672" h="804672">
                  <a:moveTo>
                    <a:pt x="0" y="0"/>
                  </a:moveTo>
                  <a:lnTo>
                    <a:pt x="804672" y="0"/>
                  </a:lnTo>
                  <a:lnTo>
                    <a:pt x="804672" y="804672"/>
                  </a:lnTo>
                  <a:lnTo>
                    <a:pt x="0" y="804672"/>
                  </a:lnTo>
                  <a:close/>
                </a:path>
              </a:pathLst>
            </a:custGeom>
            <a:blipFill>
              <a:blip r:embed="rId4">
                <a:alphaModFix amt="0"/>
              </a:blip>
              <a:stretch>
                <a:fillRect l="-78303" r="-78303"/>
              </a:stretch>
            </a:blipFill>
          </p:spPr>
        </p:sp>
        <p:sp>
          <p:nvSpPr>
            <p:cNvPr id="60" name="TextBox 60"/>
            <p:cNvSpPr txBox="1"/>
            <p:nvPr/>
          </p:nvSpPr>
          <p:spPr>
            <a:xfrm>
              <a:off x="0" y="-19050"/>
              <a:ext cx="804672" cy="823722"/>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02</a:t>
              </a:r>
            </a:p>
          </p:txBody>
        </p:sp>
      </p:grpSp>
      <p:grpSp>
        <p:nvGrpSpPr>
          <p:cNvPr id="61" name="Group 61"/>
          <p:cNvGrpSpPr/>
          <p:nvPr/>
        </p:nvGrpSpPr>
        <p:grpSpPr>
          <a:xfrm>
            <a:off x="6368528" y="5808708"/>
            <a:ext cx="2234059" cy="809281"/>
            <a:chOff x="0" y="0"/>
            <a:chExt cx="2978746" cy="1079041"/>
          </a:xfrm>
        </p:grpSpPr>
        <p:sp>
          <p:nvSpPr>
            <p:cNvPr id="62" name="Freeform 62"/>
            <p:cNvSpPr/>
            <p:nvPr/>
          </p:nvSpPr>
          <p:spPr>
            <a:xfrm>
              <a:off x="0" y="0"/>
              <a:ext cx="2978746" cy="1079041"/>
            </a:xfrm>
            <a:custGeom>
              <a:avLst/>
              <a:gdLst/>
              <a:ahLst/>
              <a:cxnLst/>
              <a:rect l="l" t="t" r="r" b="b"/>
              <a:pathLst>
                <a:path w="2978746" h="1079041">
                  <a:moveTo>
                    <a:pt x="0" y="0"/>
                  </a:moveTo>
                  <a:lnTo>
                    <a:pt x="2978746" y="0"/>
                  </a:lnTo>
                  <a:lnTo>
                    <a:pt x="2978746" y="1079041"/>
                  </a:lnTo>
                  <a:lnTo>
                    <a:pt x="0" y="1079041"/>
                  </a:lnTo>
                  <a:close/>
                </a:path>
              </a:pathLst>
            </a:custGeom>
            <a:blipFill>
              <a:blip r:embed="rId4">
                <a:alphaModFix amt="0"/>
              </a:blip>
              <a:stretch>
                <a:fillRect t="-55398" r="-56557" b="-13023"/>
              </a:stretch>
            </a:blipFill>
          </p:spPr>
        </p:sp>
        <p:sp>
          <p:nvSpPr>
            <p:cNvPr id="63" name="TextBox 63"/>
            <p:cNvSpPr txBox="1"/>
            <p:nvPr/>
          </p:nvSpPr>
          <p:spPr>
            <a:xfrm>
              <a:off x="0" y="-19050"/>
              <a:ext cx="2978746" cy="1098091"/>
            </a:xfrm>
            <a:prstGeom prst="rect">
              <a:avLst/>
            </a:prstGeom>
          </p:spPr>
          <p:txBody>
            <a:bodyPr lIns="0" tIns="0" rIns="0" bIns="0" rtlCol="0" anchor="ctr"/>
            <a:lstStyle/>
            <a:p>
              <a:pPr algn="l">
                <a:lnSpc>
                  <a:spcPts val="2700"/>
                </a:lnSpc>
              </a:pPr>
              <a:r>
                <a:rPr lang="en-US" sz="2250" b="1">
                  <a:solidFill>
                    <a:srgbClr val="FFFFFF"/>
                  </a:solidFill>
                  <a:latin typeface="Arial Bold"/>
                  <a:ea typeface="Arial Bold"/>
                  <a:cs typeface="Arial Bold"/>
                  <a:sym typeface="Arial Bold"/>
                </a:rPr>
                <a:t>Menjawab Secret Brief</a:t>
              </a:r>
            </a:p>
          </p:txBody>
        </p:sp>
      </p:grpSp>
      <p:grpSp>
        <p:nvGrpSpPr>
          <p:cNvPr id="64" name="Group 64"/>
          <p:cNvGrpSpPr/>
          <p:nvPr/>
        </p:nvGrpSpPr>
        <p:grpSpPr>
          <a:xfrm>
            <a:off x="5526899" y="6643497"/>
            <a:ext cx="3066544" cy="1920240"/>
            <a:chOff x="0" y="0"/>
            <a:chExt cx="4088726" cy="2560320"/>
          </a:xfrm>
        </p:grpSpPr>
        <p:sp>
          <p:nvSpPr>
            <p:cNvPr id="65" name="Freeform 65"/>
            <p:cNvSpPr/>
            <p:nvPr/>
          </p:nvSpPr>
          <p:spPr>
            <a:xfrm>
              <a:off x="0" y="0"/>
              <a:ext cx="4088726" cy="2560320"/>
            </a:xfrm>
            <a:custGeom>
              <a:avLst/>
              <a:gdLst/>
              <a:ahLst/>
              <a:cxnLst/>
              <a:rect l="l" t="t" r="r" b="b"/>
              <a:pathLst>
                <a:path w="4088726" h="2560320">
                  <a:moveTo>
                    <a:pt x="0" y="0"/>
                  </a:moveTo>
                  <a:lnTo>
                    <a:pt x="4088726" y="0"/>
                  </a:lnTo>
                  <a:lnTo>
                    <a:pt x="4088726" y="2560320"/>
                  </a:lnTo>
                  <a:lnTo>
                    <a:pt x="0" y="2560320"/>
                  </a:lnTo>
                  <a:close/>
                </a:path>
              </a:pathLst>
            </a:custGeom>
            <a:blipFill>
              <a:blip r:embed="rId4">
                <a:alphaModFix amt="0"/>
              </a:blip>
              <a:stretch>
                <a:fillRect l="-9896" r="-50788"/>
              </a:stretch>
            </a:blipFill>
          </p:spPr>
        </p:sp>
        <p:sp>
          <p:nvSpPr>
            <p:cNvPr id="66" name="TextBox 66"/>
            <p:cNvSpPr txBox="1"/>
            <p:nvPr/>
          </p:nvSpPr>
          <p:spPr>
            <a:xfrm>
              <a:off x="0" y="-38100"/>
              <a:ext cx="4088726" cy="2598420"/>
            </a:xfrm>
            <a:prstGeom prst="rect">
              <a:avLst/>
            </a:prstGeom>
          </p:spPr>
          <p:txBody>
            <a:bodyPr lIns="0" tIns="0" rIns="0" bIns="0" rtlCol="0" anchor="ctr"/>
            <a:lstStyle/>
            <a:p>
              <a:pPr algn="l">
                <a:lnSpc>
                  <a:spcPts val="2250"/>
                </a:lnSpc>
              </a:pPr>
              <a:r>
                <a:rPr lang="en-US" sz="1875">
                  <a:solidFill>
                    <a:srgbClr val="9FB0CE"/>
                  </a:solidFill>
                  <a:latin typeface="Calibri (MS)"/>
                  <a:ea typeface="Calibri (MS)"/>
                  <a:cs typeface="Calibri (MS)"/>
                  <a:sym typeface="Calibri (MS)"/>
                </a:rPr>
                <a:t>Secret brief akan dirilis secara resmi setelah dataset dan kamus data dirilis melalui portal Campus Data Week.</a:t>
              </a:r>
            </a:p>
          </p:txBody>
        </p:sp>
      </p:grpSp>
      <p:grpSp>
        <p:nvGrpSpPr>
          <p:cNvPr id="67" name="Group 67"/>
          <p:cNvGrpSpPr/>
          <p:nvPr/>
        </p:nvGrpSpPr>
        <p:grpSpPr>
          <a:xfrm>
            <a:off x="9687153" y="5906643"/>
            <a:ext cx="622554" cy="622554"/>
            <a:chOff x="0" y="0"/>
            <a:chExt cx="830072" cy="830072"/>
          </a:xfrm>
        </p:grpSpPr>
        <p:sp>
          <p:nvSpPr>
            <p:cNvPr id="68" name="Freeform 68"/>
            <p:cNvSpPr/>
            <p:nvPr/>
          </p:nvSpPr>
          <p:spPr>
            <a:xfrm>
              <a:off x="0" y="0"/>
              <a:ext cx="830072" cy="830072"/>
            </a:xfrm>
            <a:custGeom>
              <a:avLst/>
              <a:gdLst/>
              <a:ahLst/>
              <a:cxnLst/>
              <a:rect l="l" t="t" r="r" b="b"/>
              <a:pathLst>
                <a:path w="830072" h="830072">
                  <a:moveTo>
                    <a:pt x="0" y="94361"/>
                  </a:moveTo>
                  <a:cubicBezTo>
                    <a:pt x="0" y="42291"/>
                    <a:pt x="42291" y="0"/>
                    <a:pt x="94361" y="0"/>
                  </a:cubicBezTo>
                  <a:lnTo>
                    <a:pt x="735711" y="0"/>
                  </a:lnTo>
                  <a:cubicBezTo>
                    <a:pt x="787781" y="0"/>
                    <a:pt x="830072" y="42291"/>
                    <a:pt x="830072" y="94361"/>
                  </a:cubicBezTo>
                  <a:lnTo>
                    <a:pt x="830072" y="735711"/>
                  </a:lnTo>
                  <a:cubicBezTo>
                    <a:pt x="830072" y="787781"/>
                    <a:pt x="787781" y="830072"/>
                    <a:pt x="735711" y="830072"/>
                  </a:cubicBezTo>
                  <a:lnTo>
                    <a:pt x="94361" y="830072"/>
                  </a:lnTo>
                  <a:cubicBezTo>
                    <a:pt x="42291" y="830072"/>
                    <a:pt x="0" y="787781"/>
                    <a:pt x="0" y="735711"/>
                  </a:cubicBezTo>
                  <a:close/>
                </a:path>
              </a:pathLst>
            </a:custGeom>
            <a:solidFill>
              <a:srgbClr val="1A1206"/>
            </a:solidFill>
            <a:ln w="19050" cap="sq">
              <a:solidFill>
                <a:srgbClr val="E9A944"/>
              </a:solidFill>
              <a:prstDash val="solid"/>
              <a:miter/>
            </a:ln>
          </p:spPr>
        </p:sp>
      </p:grpSp>
      <p:grpSp>
        <p:nvGrpSpPr>
          <p:cNvPr id="69" name="Group 69"/>
          <p:cNvGrpSpPr/>
          <p:nvPr/>
        </p:nvGrpSpPr>
        <p:grpSpPr>
          <a:xfrm>
            <a:off x="9696678" y="5916168"/>
            <a:ext cx="603504" cy="603504"/>
            <a:chOff x="0" y="0"/>
            <a:chExt cx="804672" cy="804672"/>
          </a:xfrm>
        </p:grpSpPr>
        <p:sp>
          <p:nvSpPr>
            <p:cNvPr id="70" name="Freeform 70"/>
            <p:cNvSpPr/>
            <p:nvPr/>
          </p:nvSpPr>
          <p:spPr>
            <a:xfrm>
              <a:off x="0" y="0"/>
              <a:ext cx="804672" cy="804672"/>
            </a:xfrm>
            <a:custGeom>
              <a:avLst/>
              <a:gdLst/>
              <a:ahLst/>
              <a:cxnLst/>
              <a:rect l="l" t="t" r="r" b="b"/>
              <a:pathLst>
                <a:path w="804672" h="804672">
                  <a:moveTo>
                    <a:pt x="0" y="0"/>
                  </a:moveTo>
                  <a:lnTo>
                    <a:pt x="804672" y="0"/>
                  </a:lnTo>
                  <a:lnTo>
                    <a:pt x="804672" y="804672"/>
                  </a:lnTo>
                  <a:lnTo>
                    <a:pt x="0" y="804672"/>
                  </a:lnTo>
                  <a:close/>
                </a:path>
              </a:pathLst>
            </a:custGeom>
            <a:blipFill>
              <a:blip r:embed="rId4">
                <a:alphaModFix amt="0"/>
              </a:blip>
              <a:stretch>
                <a:fillRect l="-78303" r="-78303"/>
              </a:stretch>
            </a:blipFill>
          </p:spPr>
        </p:sp>
        <p:sp>
          <p:nvSpPr>
            <p:cNvPr id="71" name="TextBox 71"/>
            <p:cNvSpPr txBox="1"/>
            <p:nvPr/>
          </p:nvSpPr>
          <p:spPr>
            <a:xfrm>
              <a:off x="0" y="-19050"/>
              <a:ext cx="804672" cy="823722"/>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03</a:t>
              </a:r>
            </a:p>
          </p:txBody>
        </p:sp>
      </p:grpSp>
      <p:grpSp>
        <p:nvGrpSpPr>
          <p:cNvPr id="72" name="Group 72"/>
          <p:cNvGrpSpPr/>
          <p:nvPr/>
        </p:nvGrpSpPr>
        <p:grpSpPr>
          <a:xfrm>
            <a:off x="10519638" y="5984730"/>
            <a:ext cx="2304822" cy="466381"/>
            <a:chOff x="0" y="0"/>
            <a:chExt cx="3073096" cy="621841"/>
          </a:xfrm>
        </p:grpSpPr>
        <p:sp>
          <p:nvSpPr>
            <p:cNvPr id="73" name="Freeform 73"/>
            <p:cNvSpPr/>
            <p:nvPr/>
          </p:nvSpPr>
          <p:spPr>
            <a:xfrm>
              <a:off x="0" y="0"/>
              <a:ext cx="3073096" cy="621841"/>
            </a:xfrm>
            <a:custGeom>
              <a:avLst/>
              <a:gdLst/>
              <a:ahLst/>
              <a:cxnLst/>
              <a:rect l="l" t="t" r="r" b="b"/>
              <a:pathLst>
                <a:path w="3073096" h="621841">
                  <a:moveTo>
                    <a:pt x="0" y="0"/>
                  </a:moveTo>
                  <a:lnTo>
                    <a:pt x="3073096" y="0"/>
                  </a:lnTo>
                  <a:lnTo>
                    <a:pt x="3073096" y="621841"/>
                  </a:lnTo>
                  <a:lnTo>
                    <a:pt x="0" y="621841"/>
                  </a:lnTo>
                  <a:close/>
                </a:path>
              </a:pathLst>
            </a:custGeom>
            <a:blipFill>
              <a:blip r:embed="rId4">
                <a:alphaModFix amt="0"/>
              </a:blip>
              <a:stretch>
                <a:fillRect t="-96130" r="-51750" b="-96122"/>
              </a:stretch>
            </a:blipFill>
          </p:spPr>
        </p:sp>
        <p:sp>
          <p:nvSpPr>
            <p:cNvPr id="74" name="TextBox 74"/>
            <p:cNvSpPr txBox="1"/>
            <p:nvPr/>
          </p:nvSpPr>
          <p:spPr>
            <a:xfrm>
              <a:off x="0" y="-19050"/>
              <a:ext cx="3073096" cy="640891"/>
            </a:xfrm>
            <a:prstGeom prst="rect">
              <a:avLst/>
            </a:prstGeom>
          </p:spPr>
          <p:txBody>
            <a:bodyPr lIns="0" tIns="0" rIns="0" bIns="0" rtlCol="0" anchor="ctr"/>
            <a:lstStyle/>
            <a:p>
              <a:pPr algn="l">
                <a:lnSpc>
                  <a:spcPts val="2700"/>
                </a:lnSpc>
              </a:pPr>
              <a:r>
                <a:rPr lang="en-US" sz="2250" b="1">
                  <a:solidFill>
                    <a:srgbClr val="FFFFFF"/>
                  </a:solidFill>
                  <a:latin typeface="Arial Bold"/>
                  <a:ea typeface="Arial Bold"/>
                  <a:cs typeface="Arial Bold"/>
                  <a:sym typeface="Arial Bold"/>
                </a:rPr>
                <a:t>Susun infografis</a:t>
              </a:r>
            </a:p>
          </p:txBody>
        </p:sp>
      </p:grpSp>
      <p:grpSp>
        <p:nvGrpSpPr>
          <p:cNvPr id="75" name="Group 75"/>
          <p:cNvGrpSpPr/>
          <p:nvPr/>
        </p:nvGrpSpPr>
        <p:grpSpPr>
          <a:xfrm>
            <a:off x="9687153" y="6643497"/>
            <a:ext cx="3066544" cy="1920240"/>
            <a:chOff x="0" y="0"/>
            <a:chExt cx="4088726" cy="2560320"/>
          </a:xfrm>
        </p:grpSpPr>
        <p:sp>
          <p:nvSpPr>
            <p:cNvPr id="76" name="Freeform 76"/>
            <p:cNvSpPr/>
            <p:nvPr/>
          </p:nvSpPr>
          <p:spPr>
            <a:xfrm>
              <a:off x="0" y="0"/>
              <a:ext cx="4088726" cy="2560320"/>
            </a:xfrm>
            <a:custGeom>
              <a:avLst/>
              <a:gdLst/>
              <a:ahLst/>
              <a:cxnLst/>
              <a:rect l="l" t="t" r="r" b="b"/>
              <a:pathLst>
                <a:path w="4088726" h="2560320">
                  <a:moveTo>
                    <a:pt x="0" y="0"/>
                  </a:moveTo>
                  <a:lnTo>
                    <a:pt x="4088726" y="0"/>
                  </a:lnTo>
                  <a:lnTo>
                    <a:pt x="4088726" y="2560320"/>
                  </a:lnTo>
                  <a:lnTo>
                    <a:pt x="0" y="2560320"/>
                  </a:lnTo>
                  <a:close/>
                </a:path>
              </a:pathLst>
            </a:custGeom>
            <a:blipFill>
              <a:blip r:embed="rId4">
                <a:alphaModFix amt="0"/>
              </a:blip>
              <a:stretch>
                <a:fillRect l="-9896" r="-50788"/>
              </a:stretch>
            </a:blipFill>
          </p:spPr>
        </p:sp>
        <p:sp>
          <p:nvSpPr>
            <p:cNvPr id="77" name="TextBox 77"/>
            <p:cNvSpPr txBox="1"/>
            <p:nvPr/>
          </p:nvSpPr>
          <p:spPr>
            <a:xfrm>
              <a:off x="0" y="-38100"/>
              <a:ext cx="4088726" cy="2598420"/>
            </a:xfrm>
            <a:prstGeom prst="rect">
              <a:avLst/>
            </a:prstGeom>
          </p:spPr>
          <p:txBody>
            <a:bodyPr lIns="0" tIns="0" rIns="0" bIns="0" rtlCol="0" anchor="ctr"/>
            <a:lstStyle/>
            <a:p>
              <a:pPr algn="l">
                <a:lnSpc>
                  <a:spcPts val="2250"/>
                </a:lnSpc>
              </a:pPr>
              <a:r>
                <a:rPr lang="en-US" sz="1875">
                  <a:solidFill>
                    <a:srgbClr val="9FB0CE"/>
                  </a:solidFill>
                  <a:latin typeface="Calibri (MS)"/>
                  <a:ea typeface="Calibri (MS)"/>
                  <a:cs typeface="Calibri (MS)"/>
                  <a:sym typeface="Calibri (MS)"/>
                </a:rPr>
                <a:t>Satu karya utuh, statis, satu halaman. Bebas memilih sudut cerita selama bersumber dari dataset resmi dan menjawab secret brief.</a:t>
              </a:r>
            </a:p>
          </p:txBody>
        </p:sp>
      </p:grpSp>
      <p:grpSp>
        <p:nvGrpSpPr>
          <p:cNvPr id="78" name="Group 78"/>
          <p:cNvGrpSpPr/>
          <p:nvPr/>
        </p:nvGrpSpPr>
        <p:grpSpPr>
          <a:xfrm>
            <a:off x="13840714" y="5906643"/>
            <a:ext cx="622554" cy="622554"/>
            <a:chOff x="0" y="0"/>
            <a:chExt cx="830072" cy="830072"/>
          </a:xfrm>
        </p:grpSpPr>
        <p:sp>
          <p:nvSpPr>
            <p:cNvPr id="79" name="Freeform 79"/>
            <p:cNvSpPr/>
            <p:nvPr/>
          </p:nvSpPr>
          <p:spPr>
            <a:xfrm>
              <a:off x="0" y="0"/>
              <a:ext cx="830072" cy="830072"/>
            </a:xfrm>
            <a:custGeom>
              <a:avLst/>
              <a:gdLst/>
              <a:ahLst/>
              <a:cxnLst/>
              <a:rect l="l" t="t" r="r" b="b"/>
              <a:pathLst>
                <a:path w="830072" h="830072">
                  <a:moveTo>
                    <a:pt x="0" y="94361"/>
                  </a:moveTo>
                  <a:cubicBezTo>
                    <a:pt x="0" y="42291"/>
                    <a:pt x="42291" y="0"/>
                    <a:pt x="94361" y="0"/>
                  </a:cubicBezTo>
                  <a:lnTo>
                    <a:pt x="735711" y="0"/>
                  </a:lnTo>
                  <a:cubicBezTo>
                    <a:pt x="787781" y="0"/>
                    <a:pt x="830072" y="42291"/>
                    <a:pt x="830072" y="94361"/>
                  </a:cubicBezTo>
                  <a:lnTo>
                    <a:pt x="830072" y="735711"/>
                  </a:lnTo>
                  <a:cubicBezTo>
                    <a:pt x="830072" y="787781"/>
                    <a:pt x="787781" y="830072"/>
                    <a:pt x="735711" y="830072"/>
                  </a:cubicBezTo>
                  <a:lnTo>
                    <a:pt x="94361" y="830072"/>
                  </a:lnTo>
                  <a:cubicBezTo>
                    <a:pt x="42291" y="830072"/>
                    <a:pt x="0" y="787781"/>
                    <a:pt x="0" y="735711"/>
                  </a:cubicBezTo>
                  <a:close/>
                </a:path>
              </a:pathLst>
            </a:custGeom>
            <a:solidFill>
              <a:srgbClr val="1A1206"/>
            </a:solidFill>
            <a:ln w="19050" cap="sq">
              <a:solidFill>
                <a:srgbClr val="E9A944"/>
              </a:solidFill>
              <a:prstDash val="solid"/>
              <a:miter/>
            </a:ln>
          </p:spPr>
        </p:sp>
      </p:grpSp>
      <p:grpSp>
        <p:nvGrpSpPr>
          <p:cNvPr id="80" name="Group 80"/>
          <p:cNvGrpSpPr/>
          <p:nvPr/>
        </p:nvGrpSpPr>
        <p:grpSpPr>
          <a:xfrm>
            <a:off x="13850239" y="5916168"/>
            <a:ext cx="603504" cy="603504"/>
            <a:chOff x="0" y="0"/>
            <a:chExt cx="804672" cy="804672"/>
          </a:xfrm>
        </p:grpSpPr>
        <p:sp>
          <p:nvSpPr>
            <p:cNvPr id="81" name="Freeform 81"/>
            <p:cNvSpPr/>
            <p:nvPr/>
          </p:nvSpPr>
          <p:spPr>
            <a:xfrm>
              <a:off x="0" y="0"/>
              <a:ext cx="804672" cy="804672"/>
            </a:xfrm>
            <a:custGeom>
              <a:avLst/>
              <a:gdLst/>
              <a:ahLst/>
              <a:cxnLst/>
              <a:rect l="l" t="t" r="r" b="b"/>
              <a:pathLst>
                <a:path w="804672" h="804672">
                  <a:moveTo>
                    <a:pt x="0" y="0"/>
                  </a:moveTo>
                  <a:lnTo>
                    <a:pt x="804672" y="0"/>
                  </a:lnTo>
                  <a:lnTo>
                    <a:pt x="804672" y="804672"/>
                  </a:lnTo>
                  <a:lnTo>
                    <a:pt x="0" y="804672"/>
                  </a:lnTo>
                  <a:close/>
                </a:path>
              </a:pathLst>
            </a:custGeom>
            <a:blipFill>
              <a:blip r:embed="rId4">
                <a:alphaModFix amt="0"/>
              </a:blip>
              <a:stretch>
                <a:fillRect l="-78303" r="-78303"/>
              </a:stretch>
            </a:blipFill>
          </p:spPr>
        </p:sp>
        <p:sp>
          <p:nvSpPr>
            <p:cNvPr id="82" name="TextBox 82"/>
            <p:cNvSpPr txBox="1"/>
            <p:nvPr/>
          </p:nvSpPr>
          <p:spPr>
            <a:xfrm>
              <a:off x="0" y="-19050"/>
              <a:ext cx="804672" cy="823722"/>
            </a:xfrm>
            <a:prstGeom prst="rect">
              <a:avLst/>
            </a:prstGeom>
          </p:spPr>
          <p:txBody>
            <a:bodyPr lIns="0" tIns="0" rIns="0" bIns="0" rtlCol="0" anchor="ctr"/>
            <a:lstStyle/>
            <a:p>
              <a:pPr algn="ctr">
                <a:lnSpc>
                  <a:spcPts val="2160"/>
                </a:lnSpc>
              </a:pPr>
              <a:r>
                <a:rPr lang="en-US" sz="1800" b="1">
                  <a:solidFill>
                    <a:srgbClr val="E9A944"/>
                  </a:solidFill>
                  <a:latin typeface="Arial Bold"/>
                  <a:ea typeface="Arial Bold"/>
                  <a:cs typeface="Arial Bold"/>
                  <a:sym typeface="Arial Bold"/>
                </a:rPr>
                <a:t>04</a:t>
              </a:r>
            </a:p>
          </p:txBody>
        </p:sp>
      </p:grpSp>
      <p:grpSp>
        <p:nvGrpSpPr>
          <p:cNvPr id="83" name="Group 83"/>
          <p:cNvGrpSpPr/>
          <p:nvPr/>
        </p:nvGrpSpPr>
        <p:grpSpPr>
          <a:xfrm>
            <a:off x="14672818" y="5984730"/>
            <a:ext cx="2586101" cy="466381"/>
            <a:chOff x="0" y="0"/>
            <a:chExt cx="3448135" cy="621841"/>
          </a:xfrm>
        </p:grpSpPr>
        <p:sp>
          <p:nvSpPr>
            <p:cNvPr id="84" name="Freeform 84"/>
            <p:cNvSpPr/>
            <p:nvPr/>
          </p:nvSpPr>
          <p:spPr>
            <a:xfrm>
              <a:off x="0" y="0"/>
              <a:ext cx="3448135" cy="621841"/>
            </a:xfrm>
            <a:custGeom>
              <a:avLst/>
              <a:gdLst/>
              <a:ahLst/>
              <a:cxnLst/>
              <a:rect l="l" t="t" r="r" b="b"/>
              <a:pathLst>
                <a:path w="3448135" h="621841">
                  <a:moveTo>
                    <a:pt x="0" y="0"/>
                  </a:moveTo>
                  <a:lnTo>
                    <a:pt x="3448135" y="0"/>
                  </a:lnTo>
                  <a:lnTo>
                    <a:pt x="3448135" y="621841"/>
                  </a:lnTo>
                  <a:lnTo>
                    <a:pt x="0" y="621841"/>
                  </a:lnTo>
                  <a:close/>
                </a:path>
              </a:pathLst>
            </a:custGeom>
            <a:blipFill>
              <a:blip r:embed="rId4">
                <a:alphaModFix amt="0"/>
              </a:blip>
              <a:stretch>
                <a:fillRect t="-96130" r="-35245" b="-96122"/>
              </a:stretch>
            </a:blipFill>
          </p:spPr>
        </p:sp>
        <p:sp>
          <p:nvSpPr>
            <p:cNvPr id="85" name="TextBox 85"/>
            <p:cNvSpPr txBox="1"/>
            <p:nvPr/>
          </p:nvSpPr>
          <p:spPr>
            <a:xfrm>
              <a:off x="0" y="-19050"/>
              <a:ext cx="3448135" cy="640891"/>
            </a:xfrm>
            <a:prstGeom prst="rect">
              <a:avLst/>
            </a:prstGeom>
          </p:spPr>
          <p:txBody>
            <a:bodyPr lIns="0" tIns="0" rIns="0" bIns="0" rtlCol="0" anchor="ctr"/>
            <a:lstStyle/>
            <a:p>
              <a:pPr algn="l">
                <a:lnSpc>
                  <a:spcPts val="2700"/>
                </a:lnSpc>
              </a:pPr>
              <a:r>
                <a:rPr lang="en-US" sz="2250" b="1">
                  <a:solidFill>
                    <a:srgbClr val="FFFFFF"/>
                  </a:solidFill>
                  <a:latin typeface="Arial Bold"/>
                  <a:ea typeface="Arial Bold"/>
                  <a:cs typeface="Arial Bold"/>
                  <a:sym typeface="Arial Bold"/>
                </a:rPr>
                <a:t>Unggah ke portal</a:t>
              </a:r>
            </a:p>
          </p:txBody>
        </p:sp>
      </p:grpSp>
      <p:grpSp>
        <p:nvGrpSpPr>
          <p:cNvPr id="86" name="Group 86"/>
          <p:cNvGrpSpPr/>
          <p:nvPr/>
        </p:nvGrpSpPr>
        <p:grpSpPr>
          <a:xfrm>
            <a:off x="13840714" y="6643497"/>
            <a:ext cx="3066544" cy="1920240"/>
            <a:chOff x="0" y="0"/>
            <a:chExt cx="4088726" cy="2560320"/>
          </a:xfrm>
        </p:grpSpPr>
        <p:sp>
          <p:nvSpPr>
            <p:cNvPr id="87" name="Freeform 87"/>
            <p:cNvSpPr/>
            <p:nvPr/>
          </p:nvSpPr>
          <p:spPr>
            <a:xfrm>
              <a:off x="0" y="0"/>
              <a:ext cx="4088726" cy="2560320"/>
            </a:xfrm>
            <a:custGeom>
              <a:avLst/>
              <a:gdLst/>
              <a:ahLst/>
              <a:cxnLst/>
              <a:rect l="l" t="t" r="r" b="b"/>
              <a:pathLst>
                <a:path w="4088726" h="2560320">
                  <a:moveTo>
                    <a:pt x="0" y="0"/>
                  </a:moveTo>
                  <a:lnTo>
                    <a:pt x="4088726" y="0"/>
                  </a:lnTo>
                  <a:lnTo>
                    <a:pt x="4088726" y="2560320"/>
                  </a:lnTo>
                  <a:lnTo>
                    <a:pt x="0" y="2560320"/>
                  </a:lnTo>
                  <a:close/>
                </a:path>
              </a:pathLst>
            </a:custGeom>
            <a:blipFill>
              <a:blip r:embed="rId4">
                <a:alphaModFix amt="0"/>
              </a:blip>
              <a:stretch>
                <a:fillRect l="-9896" r="-50788"/>
              </a:stretch>
            </a:blipFill>
          </p:spPr>
        </p:sp>
        <p:sp>
          <p:nvSpPr>
            <p:cNvPr id="88" name="TextBox 88"/>
            <p:cNvSpPr txBox="1"/>
            <p:nvPr/>
          </p:nvSpPr>
          <p:spPr>
            <a:xfrm>
              <a:off x="0" y="-38100"/>
              <a:ext cx="4088726" cy="2598420"/>
            </a:xfrm>
            <a:prstGeom prst="rect">
              <a:avLst/>
            </a:prstGeom>
          </p:spPr>
          <p:txBody>
            <a:bodyPr lIns="0" tIns="0" rIns="0" bIns="0" rtlCol="0" anchor="ctr"/>
            <a:lstStyle/>
            <a:p>
              <a:pPr algn="l">
                <a:lnSpc>
                  <a:spcPts val="2250"/>
                </a:lnSpc>
              </a:pPr>
              <a:r>
                <a:rPr lang="en-US" sz="1875">
                  <a:solidFill>
                    <a:srgbClr val="9FB0CE"/>
                  </a:solidFill>
                  <a:latin typeface="Calibri (MS)"/>
                  <a:ea typeface="Calibri (MS)"/>
                  <a:cs typeface="Calibri (MS)"/>
                  <a:sym typeface="Calibri (MS)"/>
                </a:rPr>
                <a:t>Pengumpulan hanya melalui portal Campus Data Week, paling lambat 28 Oktober 2026 pukul 12.00 WIB.</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60120" y="576072"/>
            <a:ext cx="16322040" cy="384048"/>
            <a:chOff x="0" y="0"/>
            <a:chExt cx="21762720" cy="512064"/>
          </a:xfrm>
        </p:grpSpPr>
        <p:sp>
          <p:nvSpPr>
            <p:cNvPr id="4" name="Freeform 4"/>
            <p:cNvSpPr/>
            <p:nvPr/>
          </p:nvSpPr>
          <p:spPr>
            <a:xfrm>
              <a:off x="0" y="0"/>
              <a:ext cx="21762720" cy="512064"/>
            </a:xfrm>
            <a:custGeom>
              <a:avLst/>
              <a:gdLst/>
              <a:ahLst/>
              <a:cxnLst/>
              <a:rect l="l" t="t" r="r" b="b"/>
              <a:pathLst>
                <a:path w="21762720" h="512064">
                  <a:moveTo>
                    <a:pt x="0" y="0"/>
                  </a:moveTo>
                  <a:lnTo>
                    <a:pt x="21762720" y="0"/>
                  </a:lnTo>
                  <a:lnTo>
                    <a:pt x="21762720" y="512064"/>
                  </a:lnTo>
                  <a:lnTo>
                    <a:pt x="0" y="512064"/>
                  </a:lnTo>
                  <a:close/>
                </a:path>
              </a:pathLst>
            </a:custGeom>
            <a:blipFill>
              <a:blip r:embed="rId4">
                <a:alphaModFix amt="0"/>
              </a:blip>
              <a:stretch>
                <a:fillRect t="-778114" b="-778114"/>
              </a:stretch>
            </a:blipFill>
          </p:spPr>
        </p:sp>
        <p:sp>
          <p:nvSpPr>
            <p:cNvPr id="5" name="TextBox 5"/>
            <p:cNvSpPr txBox="1"/>
            <p:nvPr/>
          </p:nvSpPr>
          <p:spPr>
            <a:xfrm>
              <a:off x="0" y="-9525"/>
              <a:ext cx="21762720" cy="521589"/>
            </a:xfrm>
            <a:prstGeom prst="rect">
              <a:avLst/>
            </a:prstGeom>
          </p:spPr>
          <p:txBody>
            <a:bodyPr lIns="0" tIns="0" rIns="0" bIns="0" rtlCol="0" anchor="ctr"/>
            <a:lstStyle/>
            <a:p>
              <a:pPr algn="l">
                <a:lnSpc>
                  <a:spcPts val="1889"/>
                </a:lnSpc>
              </a:pPr>
              <a:r>
                <a:rPr lang="en-US" sz="1575" b="1" spc="330">
                  <a:solidFill>
                    <a:srgbClr val="E9A944"/>
                  </a:solidFill>
                  <a:latin typeface="Arial Bold"/>
                  <a:ea typeface="Arial Bold"/>
                  <a:cs typeface="Arial Bold"/>
                  <a:sym typeface="Arial Bold"/>
                </a:rPr>
                <a:t>BAGIAN 02</a:t>
              </a:r>
            </a:p>
          </p:txBody>
        </p:sp>
      </p:grpSp>
      <p:grpSp>
        <p:nvGrpSpPr>
          <p:cNvPr id="6" name="Group 6"/>
          <p:cNvGrpSpPr/>
          <p:nvPr/>
        </p:nvGrpSpPr>
        <p:grpSpPr>
          <a:xfrm>
            <a:off x="960120" y="987552"/>
            <a:ext cx="16322040" cy="850392"/>
            <a:chOff x="0" y="0"/>
            <a:chExt cx="21762720" cy="1133856"/>
          </a:xfrm>
        </p:grpSpPr>
        <p:sp>
          <p:nvSpPr>
            <p:cNvPr id="7" name="Freeform 7"/>
            <p:cNvSpPr/>
            <p:nvPr/>
          </p:nvSpPr>
          <p:spPr>
            <a:xfrm>
              <a:off x="0" y="0"/>
              <a:ext cx="21762720" cy="1133856"/>
            </a:xfrm>
            <a:custGeom>
              <a:avLst/>
              <a:gdLst/>
              <a:ahLst/>
              <a:cxnLst/>
              <a:rect l="l" t="t" r="r" b="b"/>
              <a:pathLst>
                <a:path w="21762720" h="1133856">
                  <a:moveTo>
                    <a:pt x="0" y="0"/>
                  </a:moveTo>
                  <a:lnTo>
                    <a:pt x="21762720" y="0"/>
                  </a:lnTo>
                  <a:lnTo>
                    <a:pt x="21762720" y="1133856"/>
                  </a:lnTo>
                  <a:lnTo>
                    <a:pt x="0" y="1133856"/>
                  </a:lnTo>
                  <a:close/>
                </a:path>
              </a:pathLst>
            </a:custGeom>
            <a:blipFill>
              <a:blip r:embed="rId4">
                <a:alphaModFix amt="0"/>
              </a:blip>
              <a:stretch>
                <a:fillRect t="-323987" b="-323987"/>
              </a:stretch>
            </a:blipFill>
          </p:spPr>
        </p:sp>
        <p:sp>
          <p:nvSpPr>
            <p:cNvPr id="8" name="TextBox 8"/>
            <p:cNvSpPr txBox="1"/>
            <p:nvPr/>
          </p:nvSpPr>
          <p:spPr>
            <a:xfrm>
              <a:off x="0" y="-28575"/>
              <a:ext cx="21762720" cy="1162431"/>
            </a:xfrm>
            <a:prstGeom prst="rect">
              <a:avLst/>
            </a:prstGeom>
          </p:spPr>
          <p:txBody>
            <a:bodyPr lIns="0" tIns="0" rIns="0" bIns="0" rtlCol="0" anchor="ctr"/>
            <a:lstStyle/>
            <a:p>
              <a:pPr algn="l">
                <a:lnSpc>
                  <a:spcPts val="5400"/>
                </a:lnSpc>
              </a:pPr>
              <a:r>
                <a:rPr lang="en-US" sz="4500" b="1" spc="59">
                  <a:solidFill>
                    <a:srgbClr val="FFFFFF"/>
                  </a:solidFill>
                  <a:latin typeface="Arial Bold"/>
                  <a:ea typeface="Arial Bold"/>
                  <a:cs typeface="Arial Bold"/>
                  <a:sym typeface="Arial Bold"/>
                </a:rPr>
                <a:t>Tentang Dataset</a:t>
              </a:r>
            </a:p>
          </p:txBody>
        </p:sp>
      </p:grpSp>
      <p:grpSp>
        <p:nvGrpSpPr>
          <p:cNvPr id="9" name="Group 9"/>
          <p:cNvGrpSpPr/>
          <p:nvPr/>
        </p:nvGrpSpPr>
        <p:grpSpPr>
          <a:xfrm>
            <a:off x="960120" y="9491472"/>
            <a:ext cx="13990320" cy="384048"/>
            <a:chOff x="0" y="0"/>
            <a:chExt cx="18653760" cy="512064"/>
          </a:xfrm>
        </p:grpSpPr>
        <p:sp>
          <p:nvSpPr>
            <p:cNvPr id="10" name="Freeform 10"/>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4">
                <a:alphaModFix amt="0"/>
              </a:blip>
              <a:stretch>
                <a:fillRect t="-659812" b="-659812"/>
              </a:stretch>
            </a:blipFill>
          </p:spPr>
        </p:sp>
        <p:sp>
          <p:nvSpPr>
            <p:cNvPr id="11" name="TextBox 11"/>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grpSp>
        <p:nvGrpSpPr>
          <p:cNvPr id="12" name="Group 12"/>
          <p:cNvGrpSpPr/>
          <p:nvPr/>
        </p:nvGrpSpPr>
        <p:grpSpPr>
          <a:xfrm>
            <a:off x="16322040" y="9464040"/>
            <a:ext cx="1001268" cy="411480"/>
            <a:chOff x="0" y="0"/>
            <a:chExt cx="1335024" cy="548640"/>
          </a:xfrm>
        </p:grpSpPr>
        <p:sp>
          <p:nvSpPr>
            <p:cNvPr id="13" name="Freeform 13"/>
            <p:cNvSpPr/>
            <p:nvPr/>
          </p:nvSpPr>
          <p:spPr>
            <a:xfrm>
              <a:off x="0" y="0"/>
              <a:ext cx="1335024" cy="548640"/>
            </a:xfrm>
            <a:custGeom>
              <a:avLst/>
              <a:gdLst/>
              <a:ahLst/>
              <a:cxnLst/>
              <a:rect l="l" t="t" r="r" b="b"/>
              <a:pathLst>
                <a:path w="1335024" h="548640">
                  <a:moveTo>
                    <a:pt x="0" y="0"/>
                  </a:moveTo>
                  <a:lnTo>
                    <a:pt x="1335024" y="0"/>
                  </a:lnTo>
                  <a:lnTo>
                    <a:pt x="1335024" y="548640"/>
                  </a:lnTo>
                  <a:lnTo>
                    <a:pt x="0" y="548640"/>
                  </a:lnTo>
                  <a:close/>
                </a:path>
              </a:pathLst>
            </a:custGeom>
            <a:blipFill>
              <a:blip r:embed="rId4">
                <a:alphaModFix amt="0"/>
              </a:blip>
              <a:stretch>
                <a:fillRect l="-2727" r="-2727"/>
              </a:stretch>
            </a:blipFill>
          </p:spPr>
        </p:sp>
        <p:sp>
          <p:nvSpPr>
            <p:cNvPr id="14" name="TextBox 14"/>
            <p:cNvSpPr txBox="1"/>
            <p:nvPr/>
          </p:nvSpPr>
          <p:spPr>
            <a:xfrm>
              <a:off x="0" y="-9525"/>
              <a:ext cx="1335024" cy="558165"/>
            </a:xfrm>
            <a:prstGeom prst="rect">
              <a:avLst/>
            </a:prstGeom>
          </p:spPr>
          <p:txBody>
            <a:bodyPr lIns="0" tIns="0" rIns="0" bIns="0" rtlCol="0" anchor="ctr"/>
            <a:lstStyle/>
            <a:p>
              <a:pPr algn="r">
                <a:lnSpc>
                  <a:spcPts val="1980"/>
                </a:lnSpc>
              </a:pPr>
              <a:r>
                <a:rPr lang="en-US" sz="1650" b="1">
                  <a:solidFill>
                    <a:srgbClr val="8A6420"/>
                  </a:solidFill>
                  <a:latin typeface="Courier New Bold"/>
                  <a:ea typeface="Courier New Bold"/>
                  <a:cs typeface="Courier New Bold"/>
                  <a:sym typeface="Courier New Bold"/>
                </a:rPr>
                <a:t>05</a:t>
              </a:r>
            </a:p>
          </p:txBody>
        </p:sp>
      </p:grpSp>
      <p:grpSp>
        <p:nvGrpSpPr>
          <p:cNvPr id="15" name="Group 15"/>
          <p:cNvGrpSpPr/>
          <p:nvPr/>
        </p:nvGrpSpPr>
        <p:grpSpPr>
          <a:xfrm>
            <a:off x="960120" y="2083295"/>
            <a:ext cx="9189720" cy="685800"/>
            <a:chOff x="0" y="0"/>
            <a:chExt cx="12252960" cy="914400"/>
          </a:xfrm>
        </p:grpSpPr>
        <p:sp>
          <p:nvSpPr>
            <p:cNvPr id="16" name="Freeform 16"/>
            <p:cNvSpPr/>
            <p:nvPr/>
          </p:nvSpPr>
          <p:spPr>
            <a:xfrm>
              <a:off x="0" y="0"/>
              <a:ext cx="12252960" cy="914400"/>
            </a:xfrm>
            <a:custGeom>
              <a:avLst/>
              <a:gdLst/>
              <a:ahLst/>
              <a:cxnLst/>
              <a:rect l="l" t="t" r="r" b="b"/>
              <a:pathLst>
                <a:path w="12252960" h="914400">
                  <a:moveTo>
                    <a:pt x="0" y="0"/>
                  </a:moveTo>
                  <a:lnTo>
                    <a:pt x="12252960" y="0"/>
                  </a:lnTo>
                  <a:lnTo>
                    <a:pt x="12252960" y="914400"/>
                  </a:lnTo>
                  <a:lnTo>
                    <a:pt x="0" y="914400"/>
                  </a:lnTo>
                  <a:close/>
                </a:path>
              </a:pathLst>
            </a:custGeom>
            <a:blipFill>
              <a:blip r:embed="rId4">
                <a:alphaModFix amt="0"/>
              </a:blip>
              <a:stretch>
                <a:fillRect t="-211099" b="-211099"/>
              </a:stretch>
            </a:blipFill>
          </p:spPr>
        </p:sp>
        <p:sp>
          <p:nvSpPr>
            <p:cNvPr id="17" name="TextBox 17"/>
            <p:cNvSpPr txBox="1"/>
            <p:nvPr/>
          </p:nvSpPr>
          <p:spPr>
            <a:xfrm>
              <a:off x="0" y="-28575"/>
              <a:ext cx="12252960" cy="942975"/>
            </a:xfrm>
            <a:prstGeom prst="rect">
              <a:avLst/>
            </a:prstGeom>
          </p:spPr>
          <p:txBody>
            <a:bodyPr lIns="0" tIns="0" rIns="0" bIns="0" rtlCol="0" anchor="ctr"/>
            <a:lstStyle/>
            <a:p>
              <a:pPr algn="l">
                <a:lnSpc>
                  <a:spcPts val="3960"/>
                </a:lnSpc>
              </a:pPr>
              <a:r>
                <a:rPr lang="en-US" sz="3300" b="1">
                  <a:solidFill>
                    <a:srgbClr val="E9A944"/>
                  </a:solidFill>
                  <a:latin typeface="Arial Bold"/>
                  <a:ea typeface="Arial Bold"/>
                  <a:cs typeface="Arial Bold"/>
                  <a:sym typeface="Arial Bold"/>
                </a:rPr>
                <a:t>Dataset : 5 Tabel dalam 1 Rantai</a:t>
              </a:r>
            </a:p>
          </p:txBody>
        </p:sp>
      </p:grpSp>
      <p:graphicFrame>
        <p:nvGraphicFramePr>
          <p:cNvPr id="18" name="Object 18"/>
          <p:cNvGraphicFramePr/>
          <p:nvPr/>
        </p:nvGraphicFramePr>
        <p:xfrm>
          <a:off x="960120" y="2983692"/>
          <a:ext cx="7586157" cy="4274588"/>
        </p:xfrm>
        <a:graphic>
          <a:graphicData uri="http://schemas.openxmlformats.org/presentationml/2006/ole">
            <mc:AlternateContent xmlns:mc="http://schemas.openxmlformats.org/markup-compatibility/2006">
              <mc:Choice xmlns:v="urn:schemas-microsoft-com:vml" Requires="v">
                <p:oleObj name="Worksheet" r:id="rId5" imgW="9105900" imgH="5791200" progId="Excel.Sheet.12">
                  <p:embed/>
                </p:oleObj>
              </mc:Choice>
              <mc:Fallback>
                <p:oleObj name="Worksheet" r:id="rId5" imgW="9105900" imgH="5791200" progId="Excel.Sheet.12">
                  <p:embed/>
                  <p:pic>
                    <p:nvPicPr>
                      <p:cNvPr id="0" name=""/>
                      <p:cNvPicPr/>
                      <p:nvPr/>
                    </p:nvPicPr>
                    <p:blipFill>
                      <a:blip r:embed="rId6"/>
                      <a:stretch>
                        <a:fillRect/>
                      </a:stretch>
                    </p:blipFill>
                    <p:spPr>
                      <a:xfrm>
                        <a:off x="960120" y="2983692"/>
                        <a:ext cx="7586157" cy="4274588"/>
                      </a:xfrm>
                      <a:prstGeom prst="rect">
                        <a:avLst/>
                      </a:prstGeom>
                    </p:spPr>
                  </p:pic>
                </p:oleObj>
              </mc:Fallback>
            </mc:AlternateContent>
          </a:graphicData>
        </a:graphic>
      </p:graphicFrame>
      <p:grpSp>
        <p:nvGrpSpPr>
          <p:cNvPr id="19" name="Group 19"/>
          <p:cNvGrpSpPr/>
          <p:nvPr/>
        </p:nvGrpSpPr>
        <p:grpSpPr>
          <a:xfrm>
            <a:off x="960120" y="7630125"/>
            <a:ext cx="9034325" cy="1675154"/>
            <a:chOff x="0" y="0"/>
            <a:chExt cx="12045766" cy="2233538"/>
          </a:xfrm>
        </p:grpSpPr>
        <p:sp>
          <p:nvSpPr>
            <p:cNvPr id="20" name="Freeform 20"/>
            <p:cNvSpPr/>
            <p:nvPr/>
          </p:nvSpPr>
          <p:spPr>
            <a:xfrm>
              <a:off x="0" y="0"/>
              <a:ext cx="12045766" cy="2233538"/>
            </a:xfrm>
            <a:custGeom>
              <a:avLst/>
              <a:gdLst/>
              <a:ahLst/>
              <a:cxnLst/>
              <a:rect l="l" t="t" r="r" b="b"/>
              <a:pathLst>
                <a:path w="12045766" h="2233538">
                  <a:moveTo>
                    <a:pt x="0" y="0"/>
                  </a:moveTo>
                  <a:lnTo>
                    <a:pt x="12045766" y="0"/>
                  </a:lnTo>
                  <a:lnTo>
                    <a:pt x="12045766" y="2233538"/>
                  </a:lnTo>
                  <a:lnTo>
                    <a:pt x="0" y="2233538"/>
                  </a:lnTo>
                  <a:close/>
                </a:path>
              </a:pathLst>
            </a:custGeom>
            <a:blipFill>
              <a:blip r:embed="rId4">
                <a:alphaModFix amt="0"/>
              </a:blip>
              <a:stretch>
                <a:fillRect t="-78235" r="-1720" b="-35550"/>
              </a:stretch>
            </a:blipFill>
          </p:spPr>
        </p:sp>
        <p:sp>
          <p:nvSpPr>
            <p:cNvPr id="21" name="TextBox 21"/>
            <p:cNvSpPr txBox="1"/>
            <p:nvPr/>
          </p:nvSpPr>
          <p:spPr>
            <a:xfrm>
              <a:off x="0" y="-47625"/>
              <a:ext cx="12045766" cy="2281163"/>
            </a:xfrm>
            <a:prstGeom prst="rect">
              <a:avLst/>
            </a:prstGeom>
          </p:spPr>
          <p:txBody>
            <a:bodyPr lIns="0" tIns="0" rIns="0" bIns="0" rtlCol="0" anchor="ctr"/>
            <a:lstStyle/>
            <a:p>
              <a:pPr algn="l">
                <a:lnSpc>
                  <a:spcPts val="2520"/>
                </a:lnSpc>
              </a:pPr>
              <a:r>
                <a:rPr lang="en-US" sz="2100">
                  <a:solidFill>
                    <a:srgbClr val="9FB0CE"/>
                  </a:solidFill>
                  <a:latin typeface="Calibri (MS)"/>
                  <a:ea typeface="Calibri (MS)"/>
                  <a:cs typeface="Calibri (MS)"/>
                  <a:sym typeface="Calibri (MS)"/>
                </a:rPr>
                <a:t>Tabel 1 → 2 → 3 terhubung lewat ID. Tabel 4 dan 5 adalah tabel referensi untuk prodi dan wilayah.</a:t>
              </a:r>
            </a:p>
            <a:p>
              <a:pPr algn="l">
                <a:lnSpc>
                  <a:spcPts val="2520"/>
                </a:lnSpc>
              </a:pPr>
              <a:endParaRPr lang="en-US" sz="2100">
                <a:solidFill>
                  <a:srgbClr val="9FB0CE"/>
                </a:solidFill>
                <a:latin typeface="Calibri (MS)"/>
                <a:ea typeface="Calibri (MS)"/>
                <a:cs typeface="Calibri (MS)"/>
                <a:sym typeface="Calibri (MS)"/>
              </a:endParaRPr>
            </a:p>
            <a:p>
              <a:pPr algn="l">
                <a:lnSpc>
                  <a:spcPts val="2520"/>
                </a:lnSpc>
              </a:pPr>
              <a:r>
                <a:rPr lang="en-US" sz="2100" i="1">
                  <a:solidFill>
                    <a:srgbClr val="9FB0CE"/>
                  </a:solidFill>
                  <a:latin typeface="Calibri (MS) Italics"/>
                  <a:ea typeface="Calibri (MS) Italics"/>
                  <a:cs typeface="Calibri (MS) Italics"/>
                  <a:sym typeface="Calibri (MS) Italics"/>
                </a:rPr>
                <a:t>Rincian kolom dan relasi lengkap ada di Kamus Data Final.</a:t>
              </a:r>
            </a:p>
            <a:p>
              <a:pPr algn="l">
                <a:lnSpc>
                  <a:spcPts val="2520"/>
                </a:lnSpc>
              </a:pPr>
              <a:endParaRPr lang="en-US" sz="2100" i="1">
                <a:solidFill>
                  <a:srgbClr val="9FB0CE"/>
                </a:solidFill>
                <a:latin typeface="Calibri (MS) Italics"/>
                <a:ea typeface="Calibri (MS) Italics"/>
                <a:cs typeface="Calibri (MS) Italics"/>
                <a:sym typeface="Calibri (MS) Italics"/>
              </a:endParaRPr>
            </a:p>
          </p:txBody>
        </p:sp>
      </p:grpSp>
      <p:grpSp>
        <p:nvGrpSpPr>
          <p:cNvPr id="22" name="Group 22"/>
          <p:cNvGrpSpPr/>
          <p:nvPr/>
        </p:nvGrpSpPr>
        <p:grpSpPr>
          <a:xfrm>
            <a:off x="10610130" y="2983692"/>
            <a:ext cx="6212544" cy="6032104"/>
            <a:chOff x="0" y="0"/>
            <a:chExt cx="8283391" cy="8042805"/>
          </a:xfrm>
        </p:grpSpPr>
        <p:sp>
          <p:nvSpPr>
            <p:cNvPr id="23" name="Freeform 23"/>
            <p:cNvSpPr/>
            <p:nvPr/>
          </p:nvSpPr>
          <p:spPr>
            <a:xfrm>
              <a:off x="0" y="0"/>
              <a:ext cx="8283391" cy="8042805"/>
            </a:xfrm>
            <a:custGeom>
              <a:avLst/>
              <a:gdLst/>
              <a:ahLst/>
              <a:cxnLst/>
              <a:rect l="l" t="t" r="r" b="b"/>
              <a:pathLst>
                <a:path w="8283391" h="8042805">
                  <a:moveTo>
                    <a:pt x="0" y="235439"/>
                  </a:moveTo>
                  <a:cubicBezTo>
                    <a:pt x="0" y="105271"/>
                    <a:pt x="30595" y="0"/>
                    <a:pt x="68425" y="0"/>
                  </a:cubicBezTo>
                  <a:lnTo>
                    <a:pt x="8214966" y="0"/>
                  </a:lnTo>
                  <a:cubicBezTo>
                    <a:pt x="8252719" y="0"/>
                    <a:pt x="8283391" y="105271"/>
                    <a:pt x="8283391" y="235439"/>
                  </a:cubicBezTo>
                  <a:lnTo>
                    <a:pt x="8283391" y="7807366"/>
                  </a:lnTo>
                  <a:cubicBezTo>
                    <a:pt x="8283391" y="7937264"/>
                    <a:pt x="8252797" y="8042805"/>
                    <a:pt x="8214966" y="8042805"/>
                  </a:cubicBezTo>
                  <a:lnTo>
                    <a:pt x="68425" y="8042805"/>
                  </a:lnTo>
                  <a:cubicBezTo>
                    <a:pt x="30673" y="8042805"/>
                    <a:pt x="0" y="7937534"/>
                    <a:pt x="0" y="7807366"/>
                  </a:cubicBezTo>
                  <a:close/>
                </a:path>
              </a:pathLst>
            </a:custGeom>
            <a:solidFill>
              <a:srgbClr val="0D1632">
                <a:alpha val="77255"/>
              </a:srgbClr>
            </a:solidFill>
            <a:ln w="19050" cap="sq">
              <a:solidFill>
                <a:srgbClr val="24406F"/>
              </a:solidFill>
              <a:prstDash val="solid"/>
              <a:miter/>
            </a:ln>
          </p:spPr>
        </p:sp>
      </p:grpSp>
      <p:grpSp>
        <p:nvGrpSpPr>
          <p:cNvPr id="24" name="Group 24"/>
          <p:cNvGrpSpPr/>
          <p:nvPr/>
        </p:nvGrpSpPr>
        <p:grpSpPr>
          <a:xfrm>
            <a:off x="10912100" y="3812014"/>
            <a:ext cx="5409940" cy="4947805"/>
            <a:chOff x="0" y="0"/>
            <a:chExt cx="7213254" cy="6597073"/>
          </a:xfrm>
        </p:grpSpPr>
        <p:sp>
          <p:nvSpPr>
            <p:cNvPr id="25" name="Freeform 25"/>
            <p:cNvSpPr/>
            <p:nvPr/>
          </p:nvSpPr>
          <p:spPr>
            <a:xfrm>
              <a:off x="0" y="0"/>
              <a:ext cx="7213254" cy="6597073"/>
            </a:xfrm>
            <a:custGeom>
              <a:avLst/>
              <a:gdLst/>
              <a:ahLst/>
              <a:cxnLst/>
              <a:rect l="l" t="t" r="r" b="b"/>
              <a:pathLst>
                <a:path w="7213254" h="6597073">
                  <a:moveTo>
                    <a:pt x="0" y="0"/>
                  </a:moveTo>
                  <a:lnTo>
                    <a:pt x="7213254" y="0"/>
                  </a:lnTo>
                  <a:lnTo>
                    <a:pt x="7213254" y="6597073"/>
                  </a:lnTo>
                  <a:lnTo>
                    <a:pt x="0" y="6597073"/>
                  </a:lnTo>
                  <a:close/>
                </a:path>
              </a:pathLst>
            </a:custGeom>
            <a:blipFill>
              <a:blip r:embed="rId4">
                <a:alphaModFix amt="0"/>
              </a:blip>
              <a:stretch>
                <a:fillRect t="-16999" r="-31837" b="60823"/>
              </a:stretch>
            </a:blipFill>
          </p:spPr>
        </p:sp>
        <p:sp>
          <p:nvSpPr>
            <p:cNvPr id="26" name="TextBox 26"/>
            <p:cNvSpPr txBox="1"/>
            <p:nvPr/>
          </p:nvSpPr>
          <p:spPr>
            <a:xfrm>
              <a:off x="0" y="-114300"/>
              <a:ext cx="7213254" cy="6711373"/>
            </a:xfrm>
            <a:prstGeom prst="rect">
              <a:avLst/>
            </a:prstGeom>
          </p:spPr>
          <p:txBody>
            <a:bodyPr lIns="0" tIns="0" rIns="0" bIns="0" rtlCol="0" anchor="ctr"/>
            <a:lstStyle/>
            <a:p>
              <a:pPr marL="404812" lvl="1" indent="-202406" algn="l">
                <a:lnSpc>
                  <a:spcPts val="3018"/>
                </a:lnSpc>
                <a:buFont typeface="Arial"/>
                <a:buChar char="•"/>
              </a:pPr>
              <a:r>
                <a:rPr lang="en-US" sz="1875">
                  <a:solidFill>
                    <a:srgbClr val="FFFFFF"/>
                  </a:solidFill>
                  <a:latin typeface="Calibri (MS)"/>
                  <a:ea typeface="Calibri (MS)"/>
                  <a:cs typeface="Calibri (MS)"/>
                  <a:sym typeface="Calibri (MS)"/>
                </a:rPr>
                <a:t>CSV memakai pemisah titik koma (;) dan UTF-8 dengan BOM</a:t>
              </a:r>
            </a:p>
            <a:p>
              <a:pPr marL="404812" lvl="1" indent="-202406" algn="l">
                <a:lnSpc>
                  <a:spcPts val="3018"/>
                </a:lnSpc>
                <a:buFont typeface="Arial"/>
                <a:buChar char="•"/>
              </a:pPr>
              <a:r>
                <a:rPr lang="en-US" sz="1875">
                  <a:solidFill>
                    <a:srgbClr val="FFFFFF"/>
                  </a:solidFill>
                  <a:latin typeface="Calibri (MS)"/>
                  <a:ea typeface="Calibri (MS)"/>
                  <a:cs typeface="Calibri (MS)"/>
                  <a:sym typeface="Calibri (MS)"/>
                </a:rPr>
                <a:t>Angka desimal memakai titik (contoh 3.25), tanggal YYYY-MM-DD</a:t>
              </a:r>
            </a:p>
            <a:p>
              <a:pPr marL="404812" lvl="1" indent="-202406" algn="l">
                <a:lnSpc>
                  <a:spcPts val="3018"/>
                </a:lnSpc>
                <a:buFont typeface="Arial"/>
                <a:buChar char="•"/>
              </a:pPr>
              <a:r>
                <a:rPr lang="en-US" sz="1875">
                  <a:solidFill>
                    <a:srgbClr val="FFFFFF"/>
                  </a:solidFill>
                  <a:latin typeface="Calibri (MS)"/>
                  <a:ea typeface="Calibri (MS)"/>
                  <a:cs typeface="Calibri (MS)"/>
                  <a:sym typeface="Calibri (MS)"/>
                </a:rPr>
                <a:t>Data diberikan apa adanya: belum dibersihkan, periksa sendiri</a:t>
              </a:r>
            </a:p>
            <a:p>
              <a:pPr marL="404812" lvl="1" indent="-202406" algn="l">
                <a:lnSpc>
                  <a:spcPts val="3018"/>
                </a:lnSpc>
                <a:buFont typeface="Arial"/>
                <a:buChar char="•"/>
              </a:pPr>
              <a:r>
                <a:rPr lang="en-US" sz="1875">
                  <a:solidFill>
                    <a:srgbClr val="FFFFFF"/>
                  </a:solidFill>
                  <a:latin typeface="Calibri (MS)"/>
                  <a:ea typeface="Calibri (MS)"/>
                  <a:cs typeface="Calibri (MS)"/>
                  <a:sym typeface="Calibri (MS)"/>
                </a:rPr>
                <a:t>Tabel 4 berkunci gabungan Kode_Prodi + Tahun_Penerimaan</a:t>
              </a:r>
            </a:p>
            <a:p>
              <a:pPr marL="404812" lvl="1" indent="-202406" algn="l">
                <a:lnSpc>
                  <a:spcPts val="3018"/>
                </a:lnSpc>
                <a:buFont typeface="Arial"/>
                <a:buChar char="•"/>
              </a:pPr>
              <a:r>
                <a:rPr lang="en-US" sz="1875">
                  <a:solidFill>
                    <a:srgbClr val="FFFFFF"/>
                  </a:solidFill>
                  <a:latin typeface="Calibri (MS)"/>
                  <a:ea typeface="Calibri (MS)"/>
                  <a:cs typeface="Calibri (MS)"/>
                  <a:sym typeface="Calibri (MS)"/>
                </a:rPr>
                <a:t>Tidak semua pendaftar ada di Tabel 2 dan 3: pilih jenis join dengan teliti</a:t>
              </a:r>
            </a:p>
            <a:p>
              <a:pPr marL="404812" lvl="1" indent="-202406" algn="l">
                <a:lnSpc>
                  <a:spcPts val="3018"/>
                </a:lnSpc>
                <a:buFont typeface="Arial"/>
                <a:buChar char="•"/>
              </a:pPr>
              <a:r>
                <a:rPr lang="en-US" sz="1875">
                  <a:solidFill>
                    <a:srgbClr val="FFFFFF"/>
                  </a:solidFill>
                  <a:latin typeface="Calibri (MS)"/>
                  <a:ea typeface="Calibri (MS)"/>
                  <a:cs typeface="Calibri (MS)"/>
                  <a:sym typeface="Calibri (MS)"/>
                </a:rPr>
                <a:t>Sel kosong berarti tidak berlaku atau tidak tercatat</a:t>
              </a:r>
            </a:p>
            <a:p>
              <a:pPr marL="404812" lvl="1" indent="-202406" algn="l">
                <a:lnSpc>
                  <a:spcPts val="3018"/>
                </a:lnSpc>
                <a:buFont typeface="Arial"/>
                <a:buChar char="•"/>
              </a:pPr>
              <a:r>
                <a:rPr lang="en-US" sz="1875">
                  <a:solidFill>
                    <a:srgbClr val="FFFFFF"/>
                  </a:solidFill>
                  <a:latin typeface="Calibri (MS)"/>
                  <a:ea typeface="Calibri (MS)"/>
                  <a:cs typeface="Calibri (MS)"/>
                  <a:sym typeface="Calibri (MS)"/>
                </a:rPr>
                <a:t>Baca definisi pada Kamus Data sebelum menghitung</a:t>
              </a:r>
            </a:p>
          </p:txBody>
        </p:sp>
      </p:grpSp>
      <p:grpSp>
        <p:nvGrpSpPr>
          <p:cNvPr id="27" name="Group 27"/>
          <p:cNvGrpSpPr/>
          <p:nvPr/>
        </p:nvGrpSpPr>
        <p:grpSpPr>
          <a:xfrm>
            <a:off x="10912100" y="3302714"/>
            <a:ext cx="5212080" cy="356616"/>
            <a:chOff x="0" y="0"/>
            <a:chExt cx="6949440" cy="475488"/>
          </a:xfrm>
        </p:grpSpPr>
        <p:sp>
          <p:nvSpPr>
            <p:cNvPr id="28" name="Freeform 28"/>
            <p:cNvSpPr/>
            <p:nvPr/>
          </p:nvSpPr>
          <p:spPr>
            <a:xfrm>
              <a:off x="0" y="0"/>
              <a:ext cx="6949440" cy="475488"/>
            </a:xfrm>
            <a:custGeom>
              <a:avLst/>
              <a:gdLst/>
              <a:ahLst/>
              <a:cxnLst/>
              <a:rect l="l" t="t" r="r" b="b"/>
              <a:pathLst>
                <a:path w="6949440" h="475488">
                  <a:moveTo>
                    <a:pt x="0" y="0"/>
                  </a:moveTo>
                  <a:lnTo>
                    <a:pt x="6949440" y="0"/>
                  </a:lnTo>
                  <a:lnTo>
                    <a:pt x="6949440" y="475488"/>
                  </a:lnTo>
                  <a:lnTo>
                    <a:pt x="0" y="475488"/>
                  </a:lnTo>
                  <a:close/>
                </a:path>
              </a:pathLst>
            </a:custGeom>
            <a:blipFill>
              <a:blip r:embed="rId4">
                <a:alphaModFix amt="0"/>
              </a:blip>
              <a:stretch>
                <a:fillRect t="-234781" b="-234781"/>
              </a:stretch>
            </a:blipFill>
          </p:spPr>
        </p:sp>
        <p:sp>
          <p:nvSpPr>
            <p:cNvPr id="29" name="TextBox 29"/>
            <p:cNvSpPr txBox="1"/>
            <p:nvPr/>
          </p:nvSpPr>
          <p:spPr>
            <a:xfrm>
              <a:off x="0" y="-19050"/>
              <a:ext cx="6949440"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HAL TEKNIS YANG WAJIB DIKETAHUI</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60120" y="576072"/>
            <a:ext cx="16322040" cy="384048"/>
            <a:chOff x="0" y="0"/>
            <a:chExt cx="21762720" cy="512064"/>
          </a:xfrm>
        </p:grpSpPr>
        <p:sp>
          <p:nvSpPr>
            <p:cNvPr id="4" name="Freeform 4"/>
            <p:cNvSpPr/>
            <p:nvPr/>
          </p:nvSpPr>
          <p:spPr>
            <a:xfrm>
              <a:off x="0" y="0"/>
              <a:ext cx="21762720" cy="512064"/>
            </a:xfrm>
            <a:custGeom>
              <a:avLst/>
              <a:gdLst/>
              <a:ahLst/>
              <a:cxnLst/>
              <a:rect l="l" t="t" r="r" b="b"/>
              <a:pathLst>
                <a:path w="21762720" h="512064">
                  <a:moveTo>
                    <a:pt x="0" y="0"/>
                  </a:moveTo>
                  <a:lnTo>
                    <a:pt x="21762720" y="0"/>
                  </a:lnTo>
                  <a:lnTo>
                    <a:pt x="21762720" y="512064"/>
                  </a:lnTo>
                  <a:lnTo>
                    <a:pt x="0" y="512064"/>
                  </a:lnTo>
                  <a:close/>
                </a:path>
              </a:pathLst>
            </a:custGeom>
            <a:blipFill>
              <a:blip r:embed="rId4">
                <a:alphaModFix amt="0"/>
              </a:blip>
              <a:stretch>
                <a:fillRect t="-778114" b="-778114"/>
              </a:stretch>
            </a:blipFill>
          </p:spPr>
        </p:sp>
        <p:sp>
          <p:nvSpPr>
            <p:cNvPr id="5" name="TextBox 5"/>
            <p:cNvSpPr txBox="1"/>
            <p:nvPr/>
          </p:nvSpPr>
          <p:spPr>
            <a:xfrm>
              <a:off x="0" y="-9525"/>
              <a:ext cx="21762720" cy="521589"/>
            </a:xfrm>
            <a:prstGeom prst="rect">
              <a:avLst/>
            </a:prstGeom>
          </p:spPr>
          <p:txBody>
            <a:bodyPr lIns="0" tIns="0" rIns="0" bIns="0" rtlCol="0" anchor="ctr"/>
            <a:lstStyle/>
            <a:p>
              <a:pPr algn="l">
                <a:lnSpc>
                  <a:spcPts val="1889"/>
                </a:lnSpc>
              </a:pPr>
              <a:r>
                <a:rPr lang="en-US" sz="1575" b="1" spc="330">
                  <a:solidFill>
                    <a:srgbClr val="E9A944"/>
                  </a:solidFill>
                  <a:latin typeface="Arial Bold"/>
                  <a:ea typeface="Arial Bold"/>
                  <a:cs typeface="Arial Bold"/>
                  <a:sym typeface="Arial Bold"/>
                </a:rPr>
                <a:t>BAGIAN 02</a:t>
              </a:r>
            </a:p>
          </p:txBody>
        </p:sp>
      </p:grpSp>
      <p:grpSp>
        <p:nvGrpSpPr>
          <p:cNvPr id="6" name="Group 6"/>
          <p:cNvGrpSpPr/>
          <p:nvPr/>
        </p:nvGrpSpPr>
        <p:grpSpPr>
          <a:xfrm>
            <a:off x="960120" y="987552"/>
            <a:ext cx="16322040" cy="850392"/>
            <a:chOff x="0" y="0"/>
            <a:chExt cx="21762720" cy="1133856"/>
          </a:xfrm>
        </p:grpSpPr>
        <p:sp>
          <p:nvSpPr>
            <p:cNvPr id="7" name="Freeform 7"/>
            <p:cNvSpPr/>
            <p:nvPr/>
          </p:nvSpPr>
          <p:spPr>
            <a:xfrm>
              <a:off x="0" y="0"/>
              <a:ext cx="21762720" cy="1133856"/>
            </a:xfrm>
            <a:custGeom>
              <a:avLst/>
              <a:gdLst/>
              <a:ahLst/>
              <a:cxnLst/>
              <a:rect l="l" t="t" r="r" b="b"/>
              <a:pathLst>
                <a:path w="21762720" h="1133856">
                  <a:moveTo>
                    <a:pt x="0" y="0"/>
                  </a:moveTo>
                  <a:lnTo>
                    <a:pt x="21762720" y="0"/>
                  </a:lnTo>
                  <a:lnTo>
                    <a:pt x="21762720" y="1133856"/>
                  </a:lnTo>
                  <a:lnTo>
                    <a:pt x="0" y="1133856"/>
                  </a:lnTo>
                  <a:close/>
                </a:path>
              </a:pathLst>
            </a:custGeom>
            <a:blipFill>
              <a:blip r:embed="rId4">
                <a:alphaModFix amt="0"/>
              </a:blip>
              <a:stretch>
                <a:fillRect t="-323987" b="-323987"/>
              </a:stretch>
            </a:blipFill>
          </p:spPr>
        </p:sp>
        <p:sp>
          <p:nvSpPr>
            <p:cNvPr id="8" name="TextBox 8"/>
            <p:cNvSpPr txBox="1"/>
            <p:nvPr/>
          </p:nvSpPr>
          <p:spPr>
            <a:xfrm>
              <a:off x="0" y="-28575"/>
              <a:ext cx="21762720" cy="1162431"/>
            </a:xfrm>
            <a:prstGeom prst="rect">
              <a:avLst/>
            </a:prstGeom>
          </p:spPr>
          <p:txBody>
            <a:bodyPr lIns="0" tIns="0" rIns="0" bIns="0" rtlCol="0" anchor="ctr"/>
            <a:lstStyle/>
            <a:p>
              <a:pPr algn="l">
                <a:lnSpc>
                  <a:spcPts val="5400"/>
                </a:lnSpc>
              </a:pPr>
              <a:r>
                <a:rPr lang="en-US" sz="4500" b="1" spc="59">
                  <a:solidFill>
                    <a:srgbClr val="FFFFFF"/>
                  </a:solidFill>
                  <a:latin typeface="Arial Bold"/>
                  <a:ea typeface="Arial Bold"/>
                  <a:cs typeface="Arial Bold"/>
                  <a:sym typeface="Arial Bold"/>
                </a:rPr>
                <a:t>Tentang Dataset</a:t>
              </a:r>
            </a:p>
          </p:txBody>
        </p:sp>
      </p:grpSp>
      <p:grpSp>
        <p:nvGrpSpPr>
          <p:cNvPr id="9" name="Group 9"/>
          <p:cNvGrpSpPr/>
          <p:nvPr/>
        </p:nvGrpSpPr>
        <p:grpSpPr>
          <a:xfrm>
            <a:off x="960120" y="9491472"/>
            <a:ext cx="13990320" cy="384048"/>
            <a:chOff x="0" y="0"/>
            <a:chExt cx="18653760" cy="512064"/>
          </a:xfrm>
        </p:grpSpPr>
        <p:sp>
          <p:nvSpPr>
            <p:cNvPr id="10" name="Freeform 10"/>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4">
                <a:alphaModFix amt="0"/>
              </a:blip>
              <a:stretch>
                <a:fillRect t="-659812" b="-659812"/>
              </a:stretch>
            </a:blipFill>
          </p:spPr>
        </p:sp>
        <p:sp>
          <p:nvSpPr>
            <p:cNvPr id="11" name="TextBox 11"/>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grpSp>
        <p:nvGrpSpPr>
          <p:cNvPr id="12" name="Group 12"/>
          <p:cNvGrpSpPr/>
          <p:nvPr/>
        </p:nvGrpSpPr>
        <p:grpSpPr>
          <a:xfrm>
            <a:off x="16322040" y="9464040"/>
            <a:ext cx="1001268" cy="442875"/>
            <a:chOff x="0" y="0"/>
            <a:chExt cx="1335024" cy="590500"/>
          </a:xfrm>
        </p:grpSpPr>
        <p:sp>
          <p:nvSpPr>
            <p:cNvPr id="13" name="Freeform 13"/>
            <p:cNvSpPr/>
            <p:nvPr/>
          </p:nvSpPr>
          <p:spPr>
            <a:xfrm>
              <a:off x="0" y="0"/>
              <a:ext cx="1335024" cy="590500"/>
            </a:xfrm>
            <a:custGeom>
              <a:avLst/>
              <a:gdLst/>
              <a:ahLst/>
              <a:cxnLst/>
              <a:rect l="l" t="t" r="r" b="b"/>
              <a:pathLst>
                <a:path w="1335024" h="590500">
                  <a:moveTo>
                    <a:pt x="0" y="0"/>
                  </a:moveTo>
                  <a:lnTo>
                    <a:pt x="1335024" y="0"/>
                  </a:lnTo>
                  <a:lnTo>
                    <a:pt x="1335024" y="590500"/>
                  </a:lnTo>
                  <a:lnTo>
                    <a:pt x="0" y="590500"/>
                  </a:lnTo>
                  <a:close/>
                </a:path>
              </a:pathLst>
            </a:custGeom>
            <a:blipFill>
              <a:blip r:embed="rId4">
                <a:alphaModFix amt="0"/>
              </a:blip>
              <a:stretch>
                <a:fillRect l="-2727" r="-2727" b="7088"/>
              </a:stretch>
            </a:blipFill>
          </p:spPr>
        </p:sp>
        <p:sp>
          <p:nvSpPr>
            <p:cNvPr id="14" name="TextBox 14"/>
            <p:cNvSpPr txBox="1"/>
            <p:nvPr/>
          </p:nvSpPr>
          <p:spPr>
            <a:xfrm>
              <a:off x="0" y="-9525"/>
              <a:ext cx="1335024" cy="600025"/>
            </a:xfrm>
            <a:prstGeom prst="rect">
              <a:avLst/>
            </a:prstGeom>
          </p:spPr>
          <p:txBody>
            <a:bodyPr lIns="0" tIns="0" rIns="0" bIns="0" rtlCol="0" anchor="ctr"/>
            <a:lstStyle/>
            <a:p>
              <a:pPr algn="r">
                <a:lnSpc>
                  <a:spcPts val="1980"/>
                </a:lnSpc>
              </a:pPr>
              <a:r>
                <a:rPr lang="en-US" sz="1650" b="1">
                  <a:solidFill>
                    <a:srgbClr val="8A6420"/>
                  </a:solidFill>
                  <a:latin typeface="Courier New Bold"/>
                  <a:ea typeface="Courier New Bold"/>
                  <a:cs typeface="Courier New Bold"/>
                  <a:sym typeface="Courier New Bold"/>
                </a:rPr>
                <a:t>06</a:t>
              </a:r>
            </a:p>
          </p:txBody>
        </p:sp>
      </p:grpSp>
      <p:grpSp>
        <p:nvGrpSpPr>
          <p:cNvPr id="15" name="Group 15"/>
          <p:cNvGrpSpPr/>
          <p:nvPr/>
        </p:nvGrpSpPr>
        <p:grpSpPr>
          <a:xfrm>
            <a:off x="950595" y="2185035"/>
            <a:ext cx="16382238" cy="2830830"/>
            <a:chOff x="0" y="0"/>
            <a:chExt cx="21842984" cy="3774440"/>
          </a:xfrm>
        </p:grpSpPr>
        <p:sp>
          <p:nvSpPr>
            <p:cNvPr id="16" name="Freeform 16"/>
            <p:cNvSpPr/>
            <p:nvPr/>
          </p:nvSpPr>
          <p:spPr>
            <a:xfrm>
              <a:off x="0" y="0"/>
              <a:ext cx="21842985" cy="3774440"/>
            </a:xfrm>
            <a:custGeom>
              <a:avLst/>
              <a:gdLst/>
              <a:ahLst/>
              <a:cxnLst/>
              <a:rect l="l" t="t" r="r" b="b"/>
              <a:pathLst>
                <a:path w="21842985" h="3774440">
                  <a:moveTo>
                    <a:pt x="0" y="110490"/>
                  </a:moveTo>
                  <a:cubicBezTo>
                    <a:pt x="0" y="49403"/>
                    <a:pt x="133683" y="0"/>
                    <a:pt x="298984" y="0"/>
                  </a:cubicBezTo>
                  <a:lnTo>
                    <a:pt x="21544001" y="0"/>
                  </a:lnTo>
                  <a:cubicBezTo>
                    <a:pt x="21708957" y="0"/>
                    <a:pt x="21842985" y="49403"/>
                    <a:pt x="21842985" y="110490"/>
                  </a:cubicBezTo>
                  <a:lnTo>
                    <a:pt x="21842985" y="3663950"/>
                  </a:lnTo>
                  <a:cubicBezTo>
                    <a:pt x="21842985" y="3724910"/>
                    <a:pt x="21709301" y="3774440"/>
                    <a:pt x="21544001" y="3774440"/>
                  </a:cubicBezTo>
                  <a:lnTo>
                    <a:pt x="298984" y="3774440"/>
                  </a:lnTo>
                  <a:cubicBezTo>
                    <a:pt x="134027" y="3774440"/>
                    <a:pt x="0" y="3725037"/>
                    <a:pt x="0" y="3663950"/>
                  </a:cubicBezTo>
                  <a:close/>
                </a:path>
              </a:pathLst>
            </a:custGeom>
            <a:solidFill>
              <a:srgbClr val="0D1632">
                <a:alpha val="77255"/>
              </a:srgbClr>
            </a:solidFill>
            <a:ln w="19050" cap="sq">
              <a:solidFill>
                <a:srgbClr val="24406F"/>
              </a:solidFill>
              <a:prstDash val="solid"/>
              <a:miter/>
            </a:ln>
          </p:spPr>
        </p:sp>
      </p:grpSp>
      <p:grpSp>
        <p:nvGrpSpPr>
          <p:cNvPr id="17" name="Group 17"/>
          <p:cNvGrpSpPr/>
          <p:nvPr/>
        </p:nvGrpSpPr>
        <p:grpSpPr>
          <a:xfrm>
            <a:off x="1371600" y="2482596"/>
            <a:ext cx="14103777" cy="356616"/>
            <a:chOff x="0" y="0"/>
            <a:chExt cx="18805036" cy="475488"/>
          </a:xfrm>
        </p:grpSpPr>
        <p:sp>
          <p:nvSpPr>
            <p:cNvPr id="18" name="Freeform 18"/>
            <p:cNvSpPr/>
            <p:nvPr/>
          </p:nvSpPr>
          <p:spPr>
            <a:xfrm>
              <a:off x="0" y="0"/>
              <a:ext cx="18805037" cy="475488"/>
            </a:xfrm>
            <a:custGeom>
              <a:avLst/>
              <a:gdLst/>
              <a:ahLst/>
              <a:cxnLst/>
              <a:rect l="l" t="t" r="r" b="b"/>
              <a:pathLst>
                <a:path w="18805037" h="475488">
                  <a:moveTo>
                    <a:pt x="0" y="0"/>
                  </a:moveTo>
                  <a:lnTo>
                    <a:pt x="18805037" y="0"/>
                  </a:lnTo>
                  <a:lnTo>
                    <a:pt x="18805037" y="475488"/>
                  </a:lnTo>
                  <a:lnTo>
                    <a:pt x="0" y="475488"/>
                  </a:lnTo>
                  <a:close/>
                </a:path>
              </a:pathLst>
            </a:custGeom>
            <a:blipFill>
              <a:blip r:embed="rId4">
                <a:alphaModFix amt="0"/>
              </a:blip>
              <a:stretch>
                <a:fillRect t="-234781" r="63044" b="-234781"/>
              </a:stretch>
            </a:blipFill>
          </p:spPr>
        </p:sp>
        <p:sp>
          <p:nvSpPr>
            <p:cNvPr id="19" name="TextBox 19"/>
            <p:cNvSpPr txBox="1"/>
            <p:nvPr/>
          </p:nvSpPr>
          <p:spPr>
            <a:xfrm>
              <a:off x="0" y="-19050"/>
              <a:ext cx="18805036"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SIFAT DATA</a:t>
              </a:r>
            </a:p>
          </p:txBody>
        </p:sp>
      </p:grpSp>
      <p:grpSp>
        <p:nvGrpSpPr>
          <p:cNvPr id="20" name="Group 20"/>
          <p:cNvGrpSpPr/>
          <p:nvPr/>
        </p:nvGrpSpPr>
        <p:grpSpPr>
          <a:xfrm>
            <a:off x="1371600" y="2866644"/>
            <a:ext cx="14103777" cy="685800"/>
            <a:chOff x="0" y="0"/>
            <a:chExt cx="18805036" cy="914400"/>
          </a:xfrm>
        </p:grpSpPr>
        <p:sp>
          <p:nvSpPr>
            <p:cNvPr id="21" name="Freeform 21"/>
            <p:cNvSpPr/>
            <p:nvPr/>
          </p:nvSpPr>
          <p:spPr>
            <a:xfrm>
              <a:off x="0" y="0"/>
              <a:ext cx="18805037" cy="914400"/>
            </a:xfrm>
            <a:custGeom>
              <a:avLst/>
              <a:gdLst/>
              <a:ahLst/>
              <a:cxnLst/>
              <a:rect l="l" t="t" r="r" b="b"/>
              <a:pathLst>
                <a:path w="18805037" h="914400">
                  <a:moveTo>
                    <a:pt x="0" y="0"/>
                  </a:moveTo>
                  <a:lnTo>
                    <a:pt x="18805037" y="0"/>
                  </a:lnTo>
                  <a:lnTo>
                    <a:pt x="18805037" y="914400"/>
                  </a:lnTo>
                  <a:lnTo>
                    <a:pt x="0" y="914400"/>
                  </a:lnTo>
                  <a:close/>
                </a:path>
              </a:pathLst>
            </a:custGeom>
            <a:blipFill>
              <a:blip r:embed="rId4">
                <a:alphaModFix amt="0"/>
              </a:blip>
              <a:stretch>
                <a:fillRect t="-98086" r="63044" b="-98086"/>
              </a:stretch>
            </a:blipFill>
          </p:spPr>
        </p:sp>
        <p:sp>
          <p:nvSpPr>
            <p:cNvPr id="22" name="TextBox 22"/>
            <p:cNvSpPr txBox="1"/>
            <p:nvPr/>
          </p:nvSpPr>
          <p:spPr>
            <a:xfrm>
              <a:off x="0" y="-28575"/>
              <a:ext cx="18805036" cy="942975"/>
            </a:xfrm>
            <a:prstGeom prst="rect">
              <a:avLst/>
            </a:prstGeom>
          </p:spPr>
          <p:txBody>
            <a:bodyPr lIns="0" tIns="0" rIns="0" bIns="0" rtlCol="0" anchor="ctr"/>
            <a:lstStyle/>
            <a:p>
              <a:pPr algn="l">
                <a:lnSpc>
                  <a:spcPts val="3960"/>
                </a:lnSpc>
              </a:pPr>
              <a:r>
                <a:rPr lang="en-US" sz="3300" b="1">
                  <a:solidFill>
                    <a:srgbClr val="FFFFFF"/>
                  </a:solidFill>
                  <a:latin typeface="Arial Bold"/>
                  <a:ea typeface="Arial Bold"/>
                  <a:cs typeface="Arial Bold"/>
                  <a:sym typeface="Arial Bold"/>
                </a:rPr>
                <a:t>RWFD</a:t>
              </a:r>
            </a:p>
          </p:txBody>
        </p:sp>
      </p:grpSp>
      <p:grpSp>
        <p:nvGrpSpPr>
          <p:cNvPr id="23" name="Group 23"/>
          <p:cNvGrpSpPr/>
          <p:nvPr/>
        </p:nvGrpSpPr>
        <p:grpSpPr>
          <a:xfrm>
            <a:off x="1371600" y="3621024"/>
            <a:ext cx="14103777" cy="1097280"/>
            <a:chOff x="0" y="0"/>
            <a:chExt cx="18805036" cy="1463040"/>
          </a:xfrm>
        </p:grpSpPr>
        <p:sp>
          <p:nvSpPr>
            <p:cNvPr id="24" name="Freeform 24"/>
            <p:cNvSpPr/>
            <p:nvPr/>
          </p:nvSpPr>
          <p:spPr>
            <a:xfrm>
              <a:off x="0" y="0"/>
              <a:ext cx="18805037" cy="1463040"/>
            </a:xfrm>
            <a:custGeom>
              <a:avLst/>
              <a:gdLst/>
              <a:ahLst/>
              <a:cxnLst/>
              <a:rect l="l" t="t" r="r" b="b"/>
              <a:pathLst>
                <a:path w="18805037" h="1463040">
                  <a:moveTo>
                    <a:pt x="0" y="0"/>
                  </a:moveTo>
                  <a:lnTo>
                    <a:pt x="18805037" y="0"/>
                  </a:lnTo>
                  <a:lnTo>
                    <a:pt x="18805037" y="1463040"/>
                  </a:lnTo>
                  <a:lnTo>
                    <a:pt x="0" y="1463040"/>
                  </a:lnTo>
                  <a:close/>
                </a:path>
              </a:pathLst>
            </a:custGeom>
            <a:blipFill>
              <a:blip r:embed="rId4">
                <a:alphaModFix amt="0"/>
              </a:blip>
              <a:stretch>
                <a:fillRect t="-42553" r="63044" b="-42553"/>
              </a:stretch>
            </a:blipFill>
          </p:spPr>
        </p:sp>
        <p:sp>
          <p:nvSpPr>
            <p:cNvPr id="25" name="TextBox 25"/>
            <p:cNvSpPr txBox="1"/>
            <p:nvPr/>
          </p:nvSpPr>
          <p:spPr>
            <a:xfrm>
              <a:off x="0" y="-38100"/>
              <a:ext cx="18805036" cy="1501140"/>
            </a:xfrm>
            <a:prstGeom prst="rect">
              <a:avLst/>
            </a:prstGeom>
          </p:spPr>
          <p:txBody>
            <a:bodyPr lIns="0" tIns="0" rIns="0" bIns="0" rtlCol="0" anchor="ctr"/>
            <a:lstStyle/>
            <a:p>
              <a:pPr algn="l">
                <a:lnSpc>
                  <a:spcPts val="2160"/>
                </a:lnSpc>
              </a:pPr>
              <a:r>
                <a:rPr lang="en-US" sz="1800">
                  <a:solidFill>
                    <a:srgbClr val="9FB0CE"/>
                  </a:solidFill>
                  <a:latin typeface="Calibri (MS)"/>
                  <a:ea typeface="Calibri (MS)"/>
                  <a:cs typeface="Calibri (MS)"/>
                  <a:sym typeface="Calibri (MS)"/>
                </a:rPr>
                <a:t>Real World Fake Data: data buatan yang meniru struktur data nyata, bukan data asli institusi mana pun.</a:t>
              </a:r>
            </a:p>
          </p:txBody>
        </p:sp>
      </p:grpSp>
      <p:grpSp>
        <p:nvGrpSpPr>
          <p:cNvPr id="26" name="Group 26"/>
          <p:cNvGrpSpPr/>
          <p:nvPr/>
        </p:nvGrpSpPr>
        <p:grpSpPr>
          <a:xfrm>
            <a:off x="950595" y="5271135"/>
            <a:ext cx="16382238" cy="1459230"/>
            <a:chOff x="0" y="0"/>
            <a:chExt cx="21842984" cy="1945640"/>
          </a:xfrm>
        </p:grpSpPr>
        <p:sp>
          <p:nvSpPr>
            <p:cNvPr id="27" name="Freeform 27"/>
            <p:cNvSpPr/>
            <p:nvPr/>
          </p:nvSpPr>
          <p:spPr>
            <a:xfrm>
              <a:off x="0" y="0"/>
              <a:ext cx="21842985" cy="1945640"/>
            </a:xfrm>
            <a:custGeom>
              <a:avLst/>
              <a:gdLst/>
              <a:ahLst/>
              <a:cxnLst/>
              <a:rect l="l" t="t" r="r" b="b"/>
              <a:pathLst>
                <a:path w="21842985" h="1945640">
                  <a:moveTo>
                    <a:pt x="0" y="111125"/>
                  </a:moveTo>
                  <a:cubicBezTo>
                    <a:pt x="0" y="49784"/>
                    <a:pt x="49784" y="0"/>
                    <a:pt x="111125" y="0"/>
                  </a:cubicBezTo>
                  <a:lnTo>
                    <a:pt x="21731860" y="0"/>
                  </a:lnTo>
                  <a:cubicBezTo>
                    <a:pt x="21793200" y="0"/>
                    <a:pt x="21842985" y="49784"/>
                    <a:pt x="21842985" y="111125"/>
                  </a:cubicBezTo>
                  <a:lnTo>
                    <a:pt x="21842985" y="1834515"/>
                  </a:lnTo>
                  <a:cubicBezTo>
                    <a:pt x="21842985" y="1895856"/>
                    <a:pt x="21793200" y="1945640"/>
                    <a:pt x="21731860" y="1945640"/>
                  </a:cubicBezTo>
                  <a:lnTo>
                    <a:pt x="111125" y="1945640"/>
                  </a:lnTo>
                  <a:cubicBezTo>
                    <a:pt x="49784" y="1945640"/>
                    <a:pt x="0" y="1895856"/>
                    <a:pt x="0" y="1834515"/>
                  </a:cubicBezTo>
                  <a:close/>
                </a:path>
              </a:pathLst>
            </a:custGeom>
            <a:solidFill>
              <a:srgbClr val="2A0F0F">
                <a:alpha val="48627"/>
              </a:srgbClr>
            </a:solidFill>
            <a:ln w="19050" cap="sq">
              <a:solidFill>
                <a:srgbClr val="E86A6A"/>
              </a:solidFill>
              <a:prstDash val="solid"/>
              <a:miter/>
            </a:ln>
          </p:spPr>
        </p:sp>
      </p:grpSp>
      <p:grpSp>
        <p:nvGrpSpPr>
          <p:cNvPr id="28" name="Group 28"/>
          <p:cNvGrpSpPr/>
          <p:nvPr/>
        </p:nvGrpSpPr>
        <p:grpSpPr>
          <a:xfrm>
            <a:off x="1362075" y="5682615"/>
            <a:ext cx="622554" cy="622554"/>
            <a:chOff x="0" y="0"/>
            <a:chExt cx="830072" cy="830072"/>
          </a:xfrm>
        </p:grpSpPr>
        <p:sp>
          <p:nvSpPr>
            <p:cNvPr id="29" name="Freeform 29"/>
            <p:cNvSpPr/>
            <p:nvPr/>
          </p:nvSpPr>
          <p:spPr>
            <a:xfrm>
              <a:off x="0" y="0"/>
              <a:ext cx="830072" cy="830072"/>
            </a:xfrm>
            <a:custGeom>
              <a:avLst/>
              <a:gdLst/>
              <a:ahLst/>
              <a:cxnLst/>
              <a:rect l="l" t="t" r="r" b="b"/>
              <a:pathLst>
                <a:path w="830072" h="830072">
                  <a:moveTo>
                    <a:pt x="0" y="94361"/>
                  </a:moveTo>
                  <a:cubicBezTo>
                    <a:pt x="0" y="42291"/>
                    <a:pt x="42291" y="0"/>
                    <a:pt x="94361" y="0"/>
                  </a:cubicBezTo>
                  <a:lnTo>
                    <a:pt x="735711" y="0"/>
                  </a:lnTo>
                  <a:cubicBezTo>
                    <a:pt x="787781" y="0"/>
                    <a:pt x="830072" y="42291"/>
                    <a:pt x="830072" y="94361"/>
                  </a:cubicBezTo>
                  <a:lnTo>
                    <a:pt x="830072" y="735711"/>
                  </a:lnTo>
                  <a:cubicBezTo>
                    <a:pt x="830072" y="787781"/>
                    <a:pt x="787781" y="830072"/>
                    <a:pt x="735711" y="830072"/>
                  </a:cubicBezTo>
                  <a:lnTo>
                    <a:pt x="94361" y="830072"/>
                  </a:lnTo>
                  <a:cubicBezTo>
                    <a:pt x="42291" y="830072"/>
                    <a:pt x="0" y="787781"/>
                    <a:pt x="0" y="735711"/>
                  </a:cubicBezTo>
                  <a:close/>
                </a:path>
              </a:pathLst>
            </a:custGeom>
            <a:solidFill>
              <a:srgbClr val="2A0F0F"/>
            </a:solidFill>
            <a:ln w="19050" cap="sq">
              <a:solidFill>
                <a:srgbClr val="E86A6A"/>
              </a:solidFill>
              <a:prstDash val="solid"/>
              <a:miter/>
            </a:ln>
          </p:spPr>
        </p:sp>
      </p:grpSp>
      <p:grpSp>
        <p:nvGrpSpPr>
          <p:cNvPr id="30" name="Group 30"/>
          <p:cNvGrpSpPr/>
          <p:nvPr/>
        </p:nvGrpSpPr>
        <p:grpSpPr>
          <a:xfrm>
            <a:off x="1371600" y="5692140"/>
            <a:ext cx="603504" cy="603504"/>
            <a:chOff x="0" y="0"/>
            <a:chExt cx="804672" cy="804672"/>
          </a:xfrm>
        </p:grpSpPr>
        <p:sp>
          <p:nvSpPr>
            <p:cNvPr id="31" name="Freeform 31"/>
            <p:cNvSpPr/>
            <p:nvPr/>
          </p:nvSpPr>
          <p:spPr>
            <a:xfrm>
              <a:off x="0" y="0"/>
              <a:ext cx="804672" cy="804672"/>
            </a:xfrm>
            <a:custGeom>
              <a:avLst/>
              <a:gdLst/>
              <a:ahLst/>
              <a:cxnLst/>
              <a:rect l="l" t="t" r="r" b="b"/>
              <a:pathLst>
                <a:path w="804672" h="804672">
                  <a:moveTo>
                    <a:pt x="0" y="0"/>
                  </a:moveTo>
                  <a:lnTo>
                    <a:pt x="804672" y="0"/>
                  </a:lnTo>
                  <a:lnTo>
                    <a:pt x="804672" y="804672"/>
                  </a:lnTo>
                  <a:lnTo>
                    <a:pt x="0" y="804672"/>
                  </a:lnTo>
                  <a:close/>
                </a:path>
              </a:pathLst>
            </a:custGeom>
            <a:blipFill>
              <a:blip r:embed="rId4">
                <a:alphaModFix amt="0"/>
              </a:blip>
              <a:stretch>
                <a:fillRect l="-78303" r="-78303"/>
              </a:stretch>
            </a:blipFill>
          </p:spPr>
        </p:sp>
        <p:sp>
          <p:nvSpPr>
            <p:cNvPr id="32" name="TextBox 32"/>
            <p:cNvSpPr txBox="1"/>
            <p:nvPr/>
          </p:nvSpPr>
          <p:spPr>
            <a:xfrm>
              <a:off x="0" y="-19050"/>
              <a:ext cx="804672" cy="823722"/>
            </a:xfrm>
            <a:prstGeom prst="rect">
              <a:avLst/>
            </a:prstGeom>
          </p:spPr>
          <p:txBody>
            <a:bodyPr lIns="0" tIns="0" rIns="0" bIns="0" rtlCol="0" anchor="ctr"/>
            <a:lstStyle/>
            <a:p>
              <a:pPr algn="ctr">
                <a:lnSpc>
                  <a:spcPts val="2160"/>
                </a:lnSpc>
              </a:pPr>
              <a:r>
                <a:rPr lang="en-US" sz="1800" b="1">
                  <a:solidFill>
                    <a:srgbClr val="E86A6A"/>
                  </a:solidFill>
                  <a:latin typeface="Arial Bold"/>
                  <a:ea typeface="Arial Bold"/>
                  <a:cs typeface="Arial Bold"/>
                  <a:sym typeface="Arial Bold"/>
                </a:rPr>
                <a:t>!</a:t>
              </a:r>
            </a:p>
          </p:txBody>
        </p:sp>
      </p:grpSp>
      <p:grpSp>
        <p:nvGrpSpPr>
          <p:cNvPr id="33" name="Group 33"/>
          <p:cNvGrpSpPr/>
          <p:nvPr/>
        </p:nvGrpSpPr>
        <p:grpSpPr>
          <a:xfrm>
            <a:off x="2194560" y="5280660"/>
            <a:ext cx="14676120" cy="1440180"/>
            <a:chOff x="0" y="0"/>
            <a:chExt cx="19568160" cy="1920240"/>
          </a:xfrm>
        </p:grpSpPr>
        <p:sp>
          <p:nvSpPr>
            <p:cNvPr id="34" name="Freeform 34"/>
            <p:cNvSpPr/>
            <p:nvPr/>
          </p:nvSpPr>
          <p:spPr>
            <a:xfrm>
              <a:off x="0" y="0"/>
              <a:ext cx="19568161" cy="1920240"/>
            </a:xfrm>
            <a:custGeom>
              <a:avLst/>
              <a:gdLst/>
              <a:ahLst/>
              <a:cxnLst/>
              <a:rect l="l" t="t" r="r" b="b"/>
              <a:pathLst>
                <a:path w="19568161" h="1920240">
                  <a:moveTo>
                    <a:pt x="0" y="0"/>
                  </a:moveTo>
                  <a:lnTo>
                    <a:pt x="19568161" y="0"/>
                  </a:lnTo>
                  <a:lnTo>
                    <a:pt x="19568161" y="1920240"/>
                  </a:lnTo>
                  <a:lnTo>
                    <a:pt x="0" y="1920240"/>
                  </a:lnTo>
                  <a:close/>
                </a:path>
              </a:pathLst>
            </a:custGeom>
            <a:blipFill>
              <a:blip r:embed="rId4">
                <a:alphaModFix amt="0"/>
              </a:blip>
              <a:stretch>
                <a:fillRect t="-148561" b="-148561"/>
              </a:stretch>
            </a:blipFill>
          </p:spPr>
        </p:sp>
        <p:sp>
          <p:nvSpPr>
            <p:cNvPr id="35" name="TextBox 35"/>
            <p:cNvSpPr txBox="1"/>
            <p:nvPr/>
          </p:nvSpPr>
          <p:spPr>
            <a:xfrm>
              <a:off x="0" y="-47625"/>
              <a:ext cx="19568160" cy="1967865"/>
            </a:xfrm>
            <a:prstGeom prst="rect">
              <a:avLst/>
            </a:prstGeom>
          </p:spPr>
          <p:txBody>
            <a:bodyPr lIns="0" tIns="0" rIns="0" bIns="0" rtlCol="0" anchor="ctr"/>
            <a:lstStyle/>
            <a:p>
              <a:pPr algn="l">
                <a:lnSpc>
                  <a:spcPts val="2340"/>
                </a:lnSpc>
              </a:pPr>
              <a:r>
                <a:rPr lang="en-US" sz="1950" b="1">
                  <a:solidFill>
                    <a:srgbClr val="FFFFFF"/>
                  </a:solidFill>
                  <a:latin typeface="Calibri (MS) Bold"/>
                  <a:ea typeface="Calibri (MS) Bold"/>
                  <a:cs typeface="Calibri (MS) Bold"/>
                  <a:sym typeface="Calibri (MS) Bold"/>
                </a:rPr>
                <a:t>Dilarang mencantumkan nama universitas mana pun di dalam karya</a:t>
              </a:r>
              <a:r>
                <a:rPr lang="en-US" sz="1950">
                  <a:solidFill>
                    <a:srgbClr val="9FB0CE"/>
                  </a:solidFill>
                  <a:latin typeface="Calibri (MS)"/>
                  <a:ea typeface="Calibri (MS)"/>
                  <a:cs typeface="Calibri (MS)"/>
                  <a:sym typeface="Calibri (MS)"/>
                </a:rPr>
                <a:t>  —  termasuk Universitas Airlangga. Data ini bukan milik institusi tertentu, sehingga menyebut nama akan menimbulkan kekeliruan pemahaman.</a:t>
              </a:r>
            </a:p>
          </p:txBody>
        </p:sp>
      </p:grpSp>
      <p:grpSp>
        <p:nvGrpSpPr>
          <p:cNvPr id="36" name="Group 36"/>
          <p:cNvGrpSpPr/>
          <p:nvPr/>
        </p:nvGrpSpPr>
        <p:grpSpPr>
          <a:xfrm>
            <a:off x="950595" y="6985635"/>
            <a:ext cx="7974330" cy="2007870"/>
            <a:chOff x="0" y="0"/>
            <a:chExt cx="10632440" cy="2677160"/>
          </a:xfrm>
        </p:grpSpPr>
        <p:sp>
          <p:nvSpPr>
            <p:cNvPr id="37" name="Freeform 37"/>
            <p:cNvSpPr/>
            <p:nvPr/>
          </p:nvSpPr>
          <p:spPr>
            <a:xfrm>
              <a:off x="0" y="0"/>
              <a:ext cx="10632439" cy="2677160"/>
            </a:xfrm>
            <a:custGeom>
              <a:avLst/>
              <a:gdLst/>
              <a:ahLst/>
              <a:cxnLst/>
              <a:rect l="l" t="t" r="r" b="b"/>
              <a:pathLst>
                <a:path w="10632439" h="2677160">
                  <a:moveTo>
                    <a:pt x="0" y="110744"/>
                  </a:moveTo>
                  <a:cubicBezTo>
                    <a:pt x="0" y="49657"/>
                    <a:pt x="49657" y="0"/>
                    <a:pt x="110744" y="0"/>
                  </a:cubicBezTo>
                  <a:lnTo>
                    <a:pt x="10521696" y="0"/>
                  </a:lnTo>
                  <a:cubicBezTo>
                    <a:pt x="10582910" y="0"/>
                    <a:pt x="10632439" y="49657"/>
                    <a:pt x="10632439" y="110744"/>
                  </a:cubicBezTo>
                  <a:lnTo>
                    <a:pt x="10632439" y="2566416"/>
                  </a:lnTo>
                  <a:cubicBezTo>
                    <a:pt x="10632439" y="2627630"/>
                    <a:pt x="10582783" y="2677160"/>
                    <a:pt x="10521696" y="2677160"/>
                  </a:cubicBezTo>
                  <a:lnTo>
                    <a:pt x="110744" y="2677160"/>
                  </a:lnTo>
                  <a:cubicBezTo>
                    <a:pt x="49530" y="2677160"/>
                    <a:pt x="0" y="2627503"/>
                    <a:pt x="0" y="2566416"/>
                  </a:cubicBezTo>
                  <a:close/>
                </a:path>
              </a:pathLst>
            </a:custGeom>
            <a:solidFill>
              <a:srgbClr val="0D1632">
                <a:alpha val="77255"/>
              </a:srgbClr>
            </a:solidFill>
            <a:ln w="19050" cap="sq">
              <a:solidFill>
                <a:srgbClr val="24406F"/>
              </a:solidFill>
              <a:prstDash val="solid"/>
              <a:miter/>
            </a:ln>
          </p:spPr>
        </p:sp>
      </p:grpSp>
      <p:grpSp>
        <p:nvGrpSpPr>
          <p:cNvPr id="38" name="Group 38"/>
          <p:cNvGrpSpPr/>
          <p:nvPr/>
        </p:nvGrpSpPr>
        <p:grpSpPr>
          <a:xfrm>
            <a:off x="1371600" y="7296912"/>
            <a:ext cx="7132320" cy="356616"/>
            <a:chOff x="0" y="0"/>
            <a:chExt cx="9509760" cy="475488"/>
          </a:xfrm>
        </p:grpSpPr>
        <p:sp>
          <p:nvSpPr>
            <p:cNvPr id="39" name="Freeform 39"/>
            <p:cNvSpPr/>
            <p:nvPr/>
          </p:nvSpPr>
          <p:spPr>
            <a:xfrm>
              <a:off x="0" y="0"/>
              <a:ext cx="9509760" cy="475488"/>
            </a:xfrm>
            <a:custGeom>
              <a:avLst/>
              <a:gdLst/>
              <a:ahLst/>
              <a:cxnLst/>
              <a:rect l="l" t="t" r="r" b="b"/>
              <a:pathLst>
                <a:path w="9509760" h="475488">
                  <a:moveTo>
                    <a:pt x="0" y="0"/>
                  </a:moveTo>
                  <a:lnTo>
                    <a:pt x="9509760" y="0"/>
                  </a:lnTo>
                  <a:lnTo>
                    <a:pt x="9509760" y="475488"/>
                  </a:lnTo>
                  <a:lnTo>
                    <a:pt x="0" y="475488"/>
                  </a:lnTo>
                  <a:close/>
                </a:path>
              </a:pathLst>
            </a:custGeom>
            <a:blipFill>
              <a:blip r:embed="rId4">
                <a:alphaModFix amt="0"/>
              </a:blip>
              <a:stretch>
                <a:fillRect t="-339700" b="-339700"/>
              </a:stretch>
            </a:blipFill>
          </p:spPr>
        </p:sp>
        <p:sp>
          <p:nvSpPr>
            <p:cNvPr id="40" name="TextBox 40"/>
            <p:cNvSpPr txBox="1"/>
            <p:nvPr/>
          </p:nvSpPr>
          <p:spPr>
            <a:xfrm>
              <a:off x="0" y="-19050"/>
              <a:ext cx="9509760"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KAMUS DATA</a:t>
              </a:r>
            </a:p>
          </p:txBody>
        </p:sp>
      </p:grpSp>
      <p:grpSp>
        <p:nvGrpSpPr>
          <p:cNvPr id="41" name="Group 41"/>
          <p:cNvGrpSpPr/>
          <p:nvPr/>
        </p:nvGrpSpPr>
        <p:grpSpPr>
          <a:xfrm>
            <a:off x="1371600" y="7749540"/>
            <a:ext cx="7132320" cy="1097280"/>
            <a:chOff x="0" y="0"/>
            <a:chExt cx="9509760" cy="1463040"/>
          </a:xfrm>
        </p:grpSpPr>
        <p:sp>
          <p:nvSpPr>
            <p:cNvPr id="42" name="Freeform 42"/>
            <p:cNvSpPr/>
            <p:nvPr/>
          </p:nvSpPr>
          <p:spPr>
            <a:xfrm>
              <a:off x="0" y="0"/>
              <a:ext cx="9509760" cy="1463040"/>
            </a:xfrm>
            <a:custGeom>
              <a:avLst/>
              <a:gdLst/>
              <a:ahLst/>
              <a:cxnLst/>
              <a:rect l="l" t="t" r="r" b="b"/>
              <a:pathLst>
                <a:path w="9509760" h="1463040">
                  <a:moveTo>
                    <a:pt x="0" y="0"/>
                  </a:moveTo>
                  <a:lnTo>
                    <a:pt x="9509760" y="0"/>
                  </a:lnTo>
                  <a:lnTo>
                    <a:pt x="9509760" y="1463040"/>
                  </a:lnTo>
                  <a:lnTo>
                    <a:pt x="0" y="1463040"/>
                  </a:lnTo>
                  <a:close/>
                </a:path>
              </a:pathLst>
            </a:custGeom>
            <a:blipFill>
              <a:blip r:embed="rId4">
                <a:alphaModFix amt="0"/>
              </a:blip>
              <a:stretch>
                <a:fillRect t="-76652" b="-76652"/>
              </a:stretch>
            </a:blipFill>
          </p:spPr>
        </p:sp>
        <p:sp>
          <p:nvSpPr>
            <p:cNvPr id="43" name="TextBox 43"/>
            <p:cNvSpPr txBox="1"/>
            <p:nvPr/>
          </p:nvSpPr>
          <p:spPr>
            <a:xfrm>
              <a:off x="0" y="-38100"/>
              <a:ext cx="9509760" cy="1501140"/>
            </a:xfrm>
            <a:prstGeom prst="rect">
              <a:avLst/>
            </a:prstGeom>
          </p:spPr>
          <p:txBody>
            <a:bodyPr lIns="0" tIns="0" rIns="0" bIns="0" rtlCol="0" anchor="ctr"/>
            <a:lstStyle/>
            <a:p>
              <a:pPr algn="l">
                <a:lnSpc>
                  <a:spcPts val="2250"/>
                </a:lnSpc>
              </a:pPr>
              <a:r>
                <a:rPr lang="en-US" sz="1875">
                  <a:solidFill>
                    <a:srgbClr val="FFFFFF"/>
                  </a:solidFill>
                  <a:latin typeface="Calibri (MS)"/>
                  <a:ea typeface="Calibri (MS)"/>
                  <a:cs typeface="Calibri (MS)"/>
                  <a:sym typeface="Calibri (MS)"/>
                </a:rPr>
                <a:t>Dataset dirilis lengkap dengan kamus data yang menjelaskan setiap variabel secara rinci. Baca ini lebih dulu sebelum bertanya.</a:t>
              </a:r>
            </a:p>
          </p:txBody>
        </p:sp>
      </p:grpSp>
      <p:grpSp>
        <p:nvGrpSpPr>
          <p:cNvPr id="44" name="Group 44"/>
          <p:cNvGrpSpPr/>
          <p:nvPr/>
        </p:nvGrpSpPr>
        <p:grpSpPr>
          <a:xfrm>
            <a:off x="9358503" y="6985635"/>
            <a:ext cx="7974330" cy="2007870"/>
            <a:chOff x="0" y="0"/>
            <a:chExt cx="10632440" cy="2677160"/>
          </a:xfrm>
        </p:grpSpPr>
        <p:sp>
          <p:nvSpPr>
            <p:cNvPr id="45" name="Freeform 45"/>
            <p:cNvSpPr/>
            <p:nvPr/>
          </p:nvSpPr>
          <p:spPr>
            <a:xfrm>
              <a:off x="0" y="0"/>
              <a:ext cx="10632439" cy="2677160"/>
            </a:xfrm>
            <a:custGeom>
              <a:avLst/>
              <a:gdLst/>
              <a:ahLst/>
              <a:cxnLst/>
              <a:rect l="l" t="t" r="r" b="b"/>
              <a:pathLst>
                <a:path w="10632439" h="2677160">
                  <a:moveTo>
                    <a:pt x="0" y="110744"/>
                  </a:moveTo>
                  <a:cubicBezTo>
                    <a:pt x="0" y="49657"/>
                    <a:pt x="49657" y="0"/>
                    <a:pt x="110744" y="0"/>
                  </a:cubicBezTo>
                  <a:lnTo>
                    <a:pt x="10521696" y="0"/>
                  </a:lnTo>
                  <a:cubicBezTo>
                    <a:pt x="10582910" y="0"/>
                    <a:pt x="10632439" y="49657"/>
                    <a:pt x="10632439" y="110744"/>
                  </a:cubicBezTo>
                  <a:lnTo>
                    <a:pt x="10632439" y="2566416"/>
                  </a:lnTo>
                  <a:cubicBezTo>
                    <a:pt x="10632439" y="2627630"/>
                    <a:pt x="10582783" y="2677160"/>
                    <a:pt x="10521696" y="2677160"/>
                  </a:cubicBezTo>
                  <a:lnTo>
                    <a:pt x="110744" y="2677160"/>
                  </a:lnTo>
                  <a:cubicBezTo>
                    <a:pt x="49530" y="2677160"/>
                    <a:pt x="0" y="2627503"/>
                    <a:pt x="0" y="2566416"/>
                  </a:cubicBezTo>
                  <a:close/>
                </a:path>
              </a:pathLst>
            </a:custGeom>
            <a:solidFill>
              <a:srgbClr val="0D1632">
                <a:alpha val="77255"/>
              </a:srgbClr>
            </a:solidFill>
            <a:ln w="19050" cap="sq">
              <a:solidFill>
                <a:srgbClr val="24406F"/>
              </a:solidFill>
              <a:prstDash val="solid"/>
              <a:miter/>
            </a:ln>
          </p:spPr>
        </p:sp>
      </p:grpSp>
      <p:grpSp>
        <p:nvGrpSpPr>
          <p:cNvPr id="46" name="Group 46"/>
          <p:cNvGrpSpPr/>
          <p:nvPr/>
        </p:nvGrpSpPr>
        <p:grpSpPr>
          <a:xfrm>
            <a:off x="9779508" y="7296912"/>
            <a:ext cx="7132320" cy="356616"/>
            <a:chOff x="0" y="0"/>
            <a:chExt cx="9509760" cy="475488"/>
          </a:xfrm>
        </p:grpSpPr>
        <p:sp>
          <p:nvSpPr>
            <p:cNvPr id="47" name="Freeform 47"/>
            <p:cNvSpPr/>
            <p:nvPr/>
          </p:nvSpPr>
          <p:spPr>
            <a:xfrm>
              <a:off x="0" y="0"/>
              <a:ext cx="9509760" cy="475488"/>
            </a:xfrm>
            <a:custGeom>
              <a:avLst/>
              <a:gdLst/>
              <a:ahLst/>
              <a:cxnLst/>
              <a:rect l="l" t="t" r="r" b="b"/>
              <a:pathLst>
                <a:path w="9509760" h="475488">
                  <a:moveTo>
                    <a:pt x="0" y="0"/>
                  </a:moveTo>
                  <a:lnTo>
                    <a:pt x="9509760" y="0"/>
                  </a:lnTo>
                  <a:lnTo>
                    <a:pt x="9509760" y="475488"/>
                  </a:lnTo>
                  <a:lnTo>
                    <a:pt x="0" y="475488"/>
                  </a:lnTo>
                  <a:close/>
                </a:path>
              </a:pathLst>
            </a:custGeom>
            <a:blipFill>
              <a:blip r:embed="rId4">
                <a:alphaModFix amt="0"/>
              </a:blip>
              <a:stretch>
                <a:fillRect t="-339700" b="-339700"/>
              </a:stretch>
            </a:blipFill>
          </p:spPr>
        </p:sp>
        <p:sp>
          <p:nvSpPr>
            <p:cNvPr id="48" name="TextBox 48"/>
            <p:cNvSpPr txBox="1"/>
            <p:nvPr/>
          </p:nvSpPr>
          <p:spPr>
            <a:xfrm>
              <a:off x="0" y="-19050"/>
              <a:ext cx="9509760"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PERTANYAAN SEPUTAR DATASET</a:t>
              </a:r>
            </a:p>
          </p:txBody>
        </p:sp>
      </p:grpSp>
      <p:grpSp>
        <p:nvGrpSpPr>
          <p:cNvPr id="49" name="Group 49"/>
          <p:cNvGrpSpPr/>
          <p:nvPr/>
        </p:nvGrpSpPr>
        <p:grpSpPr>
          <a:xfrm>
            <a:off x="9779508" y="7749540"/>
            <a:ext cx="7132320" cy="1097280"/>
            <a:chOff x="0" y="0"/>
            <a:chExt cx="9509760" cy="1463040"/>
          </a:xfrm>
        </p:grpSpPr>
        <p:sp>
          <p:nvSpPr>
            <p:cNvPr id="50" name="Freeform 50"/>
            <p:cNvSpPr/>
            <p:nvPr/>
          </p:nvSpPr>
          <p:spPr>
            <a:xfrm>
              <a:off x="0" y="0"/>
              <a:ext cx="9509760" cy="1463040"/>
            </a:xfrm>
            <a:custGeom>
              <a:avLst/>
              <a:gdLst/>
              <a:ahLst/>
              <a:cxnLst/>
              <a:rect l="l" t="t" r="r" b="b"/>
              <a:pathLst>
                <a:path w="9509760" h="1463040">
                  <a:moveTo>
                    <a:pt x="0" y="0"/>
                  </a:moveTo>
                  <a:lnTo>
                    <a:pt x="9509760" y="0"/>
                  </a:lnTo>
                  <a:lnTo>
                    <a:pt x="9509760" y="1463040"/>
                  </a:lnTo>
                  <a:lnTo>
                    <a:pt x="0" y="1463040"/>
                  </a:lnTo>
                  <a:close/>
                </a:path>
              </a:pathLst>
            </a:custGeom>
            <a:blipFill>
              <a:blip r:embed="rId4">
                <a:alphaModFix amt="0"/>
              </a:blip>
              <a:stretch>
                <a:fillRect t="-76652" b="-76652"/>
              </a:stretch>
            </a:blipFill>
          </p:spPr>
        </p:sp>
        <p:sp>
          <p:nvSpPr>
            <p:cNvPr id="51" name="TextBox 51"/>
            <p:cNvSpPr txBox="1"/>
            <p:nvPr/>
          </p:nvSpPr>
          <p:spPr>
            <a:xfrm>
              <a:off x="0" y="-38100"/>
              <a:ext cx="9509760" cy="1501140"/>
            </a:xfrm>
            <a:prstGeom prst="rect">
              <a:avLst/>
            </a:prstGeom>
          </p:spPr>
          <p:txBody>
            <a:bodyPr lIns="0" tIns="0" rIns="0" bIns="0" rtlCol="0" anchor="ctr"/>
            <a:lstStyle/>
            <a:p>
              <a:pPr algn="l">
                <a:lnSpc>
                  <a:spcPts val="2250"/>
                </a:lnSpc>
              </a:pPr>
              <a:r>
                <a:rPr lang="en-US" sz="1875">
                  <a:solidFill>
                    <a:srgbClr val="FFFFFF"/>
                  </a:solidFill>
                  <a:latin typeface="Calibri (MS)"/>
                  <a:ea typeface="Calibri (MS)"/>
                  <a:cs typeface="Calibri (MS)"/>
                  <a:sym typeface="Calibri (MS)"/>
                </a:rPr>
                <a:t>Setelah kamus data dirilis, eksplorasi dikembalikan kepada peserta. Panitia hanya menjawab bila ada kekeliruan data atau hal penting lain.</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60120" y="576072"/>
            <a:ext cx="16322040" cy="384048"/>
            <a:chOff x="0" y="0"/>
            <a:chExt cx="21762720" cy="512064"/>
          </a:xfrm>
        </p:grpSpPr>
        <p:sp>
          <p:nvSpPr>
            <p:cNvPr id="4" name="Freeform 4"/>
            <p:cNvSpPr/>
            <p:nvPr/>
          </p:nvSpPr>
          <p:spPr>
            <a:xfrm>
              <a:off x="0" y="0"/>
              <a:ext cx="21762720" cy="512064"/>
            </a:xfrm>
            <a:custGeom>
              <a:avLst/>
              <a:gdLst/>
              <a:ahLst/>
              <a:cxnLst/>
              <a:rect l="l" t="t" r="r" b="b"/>
              <a:pathLst>
                <a:path w="21762720" h="512064">
                  <a:moveTo>
                    <a:pt x="0" y="0"/>
                  </a:moveTo>
                  <a:lnTo>
                    <a:pt x="21762720" y="0"/>
                  </a:lnTo>
                  <a:lnTo>
                    <a:pt x="21762720" y="512064"/>
                  </a:lnTo>
                  <a:lnTo>
                    <a:pt x="0" y="512064"/>
                  </a:lnTo>
                  <a:close/>
                </a:path>
              </a:pathLst>
            </a:custGeom>
            <a:blipFill>
              <a:blip r:embed="rId4">
                <a:alphaModFix amt="0"/>
              </a:blip>
              <a:stretch>
                <a:fillRect t="-778114" b="-778114"/>
              </a:stretch>
            </a:blipFill>
          </p:spPr>
        </p:sp>
        <p:sp>
          <p:nvSpPr>
            <p:cNvPr id="5" name="TextBox 5"/>
            <p:cNvSpPr txBox="1"/>
            <p:nvPr/>
          </p:nvSpPr>
          <p:spPr>
            <a:xfrm>
              <a:off x="0" y="-9525"/>
              <a:ext cx="21762720" cy="521589"/>
            </a:xfrm>
            <a:prstGeom prst="rect">
              <a:avLst/>
            </a:prstGeom>
          </p:spPr>
          <p:txBody>
            <a:bodyPr lIns="0" tIns="0" rIns="0" bIns="0" rtlCol="0" anchor="ctr"/>
            <a:lstStyle/>
            <a:p>
              <a:pPr algn="l">
                <a:lnSpc>
                  <a:spcPts val="1889"/>
                </a:lnSpc>
              </a:pPr>
              <a:r>
                <a:rPr lang="en-US" sz="1575" b="1" spc="330">
                  <a:solidFill>
                    <a:srgbClr val="E9A944"/>
                  </a:solidFill>
                  <a:latin typeface="Arial Bold"/>
                  <a:ea typeface="Arial Bold"/>
                  <a:cs typeface="Arial Bold"/>
                  <a:sym typeface="Arial Bold"/>
                </a:rPr>
                <a:t>BAGIAN 03</a:t>
              </a:r>
            </a:p>
          </p:txBody>
        </p:sp>
      </p:grpSp>
      <p:grpSp>
        <p:nvGrpSpPr>
          <p:cNvPr id="6" name="Group 6"/>
          <p:cNvGrpSpPr/>
          <p:nvPr/>
        </p:nvGrpSpPr>
        <p:grpSpPr>
          <a:xfrm>
            <a:off x="960120" y="987552"/>
            <a:ext cx="16322040" cy="850392"/>
            <a:chOff x="0" y="0"/>
            <a:chExt cx="21762720" cy="1133856"/>
          </a:xfrm>
        </p:grpSpPr>
        <p:sp>
          <p:nvSpPr>
            <p:cNvPr id="7" name="Freeform 7"/>
            <p:cNvSpPr/>
            <p:nvPr/>
          </p:nvSpPr>
          <p:spPr>
            <a:xfrm>
              <a:off x="0" y="0"/>
              <a:ext cx="21762720" cy="1133856"/>
            </a:xfrm>
            <a:custGeom>
              <a:avLst/>
              <a:gdLst/>
              <a:ahLst/>
              <a:cxnLst/>
              <a:rect l="l" t="t" r="r" b="b"/>
              <a:pathLst>
                <a:path w="21762720" h="1133856">
                  <a:moveTo>
                    <a:pt x="0" y="0"/>
                  </a:moveTo>
                  <a:lnTo>
                    <a:pt x="21762720" y="0"/>
                  </a:lnTo>
                  <a:lnTo>
                    <a:pt x="21762720" y="1133856"/>
                  </a:lnTo>
                  <a:lnTo>
                    <a:pt x="0" y="1133856"/>
                  </a:lnTo>
                  <a:close/>
                </a:path>
              </a:pathLst>
            </a:custGeom>
            <a:blipFill>
              <a:blip r:embed="rId4">
                <a:alphaModFix amt="0"/>
              </a:blip>
              <a:stretch>
                <a:fillRect t="-323987" b="-323987"/>
              </a:stretch>
            </a:blipFill>
          </p:spPr>
        </p:sp>
        <p:sp>
          <p:nvSpPr>
            <p:cNvPr id="8" name="TextBox 8"/>
            <p:cNvSpPr txBox="1"/>
            <p:nvPr/>
          </p:nvSpPr>
          <p:spPr>
            <a:xfrm>
              <a:off x="0" y="-28575"/>
              <a:ext cx="21762720" cy="1162431"/>
            </a:xfrm>
            <a:prstGeom prst="rect">
              <a:avLst/>
            </a:prstGeom>
          </p:spPr>
          <p:txBody>
            <a:bodyPr lIns="0" tIns="0" rIns="0" bIns="0" rtlCol="0" anchor="ctr"/>
            <a:lstStyle/>
            <a:p>
              <a:pPr algn="l">
                <a:lnSpc>
                  <a:spcPts val="5400"/>
                </a:lnSpc>
              </a:pPr>
              <a:r>
                <a:rPr lang="en-US" sz="4500" b="1" spc="59">
                  <a:solidFill>
                    <a:srgbClr val="FFFFFF"/>
                  </a:solidFill>
                  <a:latin typeface="Arial Bold"/>
                  <a:ea typeface="Arial Bold"/>
                  <a:cs typeface="Arial Bold"/>
                  <a:sym typeface="Arial Bold"/>
                </a:rPr>
                <a:t>Ketentuan Teknis Karya</a:t>
              </a:r>
            </a:p>
          </p:txBody>
        </p:sp>
      </p:grpSp>
      <p:grpSp>
        <p:nvGrpSpPr>
          <p:cNvPr id="9" name="Group 9"/>
          <p:cNvGrpSpPr/>
          <p:nvPr/>
        </p:nvGrpSpPr>
        <p:grpSpPr>
          <a:xfrm>
            <a:off x="960120" y="9491472"/>
            <a:ext cx="13990320" cy="384048"/>
            <a:chOff x="0" y="0"/>
            <a:chExt cx="18653760" cy="512064"/>
          </a:xfrm>
        </p:grpSpPr>
        <p:sp>
          <p:nvSpPr>
            <p:cNvPr id="10" name="Freeform 10"/>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4">
                <a:alphaModFix amt="0"/>
              </a:blip>
              <a:stretch>
                <a:fillRect t="-659812" b="-659812"/>
              </a:stretch>
            </a:blipFill>
          </p:spPr>
        </p:sp>
        <p:sp>
          <p:nvSpPr>
            <p:cNvPr id="11" name="TextBox 11"/>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grpSp>
        <p:nvGrpSpPr>
          <p:cNvPr id="12" name="Group 12"/>
          <p:cNvGrpSpPr/>
          <p:nvPr/>
        </p:nvGrpSpPr>
        <p:grpSpPr>
          <a:xfrm>
            <a:off x="16322040" y="9464040"/>
            <a:ext cx="1001268" cy="442875"/>
            <a:chOff x="0" y="0"/>
            <a:chExt cx="1335024" cy="590500"/>
          </a:xfrm>
        </p:grpSpPr>
        <p:sp>
          <p:nvSpPr>
            <p:cNvPr id="13" name="Freeform 13"/>
            <p:cNvSpPr/>
            <p:nvPr/>
          </p:nvSpPr>
          <p:spPr>
            <a:xfrm>
              <a:off x="0" y="0"/>
              <a:ext cx="1335024" cy="590500"/>
            </a:xfrm>
            <a:custGeom>
              <a:avLst/>
              <a:gdLst/>
              <a:ahLst/>
              <a:cxnLst/>
              <a:rect l="l" t="t" r="r" b="b"/>
              <a:pathLst>
                <a:path w="1335024" h="590500">
                  <a:moveTo>
                    <a:pt x="0" y="0"/>
                  </a:moveTo>
                  <a:lnTo>
                    <a:pt x="1335024" y="0"/>
                  </a:lnTo>
                  <a:lnTo>
                    <a:pt x="1335024" y="590500"/>
                  </a:lnTo>
                  <a:lnTo>
                    <a:pt x="0" y="590500"/>
                  </a:lnTo>
                  <a:close/>
                </a:path>
              </a:pathLst>
            </a:custGeom>
            <a:blipFill>
              <a:blip r:embed="rId4">
                <a:alphaModFix amt="0"/>
              </a:blip>
              <a:stretch>
                <a:fillRect l="-2727" r="-2727" b="7088"/>
              </a:stretch>
            </a:blipFill>
          </p:spPr>
        </p:sp>
        <p:sp>
          <p:nvSpPr>
            <p:cNvPr id="14" name="TextBox 14"/>
            <p:cNvSpPr txBox="1"/>
            <p:nvPr/>
          </p:nvSpPr>
          <p:spPr>
            <a:xfrm>
              <a:off x="0" y="-9525"/>
              <a:ext cx="1335024" cy="600025"/>
            </a:xfrm>
            <a:prstGeom prst="rect">
              <a:avLst/>
            </a:prstGeom>
          </p:spPr>
          <p:txBody>
            <a:bodyPr lIns="0" tIns="0" rIns="0" bIns="0" rtlCol="0" anchor="ctr"/>
            <a:lstStyle/>
            <a:p>
              <a:pPr algn="r">
                <a:lnSpc>
                  <a:spcPts val="1980"/>
                </a:lnSpc>
              </a:pPr>
              <a:r>
                <a:rPr lang="en-US" sz="1650" b="1">
                  <a:solidFill>
                    <a:srgbClr val="8A6420"/>
                  </a:solidFill>
                  <a:latin typeface="Courier New Bold"/>
                  <a:ea typeface="Courier New Bold"/>
                  <a:cs typeface="Courier New Bold"/>
                  <a:sym typeface="Courier New Bold"/>
                </a:rPr>
                <a:t>07</a:t>
              </a:r>
            </a:p>
          </p:txBody>
        </p:sp>
      </p:grpSp>
      <p:grpSp>
        <p:nvGrpSpPr>
          <p:cNvPr id="15" name="Group 15"/>
          <p:cNvGrpSpPr/>
          <p:nvPr/>
        </p:nvGrpSpPr>
        <p:grpSpPr>
          <a:xfrm>
            <a:off x="950595" y="2267331"/>
            <a:ext cx="5162550" cy="2693670"/>
            <a:chOff x="0" y="0"/>
            <a:chExt cx="6883400" cy="3591560"/>
          </a:xfrm>
        </p:grpSpPr>
        <p:sp>
          <p:nvSpPr>
            <p:cNvPr id="16" name="Freeform 16"/>
            <p:cNvSpPr/>
            <p:nvPr/>
          </p:nvSpPr>
          <p:spPr>
            <a:xfrm>
              <a:off x="0" y="0"/>
              <a:ext cx="6883400" cy="3591560"/>
            </a:xfrm>
            <a:custGeom>
              <a:avLst/>
              <a:gdLst/>
              <a:ahLst/>
              <a:cxnLst/>
              <a:rect l="l" t="t" r="r" b="b"/>
              <a:pathLst>
                <a:path w="6883400" h="3591560">
                  <a:moveTo>
                    <a:pt x="0" y="110490"/>
                  </a:moveTo>
                  <a:cubicBezTo>
                    <a:pt x="0" y="49530"/>
                    <a:pt x="49530" y="0"/>
                    <a:pt x="110490" y="0"/>
                  </a:cubicBezTo>
                  <a:lnTo>
                    <a:pt x="6772910" y="0"/>
                  </a:lnTo>
                  <a:cubicBezTo>
                    <a:pt x="6833997" y="0"/>
                    <a:pt x="6883400" y="49530"/>
                    <a:pt x="6883400" y="110490"/>
                  </a:cubicBezTo>
                  <a:lnTo>
                    <a:pt x="6883400" y="3481070"/>
                  </a:lnTo>
                  <a:cubicBezTo>
                    <a:pt x="6883400" y="3542157"/>
                    <a:pt x="6833870" y="3591560"/>
                    <a:pt x="6772910" y="3591560"/>
                  </a:cubicBezTo>
                  <a:lnTo>
                    <a:pt x="110490" y="3591560"/>
                  </a:lnTo>
                  <a:cubicBezTo>
                    <a:pt x="49403" y="3591560"/>
                    <a:pt x="0" y="3542030"/>
                    <a:pt x="0" y="3481070"/>
                  </a:cubicBezTo>
                  <a:close/>
                </a:path>
              </a:pathLst>
            </a:custGeom>
            <a:solidFill>
              <a:srgbClr val="0D1632">
                <a:alpha val="77255"/>
              </a:srgbClr>
            </a:solidFill>
            <a:ln w="19050" cap="sq">
              <a:solidFill>
                <a:srgbClr val="24406F"/>
              </a:solidFill>
              <a:prstDash val="solid"/>
              <a:miter/>
            </a:ln>
          </p:spPr>
        </p:sp>
      </p:grpSp>
      <p:grpSp>
        <p:nvGrpSpPr>
          <p:cNvPr id="17" name="Group 17"/>
          <p:cNvGrpSpPr/>
          <p:nvPr/>
        </p:nvGrpSpPr>
        <p:grpSpPr>
          <a:xfrm>
            <a:off x="1371600" y="2606040"/>
            <a:ext cx="4320540" cy="356616"/>
            <a:chOff x="0" y="0"/>
            <a:chExt cx="5760720" cy="475488"/>
          </a:xfrm>
        </p:grpSpPr>
        <p:sp>
          <p:nvSpPr>
            <p:cNvPr id="18" name="Freeform 18"/>
            <p:cNvSpPr/>
            <p:nvPr/>
          </p:nvSpPr>
          <p:spPr>
            <a:xfrm>
              <a:off x="0" y="0"/>
              <a:ext cx="5760720" cy="475488"/>
            </a:xfrm>
            <a:custGeom>
              <a:avLst/>
              <a:gdLst/>
              <a:ahLst/>
              <a:cxnLst/>
              <a:rect l="l" t="t" r="r" b="b"/>
              <a:pathLst>
                <a:path w="5760720" h="475488">
                  <a:moveTo>
                    <a:pt x="0" y="0"/>
                  </a:moveTo>
                  <a:lnTo>
                    <a:pt x="5760720" y="0"/>
                  </a:lnTo>
                  <a:lnTo>
                    <a:pt x="5760720" y="475488"/>
                  </a:lnTo>
                  <a:lnTo>
                    <a:pt x="0" y="475488"/>
                  </a:lnTo>
                  <a:close/>
                </a:path>
              </a:pathLst>
            </a:custGeom>
            <a:blipFill>
              <a:blip r:embed="rId4">
                <a:alphaModFix amt="0"/>
              </a:blip>
              <a:stretch>
                <a:fillRect t="-186068" b="-186068"/>
              </a:stretch>
            </a:blipFill>
          </p:spPr>
        </p:sp>
        <p:sp>
          <p:nvSpPr>
            <p:cNvPr id="19" name="TextBox 19"/>
            <p:cNvSpPr txBox="1"/>
            <p:nvPr/>
          </p:nvSpPr>
          <p:spPr>
            <a:xfrm>
              <a:off x="0" y="-19050"/>
              <a:ext cx="5760720"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SUMBER DATA</a:t>
              </a:r>
            </a:p>
          </p:txBody>
        </p:sp>
      </p:grpSp>
      <p:grpSp>
        <p:nvGrpSpPr>
          <p:cNvPr id="20" name="Group 20"/>
          <p:cNvGrpSpPr/>
          <p:nvPr/>
        </p:nvGrpSpPr>
        <p:grpSpPr>
          <a:xfrm>
            <a:off x="1371600" y="3072384"/>
            <a:ext cx="4320540" cy="967327"/>
            <a:chOff x="0" y="0"/>
            <a:chExt cx="5760720" cy="1289769"/>
          </a:xfrm>
        </p:grpSpPr>
        <p:sp>
          <p:nvSpPr>
            <p:cNvPr id="21" name="Freeform 21"/>
            <p:cNvSpPr/>
            <p:nvPr/>
          </p:nvSpPr>
          <p:spPr>
            <a:xfrm>
              <a:off x="0" y="0"/>
              <a:ext cx="5760720" cy="1289769"/>
            </a:xfrm>
            <a:custGeom>
              <a:avLst/>
              <a:gdLst/>
              <a:ahLst/>
              <a:cxnLst/>
              <a:rect l="l" t="t" r="r" b="b"/>
              <a:pathLst>
                <a:path w="5760720" h="1289769">
                  <a:moveTo>
                    <a:pt x="0" y="0"/>
                  </a:moveTo>
                  <a:lnTo>
                    <a:pt x="5760720" y="0"/>
                  </a:lnTo>
                  <a:lnTo>
                    <a:pt x="5760720" y="1289769"/>
                  </a:lnTo>
                  <a:lnTo>
                    <a:pt x="0" y="1289769"/>
                  </a:lnTo>
                  <a:close/>
                </a:path>
              </a:pathLst>
            </a:custGeom>
            <a:blipFill>
              <a:blip r:embed="rId4">
                <a:alphaModFix amt="0"/>
              </a:blip>
              <a:stretch>
                <a:fillRect t="-40237" b="-33821"/>
              </a:stretch>
            </a:blipFill>
          </p:spPr>
        </p:sp>
        <p:sp>
          <p:nvSpPr>
            <p:cNvPr id="22" name="TextBox 22"/>
            <p:cNvSpPr txBox="1"/>
            <p:nvPr/>
          </p:nvSpPr>
          <p:spPr>
            <a:xfrm>
              <a:off x="0" y="-19050"/>
              <a:ext cx="5760720" cy="1308819"/>
            </a:xfrm>
            <a:prstGeom prst="rect">
              <a:avLst/>
            </a:prstGeom>
          </p:spPr>
          <p:txBody>
            <a:bodyPr lIns="0" tIns="0" rIns="0" bIns="0" rtlCol="0" anchor="ctr"/>
            <a:lstStyle/>
            <a:p>
              <a:pPr algn="l">
                <a:lnSpc>
                  <a:spcPts val="3240"/>
                </a:lnSpc>
              </a:pPr>
              <a:r>
                <a:rPr lang="en-US" sz="2700" b="1">
                  <a:solidFill>
                    <a:srgbClr val="FFFFFF"/>
                  </a:solidFill>
                  <a:latin typeface="Arial Bold"/>
                  <a:ea typeface="Arial Bold"/>
                  <a:cs typeface="Arial Bold"/>
                  <a:sym typeface="Arial Bold"/>
                </a:rPr>
                <a:t>Hanya dataset yang diberikan</a:t>
              </a:r>
            </a:p>
          </p:txBody>
        </p:sp>
      </p:grpSp>
      <p:grpSp>
        <p:nvGrpSpPr>
          <p:cNvPr id="23" name="Group 23"/>
          <p:cNvGrpSpPr/>
          <p:nvPr/>
        </p:nvGrpSpPr>
        <p:grpSpPr>
          <a:xfrm>
            <a:off x="1371600" y="4005072"/>
            <a:ext cx="4320540" cy="822960"/>
            <a:chOff x="0" y="0"/>
            <a:chExt cx="5760720" cy="1097280"/>
          </a:xfrm>
        </p:grpSpPr>
        <p:sp>
          <p:nvSpPr>
            <p:cNvPr id="24" name="Freeform 24"/>
            <p:cNvSpPr/>
            <p:nvPr/>
          </p:nvSpPr>
          <p:spPr>
            <a:xfrm>
              <a:off x="0" y="0"/>
              <a:ext cx="5760720" cy="1097280"/>
            </a:xfrm>
            <a:custGeom>
              <a:avLst/>
              <a:gdLst/>
              <a:ahLst/>
              <a:cxnLst/>
              <a:rect l="l" t="t" r="r" b="b"/>
              <a:pathLst>
                <a:path w="5760720" h="1097280">
                  <a:moveTo>
                    <a:pt x="0" y="0"/>
                  </a:moveTo>
                  <a:lnTo>
                    <a:pt x="5760720" y="0"/>
                  </a:lnTo>
                  <a:lnTo>
                    <a:pt x="5760720" y="1097280"/>
                  </a:lnTo>
                  <a:lnTo>
                    <a:pt x="0" y="1097280"/>
                  </a:lnTo>
                  <a:close/>
                </a:path>
              </a:pathLst>
            </a:custGeom>
            <a:blipFill>
              <a:blip r:embed="rId4">
                <a:alphaModFix amt="0"/>
              </a:blip>
              <a:stretch>
                <a:fillRect t="-52296" b="-52296"/>
              </a:stretch>
            </a:blipFill>
          </p:spPr>
        </p:sp>
        <p:sp>
          <p:nvSpPr>
            <p:cNvPr id="25" name="TextBox 25"/>
            <p:cNvSpPr txBox="1"/>
            <p:nvPr/>
          </p:nvSpPr>
          <p:spPr>
            <a:xfrm>
              <a:off x="0" y="-38100"/>
              <a:ext cx="5760720" cy="1135380"/>
            </a:xfrm>
            <a:prstGeom prst="rect">
              <a:avLst/>
            </a:prstGeom>
          </p:spPr>
          <p:txBody>
            <a:bodyPr lIns="0" tIns="0" rIns="0" bIns="0" rtlCol="0" anchor="ctr"/>
            <a:lstStyle/>
            <a:p>
              <a:pPr algn="l">
                <a:lnSpc>
                  <a:spcPts val="2070"/>
                </a:lnSpc>
              </a:pPr>
              <a:r>
                <a:rPr lang="en-US" sz="1725">
                  <a:solidFill>
                    <a:srgbClr val="9FB0CE"/>
                  </a:solidFill>
                  <a:latin typeface="Calibri (MS)"/>
                  <a:ea typeface="Calibri (MS)"/>
                  <a:cs typeface="Calibri (MS)"/>
                  <a:sym typeface="Calibri (MS)"/>
                </a:rPr>
                <a:t>Pastikan sudah membaca kamus data supaya dapat memahami isi dataset</a:t>
              </a:r>
            </a:p>
          </p:txBody>
        </p:sp>
      </p:grpSp>
      <p:grpSp>
        <p:nvGrpSpPr>
          <p:cNvPr id="26" name="Group 26"/>
          <p:cNvGrpSpPr/>
          <p:nvPr/>
        </p:nvGrpSpPr>
        <p:grpSpPr>
          <a:xfrm>
            <a:off x="6560439" y="2267331"/>
            <a:ext cx="5162550" cy="2693670"/>
            <a:chOff x="0" y="0"/>
            <a:chExt cx="6883400" cy="3591560"/>
          </a:xfrm>
        </p:grpSpPr>
        <p:sp>
          <p:nvSpPr>
            <p:cNvPr id="27" name="Freeform 27"/>
            <p:cNvSpPr/>
            <p:nvPr/>
          </p:nvSpPr>
          <p:spPr>
            <a:xfrm>
              <a:off x="0" y="0"/>
              <a:ext cx="6883400" cy="3591560"/>
            </a:xfrm>
            <a:custGeom>
              <a:avLst/>
              <a:gdLst/>
              <a:ahLst/>
              <a:cxnLst/>
              <a:rect l="l" t="t" r="r" b="b"/>
              <a:pathLst>
                <a:path w="6883400" h="3591560">
                  <a:moveTo>
                    <a:pt x="0" y="110490"/>
                  </a:moveTo>
                  <a:cubicBezTo>
                    <a:pt x="0" y="49530"/>
                    <a:pt x="49530" y="0"/>
                    <a:pt x="110490" y="0"/>
                  </a:cubicBezTo>
                  <a:lnTo>
                    <a:pt x="6772910" y="0"/>
                  </a:lnTo>
                  <a:cubicBezTo>
                    <a:pt x="6833997" y="0"/>
                    <a:pt x="6883400" y="49530"/>
                    <a:pt x="6883400" y="110490"/>
                  </a:cubicBezTo>
                  <a:lnTo>
                    <a:pt x="6883400" y="3481070"/>
                  </a:lnTo>
                  <a:cubicBezTo>
                    <a:pt x="6883400" y="3542157"/>
                    <a:pt x="6833870" y="3591560"/>
                    <a:pt x="6772910" y="3591560"/>
                  </a:cubicBezTo>
                  <a:lnTo>
                    <a:pt x="110490" y="3591560"/>
                  </a:lnTo>
                  <a:cubicBezTo>
                    <a:pt x="49403" y="3591560"/>
                    <a:pt x="0" y="3542030"/>
                    <a:pt x="0" y="3481070"/>
                  </a:cubicBezTo>
                  <a:close/>
                </a:path>
              </a:pathLst>
            </a:custGeom>
            <a:solidFill>
              <a:srgbClr val="0D1632">
                <a:alpha val="77255"/>
              </a:srgbClr>
            </a:solidFill>
            <a:ln w="19050" cap="sq">
              <a:solidFill>
                <a:srgbClr val="24406F"/>
              </a:solidFill>
              <a:prstDash val="solid"/>
              <a:miter/>
            </a:ln>
          </p:spPr>
        </p:sp>
      </p:grpSp>
      <p:grpSp>
        <p:nvGrpSpPr>
          <p:cNvPr id="28" name="Group 28"/>
          <p:cNvGrpSpPr/>
          <p:nvPr/>
        </p:nvGrpSpPr>
        <p:grpSpPr>
          <a:xfrm>
            <a:off x="6981444" y="2606040"/>
            <a:ext cx="4320540" cy="356616"/>
            <a:chOff x="0" y="0"/>
            <a:chExt cx="5760720" cy="475488"/>
          </a:xfrm>
        </p:grpSpPr>
        <p:sp>
          <p:nvSpPr>
            <p:cNvPr id="29" name="Freeform 29"/>
            <p:cNvSpPr/>
            <p:nvPr/>
          </p:nvSpPr>
          <p:spPr>
            <a:xfrm>
              <a:off x="0" y="0"/>
              <a:ext cx="5760720" cy="475488"/>
            </a:xfrm>
            <a:custGeom>
              <a:avLst/>
              <a:gdLst/>
              <a:ahLst/>
              <a:cxnLst/>
              <a:rect l="l" t="t" r="r" b="b"/>
              <a:pathLst>
                <a:path w="5760720" h="475488">
                  <a:moveTo>
                    <a:pt x="0" y="0"/>
                  </a:moveTo>
                  <a:lnTo>
                    <a:pt x="5760720" y="0"/>
                  </a:lnTo>
                  <a:lnTo>
                    <a:pt x="5760720" y="475488"/>
                  </a:lnTo>
                  <a:lnTo>
                    <a:pt x="0" y="475488"/>
                  </a:lnTo>
                  <a:close/>
                </a:path>
              </a:pathLst>
            </a:custGeom>
            <a:blipFill>
              <a:blip r:embed="rId4">
                <a:alphaModFix amt="0"/>
              </a:blip>
              <a:stretch>
                <a:fillRect t="-186068" b="-186068"/>
              </a:stretch>
            </a:blipFill>
          </p:spPr>
        </p:sp>
        <p:sp>
          <p:nvSpPr>
            <p:cNvPr id="30" name="TextBox 30"/>
            <p:cNvSpPr txBox="1"/>
            <p:nvPr/>
          </p:nvSpPr>
          <p:spPr>
            <a:xfrm>
              <a:off x="0" y="-19050"/>
              <a:ext cx="5760720"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UKURAN &amp; ORIENTASI</a:t>
              </a:r>
            </a:p>
          </p:txBody>
        </p:sp>
      </p:grpSp>
      <p:grpSp>
        <p:nvGrpSpPr>
          <p:cNvPr id="31" name="Group 31"/>
          <p:cNvGrpSpPr/>
          <p:nvPr/>
        </p:nvGrpSpPr>
        <p:grpSpPr>
          <a:xfrm>
            <a:off x="6981444" y="3072384"/>
            <a:ext cx="4320540" cy="905256"/>
            <a:chOff x="0" y="0"/>
            <a:chExt cx="5760720" cy="1207008"/>
          </a:xfrm>
        </p:grpSpPr>
        <p:sp>
          <p:nvSpPr>
            <p:cNvPr id="32" name="Freeform 32"/>
            <p:cNvSpPr/>
            <p:nvPr/>
          </p:nvSpPr>
          <p:spPr>
            <a:xfrm>
              <a:off x="0" y="0"/>
              <a:ext cx="5760720" cy="1207008"/>
            </a:xfrm>
            <a:custGeom>
              <a:avLst/>
              <a:gdLst/>
              <a:ahLst/>
              <a:cxnLst/>
              <a:rect l="l" t="t" r="r" b="b"/>
              <a:pathLst>
                <a:path w="5760720" h="1207008">
                  <a:moveTo>
                    <a:pt x="0" y="0"/>
                  </a:moveTo>
                  <a:lnTo>
                    <a:pt x="5760720" y="0"/>
                  </a:lnTo>
                  <a:lnTo>
                    <a:pt x="5760720" y="1207008"/>
                  </a:lnTo>
                  <a:lnTo>
                    <a:pt x="0" y="1207008"/>
                  </a:lnTo>
                  <a:close/>
                </a:path>
              </a:pathLst>
            </a:custGeom>
            <a:blipFill>
              <a:blip r:embed="rId4">
                <a:alphaModFix amt="0"/>
              </a:blip>
              <a:stretch>
                <a:fillRect t="-42996" b="-42996"/>
              </a:stretch>
            </a:blipFill>
          </p:spPr>
        </p:sp>
        <p:sp>
          <p:nvSpPr>
            <p:cNvPr id="33" name="TextBox 33"/>
            <p:cNvSpPr txBox="1"/>
            <p:nvPr/>
          </p:nvSpPr>
          <p:spPr>
            <a:xfrm>
              <a:off x="0" y="-19050"/>
              <a:ext cx="5760720" cy="1226058"/>
            </a:xfrm>
            <a:prstGeom prst="rect">
              <a:avLst/>
            </a:prstGeom>
          </p:spPr>
          <p:txBody>
            <a:bodyPr lIns="0" tIns="0" rIns="0" bIns="0" rtlCol="0" anchor="ctr"/>
            <a:lstStyle/>
            <a:p>
              <a:pPr algn="l">
                <a:lnSpc>
                  <a:spcPts val="3240"/>
                </a:lnSpc>
              </a:pPr>
              <a:r>
                <a:rPr lang="en-US" sz="2700" b="1">
                  <a:solidFill>
                    <a:srgbClr val="FFFFFF"/>
                  </a:solidFill>
                  <a:latin typeface="Arial Bold"/>
                  <a:ea typeface="Arial Bold"/>
                  <a:cs typeface="Arial Bold"/>
                  <a:sym typeface="Arial Bold"/>
                </a:rPr>
                <a:t>A3 · Portrait</a:t>
              </a:r>
            </a:p>
          </p:txBody>
        </p:sp>
      </p:grpSp>
      <p:grpSp>
        <p:nvGrpSpPr>
          <p:cNvPr id="34" name="Group 34"/>
          <p:cNvGrpSpPr/>
          <p:nvPr/>
        </p:nvGrpSpPr>
        <p:grpSpPr>
          <a:xfrm>
            <a:off x="6981444" y="4005072"/>
            <a:ext cx="3442022" cy="822960"/>
            <a:chOff x="0" y="0"/>
            <a:chExt cx="4589363" cy="1097280"/>
          </a:xfrm>
        </p:grpSpPr>
        <p:sp>
          <p:nvSpPr>
            <p:cNvPr id="35" name="Freeform 35"/>
            <p:cNvSpPr/>
            <p:nvPr/>
          </p:nvSpPr>
          <p:spPr>
            <a:xfrm>
              <a:off x="0" y="0"/>
              <a:ext cx="4589363" cy="1097280"/>
            </a:xfrm>
            <a:custGeom>
              <a:avLst/>
              <a:gdLst/>
              <a:ahLst/>
              <a:cxnLst/>
              <a:rect l="l" t="t" r="r" b="b"/>
              <a:pathLst>
                <a:path w="4589363" h="1097280">
                  <a:moveTo>
                    <a:pt x="0" y="0"/>
                  </a:moveTo>
                  <a:lnTo>
                    <a:pt x="4589363" y="0"/>
                  </a:lnTo>
                  <a:lnTo>
                    <a:pt x="4589363" y="1097280"/>
                  </a:lnTo>
                  <a:lnTo>
                    <a:pt x="0" y="1097280"/>
                  </a:lnTo>
                  <a:close/>
                </a:path>
              </a:pathLst>
            </a:custGeom>
            <a:blipFill>
              <a:blip r:embed="rId4">
                <a:alphaModFix amt="0"/>
              </a:blip>
              <a:stretch>
                <a:fillRect t="-52296" r="-25523" b="-52296"/>
              </a:stretch>
            </a:blipFill>
          </p:spPr>
        </p:sp>
        <p:sp>
          <p:nvSpPr>
            <p:cNvPr id="36" name="TextBox 36"/>
            <p:cNvSpPr txBox="1"/>
            <p:nvPr/>
          </p:nvSpPr>
          <p:spPr>
            <a:xfrm>
              <a:off x="0" y="-38100"/>
              <a:ext cx="4589363" cy="1135380"/>
            </a:xfrm>
            <a:prstGeom prst="rect">
              <a:avLst/>
            </a:prstGeom>
          </p:spPr>
          <p:txBody>
            <a:bodyPr lIns="0" tIns="0" rIns="0" bIns="0" rtlCol="0" anchor="ctr"/>
            <a:lstStyle/>
            <a:p>
              <a:pPr algn="l">
                <a:lnSpc>
                  <a:spcPts val="2070"/>
                </a:lnSpc>
              </a:pPr>
              <a:r>
                <a:rPr lang="en-US" sz="1725">
                  <a:solidFill>
                    <a:srgbClr val="9FB0CE"/>
                  </a:solidFill>
                  <a:latin typeface="Calibri (MS)"/>
                  <a:ea typeface="Calibri (MS)"/>
                  <a:cs typeface="Calibri (MS)"/>
                  <a:sym typeface="Calibri (MS)"/>
                </a:rPr>
                <a:t>Atau 1080 × 3000 px. Rasio portrait, tanpa pengecualian, hanya 1 halaman</a:t>
              </a:r>
            </a:p>
          </p:txBody>
        </p:sp>
      </p:grpSp>
      <p:grpSp>
        <p:nvGrpSpPr>
          <p:cNvPr id="37" name="Group 37"/>
          <p:cNvGrpSpPr/>
          <p:nvPr/>
        </p:nvGrpSpPr>
        <p:grpSpPr>
          <a:xfrm>
            <a:off x="12170283" y="2267331"/>
            <a:ext cx="5162550" cy="2693670"/>
            <a:chOff x="0" y="0"/>
            <a:chExt cx="6883400" cy="3591560"/>
          </a:xfrm>
        </p:grpSpPr>
        <p:sp>
          <p:nvSpPr>
            <p:cNvPr id="38" name="Freeform 38"/>
            <p:cNvSpPr/>
            <p:nvPr/>
          </p:nvSpPr>
          <p:spPr>
            <a:xfrm>
              <a:off x="0" y="0"/>
              <a:ext cx="6883400" cy="3591560"/>
            </a:xfrm>
            <a:custGeom>
              <a:avLst/>
              <a:gdLst/>
              <a:ahLst/>
              <a:cxnLst/>
              <a:rect l="l" t="t" r="r" b="b"/>
              <a:pathLst>
                <a:path w="6883400" h="3591560">
                  <a:moveTo>
                    <a:pt x="0" y="110490"/>
                  </a:moveTo>
                  <a:cubicBezTo>
                    <a:pt x="0" y="49530"/>
                    <a:pt x="49530" y="0"/>
                    <a:pt x="110490" y="0"/>
                  </a:cubicBezTo>
                  <a:lnTo>
                    <a:pt x="6772910" y="0"/>
                  </a:lnTo>
                  <a:cubicBezTo>
                    <a:pt x="6833997" y="0"/>
                    <a:pt x="6883400" y="49530"/>
                    <a:pt x="6883400" y="110490"/>
                  </a:cubicBezTo>
                  <a:lnTo>
                    <a:pt x="6883400" y="3481070"/>
                  </a:lnTo>
                  <a:cubicBezTo>
                    <a:pt x="6883400" y="3542157"/>
                    <a:pt x="6833870" y="3591560"/>
                    <a:pt x="6772910" y="3591560"/>
                  </a:cubicBezTo>
                  <a:lnTo>
                    <a:pt x="110490" y="3591560"/>
                  </a:lnTo>
                  <a:cubicBezTo>
                    <a:pt x="49403" y="3591560"/>
                    <a:pt x="0" y="3542030"/>
                    <a:pt x="0" y="3481070"/>
                  </a:cubicBezTo>
                  <a:close/>
                </a:path>
              </a:pathLst>
            </a:custGeom>
            <a:solidFill>
              <a:srgbClr val="0D1632">
                <a:alpha val="77255"/>
              </a:srgbClr>
            </a:solidFill>
            <a:ln w="19050" cap="sq">
              <a:solidFill>
                <a:srgbClr val="24406F"/>
              </a:solidFill>
              <a:prstDash val="solid"/>
              <a:miter/>
            </a:ln>
          </p:spPr>
        </p:sp>
      </p:grpSp>
      <p:grpSp>
        <p:nvGrpSpPr>
          <p:cNvPr id="39" name="Group 39"/>
          <p:cNvGrpSpPr/>
          <p:nvPr/>
        </p:nvGrpSpPr>
        <p:grpSpPr>
          <a:xfrm>
            <a:off x="12591288" y="2606040"/>
            <a:ext cx="4320540" cy="356616"/>
            <a:chOff x="0" y="0"/>
            <a:chExt cx="5760720" cy="475488"/>
          </a:xfrm>
        </p:grpSpPr>
        <p:sp>
          <p:nvSpPr>
            <p:cNvPr id="40" name="Freeform 40"/>
            <p:cNvSpPr/>
            <p:nvPr/>
          </p:nvSpPr>
          <p:spPr>
            <a:xfrm>
              <a:off x="0" y="0"/>
              <a:ext cx="5760720" cy="475488"/>
            </a:xfrm>
            <a:custGeom>
              <a:avLst/>
              <a:gdLst/>
              <a:ahLst/>
              <a:cxnLst/>
              <a:rect l="l" t="t" r="r" b="b"/>
              <a:pathLst>
                <a:path w="5760720" h="475488">
                  <a:moveTo>
                    <a:pt x="0" y="0"/>
                  </a:moveTo>
                  <a:lnTo>
                    <a:pt x="5760720" y="0"/>
                  </a:lnTo>
                  <a:lnTo>
                    <a:pt x="5760720" y="475488"/>
                  </a:lnTo>
                  <a:lnTo>
                    <a:pt x="0" y="475488"/>
                  </a:lnTo>
                  <a:close/>
                </a:path>
              </a:pathLst>
            </a:custGeom>
            <a:blipFill>
              <a:blip r:embed="rId4">
                <a:alphaModFix amt="0"/>
              </a:blip>
              <a:stretch>
                <a:fillRect t="-186068" b="-186068"/>
              </a:stretch>
            </a:blipFill>
          </p:spPr>
        </p:sp>
        <p:sp>
          <p:nvSpPr>
            <p:cNvPr id="41" name="TextBox 41"/>
            <p:cNvSpPr txBox="1"/>
            <p:nvPr/>
          </p:nvSpPr>
          <p:spPr>
            <a:xfrm>
              <a:off x="0" y="-19050"/>
              <a:ext cx="5760720"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FORMAT FILE</a:t>
              </a:r>
            </a:p>
          </p:txBody>
        </p:sp>
      </p:grpSp>
      <p:grpSp>
        <p:nvGrpSpPr>
          <p:cNvPr id="42" name="Group 42"/>
          <p:cNvGrpSpPr/>
          <p:nvPr/>
        </p:nvGrpSpPr>
        <p:grpSpPr>
          <a:xfrm>
            <a:off x="12591288" y="3072384"/>
            <a:ext cx="4320540" cy="905256"/>
            <a:chOff x="0" y="0"/>
            <a:chExt cx="5760720" cy="1207008"/>
          </a:xfrm>
        </p:grpSpPr>
        <p:sp>
          <p:nvSpPr>
            <p:cNvPr id="43" name="Freeform 43"/>
            <p:cNvSpPr/>
            <p:nvPr/>
          </p:nvSpPr>
          <p:spPr>
            <a:xfrm>
              <a:off x="0" y="0"/>
              <a:ext cx="5760720" cy="1207008"/>
            </a:xfrm>
            <a:custGeom>
              <a:avLst/>
              <a:gdLst/>
              <a:ahLst/>
              <a:cxnLst/>
              <a:rect l="l" t="t" r="r" b="b"/>
              <a:pathLst>
                <a:path w="5760720" h="1207008">
                  <a:moveTo>
                    <a:pt x="0" y="0"/>
                  </a:moveTo>
                  <a:lnTo>
                    <a:pt x="5760720" y="0"/>
                  </a:lnTo>
                  <a:lnTo>
                    <a:pt x="5760720" y="1207008"/>
                  </a:lnTo>
                  <a:lnTo>
                    <a:pt x="0" y="1207008"/>
                  </a:lnTo>
                  <a:close/>
                </a:path>
              </a:pathLst>
            </a:custGeom>
            <a:blipFill>
              <a:blip r:embed="rId4">
                <a:alphaModFix amt="0"/>
              </a:blip>
              <a:stretch>
                <a:fillRect t="-42996" b="-42996"/>
              </a:stretch>
            </a:blipFill>
          </p:spPr>
        </p:sp>
        <p:sp>
          <p:nvSpPr>
            <p:cNvPr id="44" name="TextBox 44"/>
            <p:cNvSpPr txBox="1"/>
            <p:nvPr/>
          </p:nvSpPr>
          <p:spPr>
            <a:xfrm>
              <a:off x="0" y="-19050"/>
              <a:ext cx="5760720" cy="1226058"/>
            </a:xfrm>
            <a:prstGeom prst="rect">
              <a:avLst/>
            </a:prstGeom>
          </p:spPr>
          <p:txBody>
            <a:bodyPr lIns="0" tIns="0" rIns="0" bIns="0" rtlCol="0" anchor="ctr"/>
            <a:lstStyle/>
            <a:p>
              <a:pPr algn="l">
                <a:lnSpc>
                  <a:spcPts val="3240"/>
                </a:lnSpc>
              </a:pPr>
              <a:r>
                <a:rPr lang="en-US" sz="2700" b="1">
                  <a:solidFill>
                    <a:srgbClr val="FFFFFF"/>
                  </a:solidFill>
                  <a:latin typeface="Arial Bold"/>
                  <a:ea typeface="Arial Bold"/>
                  <a:cs typeface="Arial Bold"/>
                  <a:sym typeface="Arial Bold"/>
                </a:rPr>
                <a:t>PDF dan PNG</a:t>
              </a:r>
            </a:p>
          </p:txBody>
        </p:sp>
      </p:grpSp>
      <p:grpSp>
        <p:nvGrpSpPr>
          <p:cNvPr id="45" name="Group 45"/>
          <p:cNvGrpSpPr/>
          <p:nvPr/>
        </p:nvGrpSpPr>
        <p:grpSpPr>
          <a:xfrm>
            <a:off x="12591288" y="4005072"/>
            <a:ext cx="4320540" cy="822960"/>
            <a:chOff x="0" y="0"/>
            <a:chExt cx="5760720" cy="1097280"/>
          </a:xfrm>
        </p:grpSpPr>
        <p:sp>
          <p:nvSpPr>
            <p:cNvPr id="46" name="Freeform 46"/>
            <p:cNvSpPr/>
            <p:nvPr/>
          </p:nvSpPr>
          <p:spPr>
            <a:xfrm>
              <a:off x="0" y="0"/>
              <a:ext cx="5760720" cy="1097280"/>
            </a:xfrm>
            <a:custGeom>
              <a:avLst/>
              <a:gdLst/>
              <a:ahLst/>
              <a:cxnLst/>
              <a:rect l="l" t="t" r="r" b="b"/>
              <a:pathLst>
                <a:path w="5760720" h="1097280">
                  <a:moveTo>
                    <a:pt x="0" y="0"/>
                  </a:moveTo>
                  <a:lnTo>
                    <a:pt x="5760720" y="0"/>
                  </a:lnTo>
                  <a:lnTo>
                    <a:pt x="5760720" y="1097280"/>
                  </a:lnTo>
                  <a:lnTo>
                    <a:pt x="0" y="1097280"/>
                  </a:lnTo>
                  <a:close/>
                </a:path>
              </a:pathLst>
            </a:custGeom>
            <a:blipFill>
              <a:blip r:embed="rId4">
                <a:alphaModFix amt="0"/>
              </a:blip>
              <a:stretch>
                <a:fillRect t="-52296" b="-52296"/>
              </a:stretch>
            </a:blipFill>
          </p:spPr>
        </p:sp>
        <p:sp>
          <p:nvSpPr>
            <p:cNvPr id="47" name="TextBox 47"/>
            <p:cNvSpPr txBox="1"/>
            <p:nvPr/>
          </p:nvSpPr>
          <p:spPr>
            <a:xfrm>
              <a:off x="0" y="-38100"/>
              <a:ext cx="5760720" cy="1135380"/>
            </a:xfrm>
            <a:prstGeom prst="rect">
              <a:avLst/>
            </a:prstGeom>
          </p:spPr>
          <p:txBody>
            <a:bodyPr lIns="0" tIns="0" rIns="0" bIns="0" rtlCol="0" anchor="ctr"/>
            <a:lstStyle/>
            <a:p>
              <a:pPr algn="l">
                <a:lnSpc>
                  <a:spcPts val="2070"/>
                </a:lnSpc>
              </a:pPr>
              <a:r>
                <a:rPr lang="en-US" sz="1725">
                  <a:solidFill>
                    <a:srgbClr val="9FB0CE"/>
                  </a:solidFill>
                  <a:latin typeface="Calibri (MS)"/>
                  <a:ea typeface="Calibri (MS)"/>
                  <a:cs typeface="Calibri (MS)"/>
                  <a:sym typeface="Calibri (MS)"/>
                </a:rPr>
                <a:t>Resolusi tinggi, minimal 150 dpi, maks 20 MB</a:t>
              </a:r>
            </a:p>
          </p:txBody>
        </p:sp>
      </p:grpSp>
      <p:grpSp>
        <p:nvGrpSpPr>
          <p:cNvPr id="48" name="Group 48"/>
          <p:cNvGrpSpPr/>
          <p:nvPr/>
        </p:nvGrpSpPr>
        <p:grpSpPr>
          <a:xfrm>
            <a:off x="950595" y="5271135"/>
            <a:ext cx="5162550" cy="2693670"/>
            <a:chOff x="0" y="0"/>
            <a:chExt cx="6883400" cy="3591560"/>
          </a:xfrm>
        </p:grpSpPr>
        <p:sp>
          <p:nvSpPr>
            <p:cNvPr id="49" name="Freeform 49"/>
            <p:cNvSpPr/>
            <p:nvPr/>
          </p:nvSpPr>
          <p:spPr>
            <a:xfrm>
              <a:off x="0" y="0"/>
              <a:ext cx="6883400" cy="3591560"/>
            </a:xfrm>
            <a:custGeom>
              <a:avLst/>
              <a:gdLst/>
              <a:ahLst/>
              <a:cxnLst/>
              <a:rect l="l" t="t" r="r" b="b"/>
              <a:pathLst>
                <a:path w="6883400" h="3591560">
                  <a:moveTo>
                    <a:pt x="0" y="110490"/>
                  </a:moveTo>
                  <a:cubicBezTo>
                    <a:pt x="0" y="49530"/>
                    <a:pt x="49530" y="0"/>
                    <a:pt x="110490" y="0"/>
                  </a:cubicBezTo>
                  <a:lnTo>
                    <a:pt x="6772910" y="0"/>
                  </a:lnTo>
                  <a:cubicBezTo>
                    <a:pt x="6833997" y="0"/>
                    <a:pt x="6883400" y="49530"/>
                    <a:pt x="6883400" y="110490"/>
                  </a:cubicBezTo>
                  <a:lnTo>
                    <a:pt x="6883400" y="3481070"/>
                  </a:lnTo>
                  <a:cubicBezTo>
                    <a:pt x="6883400" y="3542157"/>
                    <a:pt x="6833870" y="3591560"/>
                    <a:pt x="6772910" y="3591560"/>
                  </a:cubicBezTo>
                  <a:lnTo>
                    <a:pt x="110490" y="3591560"/>
                  </a:lnTo>
                  <a:cubicBezTo>
                    <a:pt x="49403" y="3591560"/>
                    <a:pt x="0" y="3542030"/>
                    <a:pt x="0" y="3481070"/>
                  </a:cubicBezTo>
                  <a:close/>
                </a:path>
              </a:pathLst>
            </a:custGeom>
            <a:solidFill>
              <a:srgbClr val="0D1632">
                <a:alpha val="77255"/>
              </a:srgbClr>
            </a:solidFill>
            <a:ln w="19050" cap="sq">
              <a:solidFill>
                <a:srgbClr val="24406F"/>
              </a:solidFill>
              <a:prstDash val="solid"/>
              <a:miter/>
            </a:ln>
          </p:spPr>
        </p:sp>
      </p:grpSp>
      <p:grpSp>
        <p:nvGrpSpPr>
          <p:cNvPr id="50" name="Group 50"/>
          <p:cNvGrpSpPr/>
          <p:nvPr/>
        </p:nvGrpSpPr>
        <p:grpSpPr>
          <a:xfrm>
            <a:off x="1371600" y="5609844"/>
            <a:ext cx="4320540" cy="356616"/>
            <a:chOff x="0" y="0"/>
            <a:chExt cx="5760720" cy="475488"/>
          </a:xfrm>
        </p:grpSpPr>
        <p:sp>
          <p:nvSpPr>
            <p:cNvPr id="51" name="Freeform 51"/>
            <p:cNvSpPr/>
            <p:nvPr/>
          </p:nvSpPr>
          <p:spPr>
            <a:xfrm>
              <a:off x="0" y="0"/>
              <a:ext cx="5760720" cy="475488"/>
            </a:xfrm>
            <a:custGeom>
              <a:avLst/>
              <a:gdLst/>
              <a:ahLst/>
              <a:cxnLst/>
              <a:rect l="l" t="t" r="r" b="b"/>
              <a:pathLst>
                <a:path w="5760720" h="475488">
                  <a:moveTo>
                    <a:pt x="0" y="0"/>
                  </a:moveTo>
                  <a:lnTo>
                    <a:pt x="5760720" y="0"/>
                  </a:lnTo>
                  <a:lnTo>
                    <a:pt x="5760720" y="475488"/>
                  </a:lnTo>
                  <a:lnTo>
                    <a:pt x="0" y="475488"/>
                  </a:lnTo>
                  <a:close/>
                </a:path>
              </a:pathLst>
            </a:custGeom>
            <a:blipFill>
              <a:blip r:embed="rId4">
                <a:alphaModFix amt="0"/>
              </a:blip>
              <a:stretch>
                <a:fillRect t="-186068" b="-186068"/>
              </a:stretch>
            </a:blipFill>
          </p:spPr>
        </p:sp>
        <p:sp>
          <p:nvSpPr>
            <p:cNvPr id="52" name="TextBox 52"/>
            <p:cNvSpPr txBox="1"/>
            <p:nvPr/>
          </p:nvSpPr>
          <p:spPr>
            <a:xfrm>
              <a:off x="0" y="-19050"/>
              <a:ext cx="5760720"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DURASI</a:t>
              </a:r>
            </a:p>
          </p:txBody>
        </p:sp>
      </p:grpSp>
      <p:grpSp>
        <p:nvGrpSpPr>
          <p:cNvPr id="53" name="Group 53"/>
          <p:cNvGrpSpPr/>
          <p:nvPr/>
        </p:nvGrpSpPr>
        <p:grpSpPr>
          <a:xfrm>
            <a:off x="1371600" y="6076188"/>
            <a:ext cx="4320540" cy="905256"/>
            <a:chOff x="0" y="0"/>
            <a:chExt cx="5760720" cy="1207008"/>
          </a:xfrm>
        </p:grpSpPr>
        <p:sp>
          <p:nvSpPr>
            <p:cNvPr id="54" name="Freeform 54"/>
            <p:cNvSpPr/>
            <p:nvPr/>
          </p:nvSpPr>
          <p:spPr>
            <a:xfrm>
              <a:off x="0" y="0"/>
              <a:ext cx="5760720" cy="1207008"/>
            </a:xfrm>
            <a:custGeom>
              <a:avLst/>
              <a:gdLst/>
              <a:ahLst/>
              <a:cxnLst/>
              <a:rect l="l" t="t" r="r" b="b"/>
              <a:pathLst>
                <a:path w="5760720" h="1207008">
                  <a:moveTo>
                    <a:pt x="0" y="0"/>
                  </a:moveTo>
                  <a:lnTo>
                    <a:pt x="5760720" y="0"/>
                  </a:lnTo>
                  <a:lnTo>
                    <a:pt x="5760720" y="1207008"/>
                  </a:lnTo>
                  <a:lnTo>
                    <a:pt x="0" y="1207008"/>
                  </a:lnTo>
                  <a:close/>
                </a:path>
              </a:pathLst>
            </a:custGeom>
            <a:blipFill>
              <a:blip r:embed="rId4">
                <a:alphaModFix amt="0"/>
              </a:blip>
              <a:stretch>
                <a:fillRect t="-42996" b="-42996"/>
              </a:stretch>
            </a:blipFill>
          </p:spPr>
        </p:sp>
        <p:sp>
          <p:nvSpPr>
            <p:cNvPr id="55" name="TextBox 55"/>
            <p:cNvSpPr txBox="1"/>
            <p:nvPr/>
          </p:nvSpPr>
          <p:spPr>
            <a:xfrm>
              <a:off x="0" y="-19050"/>
              <a:ext cx="5760720" cy="1226058"/>
            </a:xfrm>
            <a:prstGeom prst="rect">
              <a:avLst/>
            </a:prstGeom>
          </p:spPr>
          <p:txBody>
            <a:bodyPr lIns="0" tIns="0" rIns="0" bIns="0" rtlCol="0" anchor="ctr"/>
            <a:lstStyle/>
            <a:p>
              <a:pPr algn="l">
                <a:lnSpc>
                  <a:spcPts val="3240"/>
                </a:lnSpc>
              </a:pPr>
              <a:r>
                <a:rPr lang="en-US" sz="2700" b="1">
                  <a:solidFill>
                    <a:srgbClr val="FFFFFF"/>
                  </a:solidFill>
                  <a:latin typeface="Arial Bold"/>
                  <a:ea typeface="Arial Bold"/>
                  <a:cs typeface="Arial Bold"/>
                  <a:sym typeface="Arial Bold"/>
                </a:rPr>
                <a:t>5 Jam</a:t>
              </a:r>
            </a:p>
          </p:txBody>
        </p:sp>
      </p:grpSp>
      <p:grpSp>
        <p:nvGrpSpPr>
          <p:cNvPr id="56" name="Group 56"/>
          <p:cNvGrpSpPr/>
          <p:nvPr/>
        </p:nvGrpSpPr>
        <p:grpSpPr>
          <a:xfrm>
            <a:off x="1371600" y="7008876"/>
            <a:ext cx="4320540" cy="822960"/>
            <a:chOff x="0" y="0"/>
            <a:chExt cx="5760720" cy="1097280"/>
          </a:xfrm>
        </p:grpSpPr>
        <p:sp>
          <p:nvSpPr>
            <p:cNvPr id="57" name="Freeform 57"/>
            <p:cNvSpPr/>
            <p:nvPr/>
          </p:nvSpPr>
          <p:spPr>
            <a:xfrm>
              <a:off x="0" y="0"/>
              <a:ext cx="5760720" cy="1097280"/>
            </a:xfrm>
            <a:custGeom>
              <a:avLst/>
              <a:gdLst/>
              <a:ahLst/>
              <a:cxnLst/>
              <a:rect l="l" t="t" r="r" b="b"/>
              <a:pathLst>
                <a:path w="5760720" h="1097280">
                  <a:moveTo>
                    <a:pt x="0" y="0"/>
                  </a:moveTo>
                  <a:lnTo>
                    <a:pt x="5760720" y="0"/>
                  </a:lnTo>
                  <a:lnTo>
                    <a:pt x="5760720" y="1097280"/>
                  </a:lnTo>
                  <a:lnTo>
                    <a:pt x="0" y="1097280"/>
                  </a:lnTo>
                  <a:close/>
                </a:path>
              </a:pathLst>
            </a:custGeom>
            <a:blipFill>
              <a:blip r:embed="rId4">
                <a:alphaModFix amt="0"/>
              </a:blip>
              <a:stretch>
                <a:fillRect t="-52296" b="-52296"/>
              </a:stretch>
            </a:blipFill>
          </p:spPr>
        </p:sp>
        <p:sp>
          <p:nvSpPr>
            <p:cNvPr id="58" name="TextBox 58"/>
            <p:cNvSpPr txBox="1"/>
            <p:nvPr/>
          </p:nvSpPr>
          <p:spPr>
            <a:xfrm>
              <a:off x="0" y="-38100"/>
              <a:ext cx="5760720" cy="1135380"/>
            </a:xfrm>
            <a:prstGeom prst="rect">
              <a:avLst/>
            </a:prstGeom>
          </p:spPr>
          <p:txBody>
            <a:bodyPr lIns="0" tIns="0" rIns="0" bIns="0" rtlCol="0" anchor="ctr"/>
            <a:lstStyle/>
            <a:p>
              <a:pPr algn="l">
                <a:lnSpc>
                  <a:spcPts val="2070"/>
                </a:lnSpc>
              </a:pPr>
              <a:r>
                <a:rPr lang="en-US" sz="1725">
                  <a:solidFill>
                    <a:srgbClr val="9FB0CE"/>
                  </a:solidFill>
                  <a:latin typeface="Calibri (MS)"/>
                  <a:ea typeface="Calibri (MS)"/>
                  <a:cs typeface="Calibri (MS)"/>
                  <a:sym typeface="Calibri (MS)"/>
                </a:rPr>
                <a:t>Sejak secret brief dibuka</a:t>
              </a:r>
            </a:p>
          </p:txBody>
        </p:sp>
      </p:grpSp>
      <p:grpSp>
        <p:nvGrpSpPr>
          <p:cNvPr id="59" name="Group 59"/>
          <p:cNvGrpSpPr/>
          <p:nvPr/>
        </p:nvGrpSpPr>
        <p:grpSpPr>
          <a:xfrm>
            <a:off x="6560439" y="5271135"/>
            <a:ext cx="5162550" cy="2693670"/>
            <a:chOff x="0" y="0"/>
            <a:chExt cx="6883400" cy="3591560"/>
          </a:xfrm>
        </p:grpSpPr>
        <p:sp>
          <p:nvSpPr>
            <p:cNvPr id="60" name="Freeform 60"/>
            <p:cNvSpPr/>
            <p:nvPr/>
          </p:nvSpPr>
          <p:spPr>
            <a:xfrm>
              <a:off x="0" y="0"/>
              <a:ext cx="6883400" cy="3591560"/>
            </a:xfrm>
            <a:custGeom>
              <a:avLst/>
              <a:gdLst/>
              <a:ahLst/>
              <a:cxnLst/>
              <a:rect l="l" t="t" r="r" b="b"/>
              <a:pathLst>
                <a:path w="6883400" h="3591560">
                  <a:moveTo>
                    <a:pt x="0" y="110490"/>
                  </a:moveTo>
                  <a:cubicBezTo>
                    <a:pt x="0" y="49530"/>
                    <a:pt x="49530" y="0"/>
                    <a:pt x="110490" y="0"/>
                  </a:cubicBezTo>
                  <a:lnTo>
                    <a:pt x="6772910" y="0"/>
                  </a:lnTo>
                  <a:cubicBezTo>
                    <a:pt x="6833997" y="0"/>
                    <a:pt x="6883400" y="49530"/>
                    <a:pt x="6883400" y="110490"/>
                  </a:cubicBezTo>
                  <a:lnTo>
                    <a:pt x="6883400" y="3481070"/>
                  </a:lnTo>
                  <a:cubicBezTo>
                    <a:pt x="6883400" y="3542157"/>
                    <a:pt x="6833870" y="3591560"/>
                    <a:pt x="6772910" y="3591560"/>
                  </a:cubicBezTo>
                  <a:lnTo>
                    <a:pt x="110490" y="3591560"/>
                  </a:lnTo>
                  <a:cubicBezTo>
                    <a:pt x="49403" y="3591560"/>
                    <a:pt x="0" y="3542030"/>
                    <a:pt x="0" y="3481070"/>
                  </a:cubicBezTo>
                  <a:close/>
                </a:path>
              </a:pathLst>
            </a:custGeom>
            <a:solidFill>
              <a:srgbClr val="0D1632">
                <a:alpha val="77255"/>
              </a:srgbClr>
            </a:solidFill>
            <a:ln w="19050" cap="sq">
              <a:solidFill>
                <a:srgbClr val="24406F"/>
              </a:solidFill>
              <a:prstDash val="solid"/>
              <a:miter/>
            </a:ln>
          </p:spPr>
        </p:sp>
      </p:grpSp>
      <p:grpSp>
        <p:nvGrpSpPr>
          <p:cNvPr id="61" name="Group 61"/>
          <p:cNvGrpSpPr/>
          <p:nvPr/>
        </p:nvGrpSpPr>
        <p:grpSpPr>
          <a:xfrm>
            <a:off x="6981444" y="5609844"/>
            <a:ext cx="4320540" cy="356616"/>
            <a:chOff x="0" y="0"/>
            <a:chExt cx="5760720" cy="475488"/>
          </a:xfrm>
        </p:grpSpPr>
        <p:sp>
          <p:nvSpPr>
            <p:cNvPr id="62" name="Freeform 62"/>
            <p:cNvSpPr/>
            <p:nvPr/>
          </p:nvSpPr>
          <p:spPr>
            <a:xfrm>
              <a:off x="0" y="0"/>
              <a:ext cx="5760720" cy="475488"/>
            </a:xfrm>
            <a:custGeom>
              <a:avLst/>
              <a:gdLst/>
              <a:ahLst/>
              <a:cxnLst/>
              <a:rect l="l" t="t" r="r" b="b"/>
              <a:pathLst>
                <a:path w="5760720" h="475488">
                  <a:moveTo>
                    <a:pt x="0" y="0"/>
                  </a:moveTo>
                  <a:lnTo>
                    <a:pt x="5760720" y="0"/>
                  </a:lnTo>
                  <a:lnTo>
                    <a:pt x="5760720" y="475488"/>
                  </a:lnTo>
                  <a:lnTo>
                    <a:pt x="0" y="475488"/>
                  </a:lnTo>
                  <a:close/>
                </a:path>
              </a:pathLst>
            </a:custGeom>
            <a:blipFill>
              <a:blip r:embed="rId4">
                <a:alphaModFix amt="0"/>
              </a:blip>
              <a:stretch>
                <a:fillRect t="-186068" b="-186068"/>
              </a:stretch>
            </a:blipFill>
          </p:spPr>
        </p:sp>
        <p:sp>
          <p:nvSpPr>
            <p:cNvPr id="63" name="TextBox 63"/>
            <p:cNvSpPr txBox="1"/>
            <p:nvPr/>
          </p:nvSpPr>
          <p:spPr>
            <a:xfrm>
              <a:off x="0" y="-19050"/>
              <a:ext cx="5760720"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TOOLS</a:t>
              </a:r>
            </a:p>
          </p:txBody>
        </p:sp>
      </p:grpSp>
      <p:grpSp>
        <p:nvGrpSpPr>
          <p:cNvPr id="64" name="Group 64"/>
          <p:cNvGrpSpPr/>
          <p:nvPr/>
        </p:nvGrpSpPr>
        <p:grpSpPr>
          <a:xfrm>
            <a:off x="6981444" y="6076188"/>
            <a:ext cx="4320540" cy="905256"/>
            <a:chOff x="0" y="0"/>
            <a:chExt cx="5760720" cy="1207008"/>
          </a:xfrm>
        </p:grpSpPr>
        <p:sp>
          <p:nvSpPr>
            <p:cNvPr id="65" name="Freeform 65"/>
            <p:cNvSpPr/>
            <p:nvPr/>
          </p:nvSpPr>
          <p:spPr>
            <a:xfrm>
              <a:off x="0" y="0"/>
              <a:ext cx="5760720" cy="1207008"/>
            </a:xfrm>
            <a:custGeom>
              <a:avLst/>
              <a:gdLst/>
              <a:ahLst/>
              <a:cxnLst/>
              <a:rect l="l" t="t" r="r" b="b"/>
              <a:pathLst>
                <a:path w="5760720" h="1207008">
                  <a:moveTo>
                    <a:pt x="0" y="0"/>
                  </a:moveTo>
                  <a:lnTo>
                    <a:pt x="5760720" y="0"/>
                  </a:lnTo>
                  <a:lnTo>
                    <a:pt x="5760720" y="1207008"/>
                  </a:lnTo>
                  <a:lnTo>
                    <a:pt x="0" y="1207008"/>
                  </a:lnTo>
                  <a:close/>
                </a:path>
              </a:pathLst>
            </a:custGeom>
            <a:blipFill>
              <a:blip r:embed="rId4">
                <a:alphaModFix amt="0"/>
              </a:blip>
              <a:stretch>
                <a:fillRect t="-42996" b="-42996"/>
              </a:stretch>
            </a:blipFill>
          </p:spPr>
        </p:sp>
        <p:sp>
          <p:nvSpPr>
            <p:cNvPr id="66" name="TextBox 66"/>
            <p:cNvSpPr txBox="1"/>
            <p:nvPr/>
          </p:nvSpPr>
          <p:spPr>
            <a:xfrm>
              <a:off x="0" y="-19050"/>
              <a:ext cx="5760720" cy="1226058"/>
            </a:xfrm>
            <a:prstGeom prst="rect">
              <a:avLst/>
            </a:prstGeom>
          </p:spPr>
          <p:txBody>
            <a:bodyPr lIns="0" tIns="0" rIns="0" bIns="0" rtlCol="0" anchor="ctr"/>
            <a:lstStyle/>
            <a:p>
              <a:pPr algn="l">
                <a:lnSpc>
                  <a:spcPts val="3240"/>
                </a:lnSpc>
              </a:pPr>
              <a:r>
                <a:rPr lang="en-US" sz="2700" b="1">
                  <a:solidFill>
                    <a:srgbClr val="FFFFFF"/>
                  </a:solidFill>
                  <a:latin typeface="Arial Bold"/>
                  <a:ea typeface="Arial Bold"/>
                  <a:cs typeface="Arial Bold"/>
                  <a:sym typeface="Arial Bold"/>
                </a:rPr>
                <a:t>Bebas</a:t>
              </a:r>
            </a:p>
          </p:txBody>
        </p:sp>
      </p:grpSp>
      <p:grpSp>
        <p:nvGrpSpPr>
          <p:cNvPr id="67" name="Group 67"/>
          <p:cNvGrpSpPr/>
          <p:nvPr/>
        </p:nvGrpSpPr>
        <p:grpSpPr>
          <a:xfrm>
            <a:off x="6981444" y="7008876"/>
            <a:ext cx="4320540" cy="822960"/>
            <a:chOff x="0" y="0"/>
            <a:chExt cx="5760720" cy="1097280"/>
          </a:xfrm>
        </p:grpSpPr>
        <p:sp>
          <p:nvSpPr>
            <p:cNvPr id="68" name="Freeform 68"/>
            <p:cNvSpPr/>
            <p:nvPr/>
          </p:nvSpPr>
          <p:spPr>
            <a:xfrm>
              <a:off x="0" y="0"/>
              <a:ext cx="5760720" cy="1097280"/>
            </a:xfrm>
            <a:custGeom>
              <a:avLst/>
              <a:gdLst/>
              <a:ahLst/>
              <a:cxnLst/>
              <a:rect l="l" t="t" r="r" b="b"/>
              <a:pathLst>
                <a:path w="5760720" h="1097280">
                  <a:moveTo>
                    <a:pt x="0" y="0"/>
                  </a:moveTo>
                  <a:lnTo>
                    <a:pt x="5760720" y="0"/>
                  </a:lnTo>
                  <a:lnTo>
                    <a:pt x="5760720" y="1097280"/>
                  </a:lnTo>
                  <a:lnTo>
                    <a:pt x="0" y="1097280"/>
                  </a:lnTo>
                  <a:close/>
                </a:path>
              </a:pathLst>
            </a:custGeom>
            <a:blipFill>
              <a:blip r:embed="rId4">
                <a:alphaModFix amt="0"/>
              </a:blip>
              <a:stretch>
                <a:fillRect t="-52296" b="-52296"/>
              </a:stretch>
            </a:blipFill>
          </p:spPr>
        </p:sp>
        <p:sp>
          <p:nvSpPr>
            <p:cNvPr id="69" name="TextBox 69"/>
            <p:cNvSpPr txBox="1"/>
            <p:nvPr/>
          </p:nvSpPr>
          <p:spPr>
            <a:xfrm>
              <a:off x="0" y="-38100"/>
              <a:ext cx="5760720" cy="1135380"/>
            </a:xfrm>
            <a:prstGeom prst="rect">
              <a:avLst/>
            </a:prstGeom>
          </p:spPr>
          <p:txBody>
            <a:bodyPr lIns="0" tIns="0" rIns="0" bIns="0" rtlCol="0" anchor="ctr"/>
            <a:lstStyle/>
            <a:p>
              <a:pPr algn="l">
                <a:lnSpc>
                  <a:spcPts val="2070"/>
                </a:lnSpc>
              </a:pPr>
              <a:r>
                <a:rPr lang="en-US" sz="1725">
                  <a:solidFill>
                    <a:srgbClr val="9FB0CE"/>
                  </a:solidFill>
                  <a:latin typeface="Calibri (MS)"/>
                  <a:ea typeface="Calibri (MS)"/>
                  <a:cs typeface="Calibri (MS)"/>
                  <a:sym typeface="Calibri (MS)"/>
                </a:rPr>
                <a:t>Canva, Figma, Illustrator, Tableau, Power BI, dll.</a:t>
              </a:r>
            </a:p>
          </p:txBody>
        </p:sp>
      </p:grpSp>
      <p:grpSp>
        <p:nvGrpSpPr>
          <p:cNvPr id="70" name="Group 70"/>
          <p:cNvGrpSpPr/>
          <p:nvPr/>
        </p:nvGrpSpPr>
        <p:grpSpPr>
          <a:xfrm>
            <a:off x="12170283" y="5271135"/>
            <a:ext cx="5162550" cy="2693670"/>
            <a:chOff x="0" y="0"/>
            <a:chExt cx="6883400" cy="3591560"/>
          </a:xfrm>
        </p:grpSpPr>
        <p:sp>
          <p:nvSpPr>
            <p:cNvPr id="71" name="Freeform 71"/>
            <p:cNvSpPr/>
            <p:nvPr/>
          </p:nvSpPr>
          <p:spPr>
            <a:xfrm>
              <a:off x="0" y="0"/>
              <a:ext cx="6883400" cy="3591560"/>
            </a:xfrm>
            <a:custGeom>
              <a:avLst/>
              <a:gdLst/>
              <a:ahLst/>
              <a:cxnLst/>
              <a:rect l="l" t="t" r="r" b="b"/>
              <a:pathLst>
                <a:path w="6883400" h="3591560">
                  <a:moveTo>
                    <a:pt x="0" y="110490"/>
                  </a:moveTo>
                  <a:cubicBezTo>
                    <a:pt x="0" y="49530"/>
                    <a:pt x="49530" y="0"/>
                    <a:pt x="110490" y="0"/>
                  </a:cubicBezTo>
                  <a:lnTo>
                    <a:pt x="6772910" y="0"/>
                  </a:lnTo>
                  <a:cubicBezTo>
                    <a:pt x="6833997" y="0"/>
                    <a:pt x="6883400" y="49530"/>
                    <a:pt x="6883400" y="110490"/>
                  </a:cubicBezTo>
                  <a:lnTo>
                    <a:pt x="6883400" y="3481070"/>
                  </a:lnTo>
                  <a:cubicBezTo>
                    <a:pt x="6883400" y="3542157"/>
                    <a:pt x="6833870" y="3591560"/>
                    <a:pt x="6772910" y="3591560"/>
                  </a:cubicBezTo>
                  <a:lnTo>
                    <a:pt x="110490" y="3591560"/>
                  </a:lnTo>
                  <a:cubicBezTo>
                    <a:pt x="49403" y="3591560"/>
                    <a:pt x="0" y="3542030"/>
                    <a:pt x="0" y="3481070"/>
                  </a:cubicBezTo>
                  <a:close/>
                </a:path>
              </a:pathLst>
            </a:custGeom>
            <a:solidFill>
              <a:srgbClr val="0D1632">
                <a:alpha val="77255"/>
              </a:srgbClr>
            </a:solidFill>
            <a:ln w="19050" cap="sq">
              <a:solidFill>
                <a:srgbClr val="24406F"/>
              </a:solidFill>
              <a:prstDash val="solid"/>
              <a:miter/>
            </a:ln>
          </p:spPr>
        </p:sp>
      </p:grpSp>
      <p:grpSp>
        <p:nvGrpSpPr>
          <p:cNvPr id="72" name="Group 72"/>
          <p:cNvGrpSpPr/>
          <p:nvPr/>
        </p:nvGrpSpPr>
        <p:grpSpPr>
          <a:xfrm>
            <a:off x="12591288" y="5609844"/>
            <a:ext cx="4320540" cy="356616"/>
            <a:chOff x="0" y="0"/>
            <a:chExt cx="5760720" cy="475488"/>
          </a:xfrm>
        </p:grpSpPr>
        <p:sp>
          <p:nvSpPr>
            <p:cNvPr id="73" name="Freeform 73"/>
            <p:cNvSpPr/>
            <p:nvPr/>
          </p:nvSpPr>
          <p:spPr>
            <a:xfrm>
              <a:off x="0" y="0"/>
              <a:ext cx="5760720" cy="475488"/>
            </a:xfrm>
            <a:custGeom>
              <a:avLst/>
              <a:gdLst/>
              <a:ahLst/>
              <a:cxnLst/>
              <a:rect l="l" t="t" r="r" b="b"/>
              <a:pathLst>
                <a:path w="5760720" h="475488">
                  <a:moveTo>
                    <a:pt x="0" y="0"/>
                  </a:moveTo>
                  <a:lnTo>
                    <a:pt x="5760720" y="0"/>
                  </a:lnTo>
                  <a:lnTo>
                    <a:pt x="5760720" y="475488"/>
                  </a:lnTo>
                  <a:lnTo>
                    <a:pt x="0" y="475488"/>
                  </a:lnTo>
                  <a:close/>
                </a:path>
              </a:pathLst>
            </a:custGeom>
            <a:blipFill>
              <a:blip r:embed="rId4">
                <a:alphaModFix amt="0"/>
              </a:blip>
              <a:stretch>
                <a:fillRect t="-186068" b="-186068"/>
              </a:stretch>
            </a:blipFill>
          </p:spPr>
        </p:sp>
        <p:sp>
          <p:nvSpPr>
            <p:cNvPr id="74" name="TextBox 74"/>
            <p:cNvSpPr txBox="1"/>
            <p:nvPr/>
          </p:nvSpPr>
          <p:spPr>
            <a:xfrm>
              <a:off x="0" y="-19050"/>
              <a:ext cx="5760720" cy="494538"/>
            </a:xfrm>
            <a:prstGeom prst="rect">
              <a:avLst/>
            </a:prstGeom>
          </p:spPr>
          <p:txBody>
            <a:bodyPr lIns="0" tIns="0" rIns="0" bIns="0" rtlCol="0" anchor="ctr"/>
            <a:lstStyle/>
            <a:p>
              <a:pPr algn="l">
                <a:lnSpc>
                  <a:spcPts val="1709"/>
                </a:lnSpc>
              </a:pPr>
              <a:r>
                <a:rPr lang="en-US" sz="1425" b="1" spc="209">
                  <a:solidFill>
                    <a:srgbClr val="E9A944"/>
                  </a:solidFill>
                  <a:latin typeface="Arial Bold"/>
                  <a:ea typeface="Arial Bold"/>
                  <a:cs typeface="Arial Bold"/>
                  <a:sym typeface="Arial Bold"/>
                </a:rPr>
                <a:t>VALIDITAS DATA</a:t>
              </a:r>
            </a:p>
          </p:txBody>
        </p:sp>
      </p:grpSp>
      <p:grpSp>
        <p:nvGrpSpPr>
          <p:cNvPr id="75" name="Group 75"/>
          <p:cNvGrpSpPr/>
          <p:nvPr/>
        </p:nvGrpSpPr>
        <p:grpSpPr>
          <a:xfrm>
            <a:off x="12591288" y="6076188"/>
            <a:ext cx="4320540" cy="1376902"/>
            <a:chOff x="0" y="0"/>
            <a:chExt cx="5760720" cy="1835869"/>
          </a:xfrm>
        </p:grpSpPr>
        <p:sp>
          <p:nvSpPr>
            <p:cNvPr id="76" name="Freeform 76"/>
            <p:cNvSpPr/>
            <p:nvPr/>
          </p:nvSpPr>
          <p:spPr>
            <a:xfrm>
              <a:off x="0" y="0"/>
              <a:ext cx="5760720" cy="1835869"/>
            </a:xfrm>
            <a:custGeom>
              <a:avLst/>
              <a:gdLst/>
              <a:ahLst/>
              <a:cxnLst/>
              <a:rect l="l" t="t" r="r" b="b"/>
              <a:pathLst>
                <a:path w="5760720" h="1835869">
                  <a:moveTo>
                    <a:pt x="0" y="0"/>
                  </a:moveTo>
                  <a:lnTo>
                    <a:pt x="5760720" y="0"/>
                  </a:lnTo>
                  <a:lnTo>
                    <a:pt x="5760720" y="1835869"/>
                  </a:lnTo>
                  <a:lnTo>
                    <a:pt x="0" y="1835869"/>
                  </a:lnTo>
                  <a:close/>
                </a:path>
              </a:pathLst>
            </a:custGeom>
            <a:blipFill>
              <a:blip r:embed="rId4">
                <a:alphaModFix amt="0"/>
              </a:blip>
              <a:stretch>
                <a:fillRect t="-28268" b="5985"/>
              </a:stretch>
            </a:blipFill>
          </p:spPr>
        </p:sp>
        <p:sp>
          <p:nvSpPr>
            <p:cNvPr id="77" name="TextBox 77"/>
            <p:cNvSpPr txBox="1"/>
            <p:nvPr/>
          </p:nvSpPr>
          <p:spPr>
            <a:xfrm>
              <a:off x="0" y="-19050"/>
              <a:ext cx="5760720" cy="1854919"/>
            </a:xfrm>
            <a:prstGeom prst="rect">
              <a:avLst/>
            </a:prstGeom>
          </p:spPr>
          <p:txBody>
            <a:bodyPr lIns="0" tIns="0" rIns="0" bIns="0" rtlCol="0" anchor="ctr"/>
            <a:lstStyle/>
            <a:p>
              <a:pPr algn="l">
                <a:lnSpc>
                  <a:spcPts val="3240"/>
                </a:lnSpc>
              </a:pPr>
              <a:r>
                <a:rPr lang="en-US" sz="2700" b="1">
                  <a:solidFill>
                    <a:srgbClr val="FFFFFF"/>
                  </a:solidFill>
                  <a:latin typeface="Arial Bold"/>
                  <a:ea typeface="Arial Bold"/>
                  <a:cs typeface="Arial Bold"/>
                  <a:sym typeface="Arial Bold"/>
                </a:rPr>
                <a:t>Semua angka harus bisa dilacak ke dataset</a:t>
              </a:r>
            </a:p>
            <a:p>
              <a:pPr algn="l">
                <a:lnSpc>
                  <a:spcPts val="3240"/>
                </a:lnSpc>
              </a:pPr>
              <a:endParaRPr lang="en-US" sz="2700" b="1">
                <a:solidFill>
                  <a:srgbClr val="FFFFFF"/>
                </a:solidFill>
                <a:latin typeface="Arial Bold"/>
                <a:ea typeface="Arial Bold"/>
                <a:cs typeface="Arial Bold"/>
                <a:sym typeface="Arial Bold"/>
              </a:endParaRPr>
            </a:p>
          </p:txBody>
        </p:sp>
      </p:grpSp>
      <p:grpSp>
        <p:nvGrpSpPr>
          <p:cNvPr id="78" name="Group 78"/>
          <p:cNvGrpSpPr/>
          <p:nvPr/>
        </p:nvGrpSpPr>
        <p:grpSpPr>
          <a:xfrm>
            <a:off x="12591288" y="7008876"/>
            <a:ext cx="4320540" cy="822960"/>
            <a:chOff x="0" y="0"/>
            <a:chExt cx="5760720" cy="1097280"/>
          </a:xfrm>
        </p:grpSpPr>
        <p:sp>
          <p:nvSpPr>
            <p:cNvPr id="79" name="Freeform 79"/>
            <p:cNvSpPr/>
            <p:nvPr/>
          </p:nvSpPr>
          <p:spPr>
            <a:xfrm>
              <a:off x="0" y="0"/>
              <a:ext cx="5760720" cy="1097280"/>
            </a:xfrm>
            <a:custGeom>
              <a:avLst/>
              <a:gdLst/>
              <a:ahLst/>
              <a:cxnLst/>
              <a:rect l="l" t="t" r="r" b="b"/>
              <a:pathLst>
                <a:path w="5760720" h="1097280">
                  <a:moveTo>
                    <a:pt x="0" y="0"/>
                  </a:moveTo>
                  <a:lnTo>
                    <a:pt x="5760720" y="0"/>
                  </a:lnTo>
                  <a:lnTo>
                    <a:pt x="5760720" y="1097280"/>
                  </a:lnTo>
                  <a:lnTo>
                    <a:pt x="0" y="1097280"/>
                  </a:lnTo>
                  <a:close/>
                </a:path>
              </a:pathLst>
            </a:custGeom>
            <a:blipFill>
              <a:blip r:embed="rId4">
                <a:alphaModFix amt="0"/>
              </a:blip>
              <a:stretch>
                <a:fillRect t="-52296" b="-52296"/>
              </a:stretch>
            </a:blipFill>
          </p:spPr>
        </p:sp>
        <p:sp>
          <p:nvSpPr>
            <p:cNvPr id="80" name="TextBox 80"/>
            <p:cNvSpPr txBox="1"/>
            <p:nvPr/>
          </p:nvSpPr>
          <p:spPr>
            <a:xfrm>
              <a:off x="0" y="-38100"/>
              <a:ext cx="5760720" cy="1135380"/>
            </a:xfrm>
            <a:prstGeom prst="rect">
              <a:avLst/>
            </a:prstGeom>
          </p:spPr>
          <p:txBody>
            <a:bodyPr lIns="0" tIns="0" rIns="0" bIns="0" rtlCol="0" anchor="ctr"/>
            <a:lstStyle/>
            <a:p>
              <a:pPr algn="l">
                <a:lnSpc>
                  <a:spcPts val="2070"/>
                </a:lnSpc>
              </a:pPr>
              <a:r>
                <a:rPr lang="en-US" sz="1725">
                  <a:solidFill>
                    <a:srgbClr val="9FB0CE"/>
                  </a:solidFill>
                  <a:latin typeface="Calibri (MS)"/>
                  <a:ea typeface="Calibri (MS)"/>
                  <a:cs typeface="Calibri (MS)"/>
                  <a:sym typeface="Calibri (MS)"/>
                </a:rPr>
                <a:t>Mencantumkan variabel apa yang digunakan dalam perhitungan</a:t>
              </a:r>
            </a:p>
          </p:txBody>
        </p:sp>
      </p:grpSp>
      <p:grpSp>
        <p:nvGrpSpPr>
          <p:cNvPr id="81" name="Group 81"/>
          <p:cNvGrpSpPr/>
          <p:nvPr/>
        </p:nvGrpSpPr>
        <p:grpSpPr>
          <a:xfrm>
            <a:off x="950595" y="8151495"/>
            <a:ext cx="16382238" cy="1006602"/>
            <a:chOff x="0" y="0"/>
            <a:chExt cx="21842984" cy="1342136"/>
          </a:xfrm>
        </p:grpSpPr>
        <p:sp>
          <p:nvSpPr>
            <p:cNvPr id="82" name="Freeform 82"/>
            <p:cNvSpPr/>
            <p:nvPr/>
          </p:nvSpPr>
          <p:spPr>
            <a:xfrm>
              <a:off x="0" y="0"/>
              <a:ext cx="21842985" cy="1342136"/>
            </a:xfrm>
            <a:custGeom>
              <a:avLst/>
              <a:gdLst/>
              <a:ahLst/>
              <a:cxnLst/>
              <a:rect l="l" t="t" r="r" b="b"/>
              <a:pathLst>
                <a:path w="21842985" h="1342136">
                  <a:moveTo>
                    <a:pt x="0" y="111887"/>
                  </a:moveTo>
                  <a:cubicBezTo>
                    <a:pt x="0" y="50038"/>
                    <a:pt x="50038" y="0"/>
                    <a:pt x="111887" y="0"/>
                  </a:cubicBezTo>
                  <a:lnTo>
                    <a:pt x="21731097" y="0"/>
                  </a:lnTo>
                  <a:cubicBezTo>
                    <a:pt x="21792819" y="0"/>
                    <a:pt x="21842985" y="50038"/>
                    <a:pt x="21842985" y="111887"/>
                  </a:cubicBezTo>
                  <a:lnTo>
                    <a:pt x="21842985" y="1230249"/>
                  </a:lnTo>
                  <a:cubicBezTo>
                    <a:pt x="21842985" y="1291971"/>
                    <a:pt x="21792946" y="1342136"/>
                    <a:pt x="21731097" y="1342136"/>
                  </a:cubicBezTo>
                  <a:lnTo>
                    <a:pt x="111887" y="1342136"/>
                  </a:lnTo>
                  <a:cubicBezTo>
                    <a:pt x="50165" y="1342136"/>
                    <a:pt x="0" y="1292098"/>
                    <a:pt x="0" y="1230249"/>
                  </a:cubicBezTo>
                  <a:close/>
                </a:path>
              </a:pathLst>
            </a:custGeom>
            <a:solidFill>
              <a:srgbClr val="1A1206">
                <a:alpha val="20000"/>
              </a:srgbClr>
            </a:solidFill>
            <a:ln w="19050" cap="sq">
              <a:solidFill>
                <a:srgbClr val="8A6420"/>
              </a:solidFill>
              <a:prstDash val="solid"/>
              <a:miter/>
            </a:ln>
          </p:spPr>
        </p:sp>
      </p:grpSp>
      <p:grpSp>
        <p:nvGrpSpPr>
          <p:cNvPr id="83" name="Group 83"/>
          <p:cNvGrpSpPr/>
          <p:nvPr/>
        </p:nvGrpSpPr>
        <p:grpSpPr>
          <a:xfrm>
            <a:off x="1371600" y="8161020"/>
            <a:ext cx="15636240" cy="987552"/>
            <a:chOff x="0" y="0"/>
            <a:chExt cx="20848320" cy="1316736"/>
          </a:xfrm>
        </p:grpSpPr>
        <p:sp>
          <p:nvSpPr>
            <p:cNvPr id="84" name="Freeform 84"/>
            <p:cNvSpPr/>
            <p:nvPr/>
          </p:nvSpPr>
          <p:spPr>
            <a:xfrm>
              <a:off x="0" y="0"/>
              <a:ext cx="20848320" cy="1316736"/>
            </a:xfrm>
            <a:custGeom>
              <a:avLst/>
              <a:gdLst/>
              <a:ahLst/>
              <a:cxnLst/>
              <a:rect l="l" t="t" r="r" b="b"/>
              <a:pathLst>
                <a:path w="20848320" h="1316736">
                  <a:moveTo>
                    <a:pt x="0" y="0"/>
                  </a:moveTo>
                  <a:lnTo>
                    <a:pt x="20848320" y="0"/>
                  </a:lnTo>
                  <a:lnTo>
                    <a:pt x="20848320" y="1316736"/>
                  </a:lnTo>
                  <a:lnTo>
                    <a:pt x="0" y="1316736"/>
                  </a:lnTo>
                  <a:close/>
                </a:path>
              </a:pathLst>
            </a:custGeom>
            <a:blipFill>
              <a:blip r:embed="rId4">
                <a:alphaModFix amt="0"/>
              </a:blip>
              <a:stretch>
                <a:fillRect t="-258513" b="-258513"/>
              </a:stretch>
            </a:blipFill>
          </p:spPr>
        </p:sp>
        <p:sp>
          <p:nvSpPr>
            <p:cNvPr id="85" name="TextBox 85"/>
            <p:cNvSpPr txBox="1"/>
            <p:nvPr/>
          </p:nvSpPr>
          <p:spPr>
            <a:xfrm>
              <a:off x="0" y="-47625"/>
              <a:ext cx="20848320" cy="1364361"/>
            </a:xfrm>
            <a:prstGeom prst="rect">
              <a:avLst/>
            </a:prstGeom>
          </p:spPr>
          <p:txBody>
            <a:bodyPr lIns="0" tIns="0" rIns="0" bIns="0" rtlCol="0" anchor="ctr"/>
            <a:lstStyle/>
            <a:p>
              <a:pPr algn="l">
                <a:lnSpc>
                  <a:spcPts val="2340"/>
                </a:lnSpc>
              </a:pPr>
              <a:r>
                <a:rPr lang="en-US" sz="1950" b="1">
                  <a:solidFill>
                    <a:srgbClr val="E9A944"/>
                  </a:solidFill>
                  <a:latin typeface="Calibri (MS) Bold"/>
                  <a:ea typeface="Calibri (MS) Bold"/>
                  <a:cs typeface="Calibri (MS) Bold"/>
                  <a:sym typeface="Calibri (MS) Bold"/>
                </a:rPr>
                <a:t>ATRIBUSI WAJIB  </a:t>
              </a:r>
              <a:r>
                <a:rPr lang="en-US" sz="1950">
                  <a:solidFill>
                    <a:srgbClr val="FFFFFF"/>
                  </a:solidFill>
                  <a:latin typeface="Calibri (MS)"/>
                  <a:ea typeface="Calibri (MS)"/>
                  <a:cs typeface="Calibri (MS)"/>
                  <a:sym typeface="Calibri (MS)"/>
                </a:rPr>
                <a:t>Setiap ikon, font, atau foto dari pihak ketiga harus dicantumkan kredit sumbernya di dalam karya.</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60120" y="576072"/>
            <a:ext cx="16322040" cy="384048"/>
            <a:chOff x="0" y="0"/>
            <a:chExt cx="21762720" cy="512064"/>
          </a:xfrm>
        </p:grpSpPr>
        <p:sp>
          <p:nvSpPr>
            <p:cNvPr id="4" name="Freeform 4"/>
            <p:cNvSpPr/>
            <p:nvPr/>
          </p:nvSpPr>
          <p:spPr>
            <a:xfrm>
              <a:off x="0" y="0"/>
              <a:ext cx="21762720" cy="512064"/>
            </a:xfrm>
            <a:custGeom>
              <a:avLst/>
              <a:gdLst/>
              <a:ahLst/>
              <a:cxnLst/>
              <a:rect l="l" t="t" r="r" b="b"/>
              <a:pathLst>
                <a:path w="21762720" h="512064">
                  <a:moveTo>
                    <a:pt x="0" y="0"/>
                  </a:moveTo>
                  <a:lnTo>
                    <a:pt x="21762720" y="0"/>
                  </a:lnTo>
                  <a:lnTo>
                    <a:pt x="21762720" y="512064"/>
                  </a:lnTo>
                  <a:lnTo>
                    <a:pt x="0" y="512064"/>
                  </a:lnTo>
                  <a:close/>
                </a:path>
              </a:pathLst>
            </a:custGeom>
            <a:blipFill>
              <a:blip r:embed="rId4">
                <a:alphaModFix amt="0"/>
              </a:blip>
              <a:stretch>
                <a:fillRect t="-778114" b="-778114"/>
              </a:stretch>
            </a:blipFill>
          </p:spPr>
        </p:sp>
        <p:sp>
          <p:nvSpPr>
            <p:cNvPr id="5" name="TextBox 5"/>
            <p:cNvSpPr txBox="1"/>
            <p:nvPr/>
          </p:nvSpPr>
          <p:spPr>
            <a:xfrm>
              <a:off x="0" y="-9525"/>
              <a:ext cx="21762720" cy="521589"/>
            </a:xfrm>
            <a:prstGeom prst="rect">
              <a:avLst/>
            </a:prstGeom>
          </p:spPr>
          <p:txBody>
            <a:bodyPr lIns="0" tIns="0" rIns="0" bIns="0" rtlCol="0" anchor="ctr"/>
            <a:lstStyle/>
            <a:p>
              <a:pPr algn="l">
                <a:lnSpc>
                  <a:spcPts val="1889"/>
                </a:lnSpc>
              </a:pPr>
              <a:r>
                <a:rPr lang="en-US" sz="1575" b="1" spc="330">
                  <a:solidFill>
                    <a:srgbClr val="E9A944"/>
                  </a:solidFill>
                  <a:latin typeface="Arial Bold"/>
                  <a:ea typeface="Arial Bold"/>
                  <a:cs typeface="Arial Bold"/>
                  <a:sym typeface="Arial Bold"/>
                </a:rPr>
                <a:t>BAGIAN 04</a:t>
              </a:r>
            </a:p>
          </p:txBody>
        </p:sp>
      </p:grpSp>
      <p:grpSp>
        <p:nvGrpSpPr>
          <p:cNvPr id="6" name="Group 6"/>
          <p:cNvGrpSpPr/>
          <p:nvPr/>
        </p:nvGrpSpPr>
        <p:grpSpPr>
          <a:xfrm>
            <a:off x="960120" y="987552"/>
            <a:ext cx="16322040" cy="932762"/>
            <a:chOff x="0" y="0"/>
            <a:chExt cx="21762720" cy="1243682"/>
          </a:xfrm>
        </p:grpSpPr>
        <p:sp>
          <p:nvSpPr>
            <p:cNvPr id="7" name="Freeform 7"/>
            <p:cNvSpPr/>
            <p:nvPr/>
          </p:nvSpPr>
          <p:spPr>
            <a:xfrm>
              <a:off x="0" y="0"/>
              <a:ext cx="21762720" cy="1243682"/>
            </a:xfrm>
            <a:custGeom>
              <a:avLst/>
              <a:gdLst/>
              <a:ahLst/>
              <a:cxnLst/>
              <a:rect l="l" t="t" r="r" b="b"/>
              <a:pathLst>
                <a:path w="21762720" h="1243682">
                  <a:moveTo>
                    <a:pt x="0" y="0"/>
                  </a:moveTo>
                  <a:lnTo>
                    <a:pt x="21762720" y="0"/>
                  </a:lnTo>
                  <a:lnTo>
                    <a:pt x="21762720" y="1243682"/>
                  </a:lnTo>
                  <a:lnTo>
                    <a:pt x="0" y="1243682"/>
                  </a:lnTo>
                  <a:close/>
                </a:path>
              </a:pathLst>
            </a:custGeom>
            <a:blipFill>
              <a:blip r:embed="rId4">
                <a:alphaModFix amt="0"/>
              </a:blip>
              <a:stretch>
                <a:fillRect t="-295376" b="-286545"/>
              </a:stretch>
            </a:blipFill>
          </p:spPr>
        </p:sp>
        <p:sp>
          <p:nvSpPr>
            <p:cNvPr id="8" name="TextBox 8"/>
            <p:cNvSpPr txBox="1"/>
            <p:nvPr/>
          </p:nvSpPr>
          <p:spPr>
            <a:xfrm>
              <a:off x="0" y="-28575"/>
              <a:ext cx="21762720" cy="1272257"/>
            </a:xfrm>
            <a:prstGeom prst="rect">
              <a:avLst/>
            </a:prstGeom>
          </p:spPr>
          <p:txBody>
            <a:bodyPr lIns="0" tIns="0" rIns="0" bIns="0" rtlCol="0" anchor="ctr"/>
            <a:lstStyle/>
            <a:p>
              <a:pPr algn="l">
                <a:lnSpc>
                  <a:spcPts val="5400"/>
                </a:lnSpc>
              </a:pPr>
              <a:r>
                <a:rPr lang="en-US" sz="4500" b="1" spc="59">
                  <a:solidFill>
                    <a:srgbClr val="FFFFFF"/>
                  </a:solidFill>
                  <a:latin typeface="Arial Bold"/>
                  <a:ea typeface="Arial Bold"/>
                  <a:cs typeface="Arial Bold"/>
                  <a:sym typeface="Arial Bold"/>
                </a:rPr>
                <a:t>Kriteria Penilaian Babak Final</a:t>
              </a:r>
            </a:p>
          </p:txBody>
        </p:sp>
      </p:grpSp>
      <p:grpSp>
        <p:nvGrpSpPr>
          <p:cNvPr id="9" name="Group 9"/>
          <p:cNvGrpSpPr/>
          <p:nvPr/>
        </p:nvGrpSpPr>
        <p:grpSpPr>
          <a:xfrm>
            <a:off x="960120" y="9491472"/>
            <a:ext cx="13990320" cy="384048"/>
            <a:chOff x="0" y="0"/>
            <a:chExt cx="18653760" cy="512064"/>
          </a:xfrm>
        </p:grpSpPr>
        <p:sp>
          <p:nvSpPr>
            <p:cNvPr id="10" name="Freeform 10"/>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4">
                <a:alphaModFix amt="0"/>
              </a:blip>
              <a:stretch>
                <a:fillRect t="-659812" b="-659812"/>
              </a:stretch>
            </a:blipFill>
          </p:spPr>
        </p:sp>
        <p:sp>
          <p:nvSpPr>
            <p:cNvPr id="11" name="TextBox 11"/>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grpSp>
        <p:nvGrpSpPr>
          <p:cNvPr id="12" name="Group 12"/>
          <p:cNvGrpSpPr/>
          <p:nvPr/>
        </p:nvGrpSpPr>
        <p:grpSpPr>
          <a:xfrm>
            <a:off x="16322040" y="9464040"/>
            <a:ext cx="1001268" cy="442875"/>
            <a:chOff x="0" y="0"/>
            <a:chExt cx="1335024" cy="590500"/>
          </a:xfrm>
        </p:grpSpPr>
        <p:sp>
          <p:nvSpPr>
            <p:cNvPr id="13" name="Freeform 13"/>
            <p:cNvSpPr/>
            <p:nvPr/>
          </p:nvSpPr>
          <p:spPr>
            <a:xfrm>
              <a:off x="0" y="0"/>
              <a:ext cx="1335024" cy="590500"/>
            </a:xfrm>
            <a:custGeom>
              <a:avLst/>
              <a:gdLst/>
              <a:ahLst/>
              <a:cxnLst/>
              <a:rect l="l" t="t" r="r" b="b"/>
              <a:pathLst>
                <a:path w="1335024" h="590500">
                  <a:moveTo>
                    <a:pt x="0" y="0"/>
                  </a:moveTo>
                  <a:lnTo>
                    <a:pt x="1335024" y="0"/>
                  </a:lnTo>
                  <a:lnTo>
                    <a:pt x="1335024" y="590500"/>
                  </a:lnTo>
                  <a:lnTo>
                    <a:pt x="0" y="590500"/>
                  </a:lnTo>
                  <a:close/>
                </a:path>
              </a:pathLst>
            </a:custGeom>
            <a:blipFill>
              <a:blip r:embed="rId4">
                <a:alphaModFix amt="0"/>
              </a:blip>
              <a:stretch>
                <a:fillRect l="-2727" r="-2727" b="7088"/>
              </a:stretch>
            </a:blipFill>
          </p:spPr>
        </p:sp>
        <p:sp>
          <p:nvSpPr>
            <p:cNvPr id="14" name="TextBox 14"/>
            <p:cNvSpPr txBox="1"/>
            <p:nvPr/>
          </p:nvSpPr>
          <p:spPr>
            <a:xfrm>
              <a:off x="0" y="-9525"/>
              <a:ext cx="1335024" cy="600025"/>
            </a:xfrm>
            <a:prstGeom prst="rect">
              <a:avLst/>
            </a:prstGeom>
          </p:spPr>
          <p:txBody>
            <a:bodyPr lIns="0" tIns="0" rIns="0" bIns="0" rtlCol="0" anchor="ctr"/>
            <a:lstStyle/>
            <a:p>
              <a:pPr algn="r">
                <a:lnSpc>
                  <a:spcPts val="1980"/>
                </a:lnSpc>
              </a:pPr>
              <a:r>
                <a:rPr lang="en-US" sz="1650" b="1">
                  <a:solidFill>
                    <a:srgbClr val="8A6420"/>
                  </a:solidFill>
                  <a:latin typeface="Courier New Bold"/>
                  <a:ea typeface="Courier New Bold"/>
                  <a:cs typeface="Courier New Bold"/>
                  <a:sym typeface="Courier New Bold"/>
                </a:rPr>
                <a:t>08</a:t>
              </a:r>
            </a:p>
          </p:txBody>
        </p:sp>
      </p:grpSp>
      <p:grpSp>
        <p:nvGrpSpPr>
          <p:cNvPr id="15" name="Group 15"/>
          <p:cNvGrpSpPr/>
          <p:nvPr/>
        </p:nvGrpSpPr>
        <p:grpSpPr>
          <a:xfrm>
            <a:off x="960120" y="2369857"/>
            <a:ext cx="16382238" cy="824865"/>
            <a:chOff x="0" y="0"/>
            <a:chExt cx="21842984" cy="1099820"/>
          </a:xfrm>
        </p:grpSpPr>
        <p:sp>
          <p:nvSpPr>
            <p:cNvPr id="16" name="Freeform 16"/>
            <p:cNvSpPr/>
            <p:nvPr/>
          </p:nvSpPr>
          <p:spPr>
            <a:xfrm>
              <a:off x="0" y="0"/>
              <a:ext cx="21842985" cy="1099820"/>
            </a:xfrm>
            <a:custGeom>
              <a:avLst/>
              <a:gdLst/>
              <a:ahLst/>
              <a:cxnLst/>
              <a:rect l="l" t="t" r="r" b="b"/>
              <a:pathLst>
                <a:path w="21842985" h="1099820">
                  <a:moveTo>
                    <a:pt x="0" y="69492"/>
                  </a:moveTo>
                  <a:cubicBezTo>
                    <a:pt x="0" y="31061"/>
                    <a:pt x="49784" y="0"/>
                    <a:pt x="111379" y="0"/>
                  </a:cubicBezTo>
                  <a:lnTo>
                    <a:pt x="21731605" y="0"/>
                  </a:lnTo>
                  <a:cubicBezTo>
                    <a:pt x="21793073" y="0"/>
                    <a:pt x="21842985" y="31061"/>
                    <a:pt x="21842985" y="69492"/>
                  </a:cubicBezTo>
                  <a:lnTo>
                    <a:pt x="21842985" y="1030328"/>
                  </a:lnTo>
                  <a:cubicBezTo>
                    <a:pt x="21842985" y="1068680"/>
                    <a:pt x="21793200" y="1099820"/>
                    <a:pt x="21731605" y="1099820"/>
                  </a:cubicBezTo>
                  <a:lnTo>
                    <a:pt x="111379" y="1099820"/>
                  </a:lnTo>
                  <a:cubicBezTo>
                    <a:pt x="49911" y="1099820"/>
                    <a:pt x="0" y="1068759"/>
                    <a:pt x="0" y="1030328"/>
                  </a:cubicBezTo>
                  <a:close/>
                </a:path>
              </a:pathLst>
            </a:custGeom>
            <a:solidFill>
              <a:srgbClr val="0D1632">
                <a:alpha val="77255"/>
              </a:srgbClr>
            </a:solidFill>
            <a:ln w="19050" cap="sq">
              <a:solidFill>
                <a:srgbClr val="24406F"/>
              </a:solidFill>
              <a:prstDash val="solid"/>
              <a:miter/>
            </a:ln>
          </p:spPr>
        </p:sp>
      </p:grpSp>
      <p:grpSp>
        <p:nvGrpSpPr>
          <p:cNvPr id="17" name="Group 17"/>
          <p:cNvGrpSpPr/>
          <p:nvPr/>
        </p:nvGrpSpPr>
        <p:grpSpPr>
          <a:xfrm>
            <a:off x="1381125" y="2375800"/>
            <a:ext cx="6035040" cy="812979"/>
            <a:chOff x="0" y="0"/>
            <a:chExt cx="8046720" cy="1083972"/>
          </a:xfrm>
        </p:grpSpPr>
        <p:sp>
          <p:nvSpPr>
            <p:cNvPr id="18" name="Freeform 18"/>
            <p:cNvSpPr/>
            <p:nvPr/>
          </p:nvSpPr>
          <p:spPr>
            <a:xfrm>
              <a:off x="0" y="0"/>
              <a:ext cx="8046720" cy="1083972"/>
            </a:xfrm>
            <a:custGeom>
              <a:avLst/>
              <a:gdLst/>
              <a:ahLst/>
              <a:cxnLst/>
              <a:rect l="l" t="t" r="r" b="b"/>
              <a:pathLst>
                <a:path w="8046720" h="1083972">
                  <a:moveTo>
                    <a:pt x="0" y="0"/>
                  </a:moveTo>
                  <a:lnTo>
                    <a:pt x="8046720" y="0"/>
                  </a:lnTo>
                  <a:lnTo>
                    <a:pt x="8046720" y="1083972"/>
                  </a:lnTo>
                  <a:lnTo>
                    <a:pt x="0" y="1083972"/>
                  </a:lnTo>
                  <a:close/>
                </a:path>
              </a:pathLst>
            </a:custGeom>
            <a:blipFill>
              <a:blip r:embed="rId4">
                <a:alphaModFix amt="0"/>
              </a:blip>
              <a:stretch>
                <a:fillRect t="-64505" b="-124783"/>
              </a:stretch>
            </a:blipFill>
          </p:spPr>
        </p:sp>
        <p:sp>
          <p:nvSpPr>
            <p:cNvPr id="19" name="TextBox 19"/>
            <p:cNvSpPr txBox="1"/>
            <p:nvPr/>
          </p:nvSpPr>
          <p:spPr>
            <a:xfrm>
              <a:off x="0" y="-19050"/>
              <a:ext cx="8046720" cy="1103022"/>
            </a:xfrm>
            <a:prstGeom prst="rect">
              <a:avLst/>
            </a:prstGeom>
          </p:spPr>
          <p:txBody>
            <a:bodyPr lIns="0" tIns="0" rIns="0" bIns="0" rtlCol="0" anchor="ctr"/>
            <a:lstStyle/>
            <a:p>
              <a:pPr algn="l">
                <a:lnSpc>
                  <a:spcPts val="2610"/>
                </a:lnSpc>
              </a:pPr>
              <a:r>
                <a:rPr lang="en-US" sz="2175" b="1">
                  <a:solidFill>
                    <a:srgbClr val="FFFFFF"/>
                  </a:solidFill>
                  <a:latin typeface="Arial Bold"/>
                  <a:ea typeface="Arial Bold"/>
                  <a:cs typeface="Arial Bold"/>
                  <a:sym typeface="Arial Bold"/>
                </a:rPr>
                <a:t>Akurasi Data &amp; Kedalaman Insight</a:t>
              </a:r>
            </a:p>
          </p:txBody>
        </p:sp>
      </p:grpSp>
      <p:grpSp>
        <p:nvGrpSpPr>
          <p:cNvPr id="20" name="Group 20"/>
          <p:cNvGrpSpPr/>
          <p:nvPr/>
        </p:nvGrpSpPr>
        <p:grpSpPr>
          <a:xfrm>
            <a:off x="7680960" y="2686491"/>
            <a:ext cx="8660130" cy="200155"/>
            <a:chOff x="0" y="0"/>
            <a:chExt cx="11546840" cy="266873"/>
          </a:xfrm>
        </p:grpSpPr>
        <p:sp>
          <p:nvSpPr>
            <p:cNvPr id="21" name="Freeform 21"/>
            <p:cNvSpPr/>
            <p:nvPr/>
          </p:nvSpPr>
          <p:spPr>
            <a:xfrm>
              <a:off x="0" y="0"/>
              <a:ext cx="11546840" cy="266873"/>
            </a:xfrm>
            <a:custGeom>
              <a:avLst/>
              <a:gdLst/>
              <a:ahLst/>
              <a:cxnLst/>
              <a:rect l="l" t="t" r="r" b="b"/>
              <a:pathLst>
                <a:path w="11546840" h="266873">
                  <a:moveTo>
                    <a:pt x="0" y="121313"/>
                  </a:moveTo>
                  <a:cubicBezTo>
                    <a:pt x="0" y="54278"/>
                    <a:pt x="86995" y="0"/>
                    <a:pt x="194437" y="0"/>
                  </a:cubicBezTo>
                  <a:lnTo>
                    <a:pt x="11352403" y="0"/>
                  </a:lnTo>
                  <a:cubicBezTo>
                    <a:pt x="11459845" y="0"/>
                    <a:pt x="11546840" y="54278"/>
                    <a:pt x="11546840" y="121313"/>
                  </a:cubicBezTo>
                  <a:lnTo>
                    <a:pt x="11546840" y="145560"/>
                  </a:lnTo>
                  <a:cubicBezTo>
                    <a:pt x="11546840" y="212595"/>
                    <a:pt x="11459845" y="266873"/>
                    <a:pt x="11352403" y="266873"/>
                  </a:cubicBezTo>
                  <a:lnTo>
                    <a:pt x="194437" y="266873"/>
                  </a:lnTo>
                  <a:cubicBezTo>
                    <a:pt x="86995" y="266873"/>
                    <a:pt x="0" y="212595"/>
                    <a:pt x="0" y="145560"/>
                  </a:cubicBezTo>
                  <a:close/>
                </a:path>
              </a:pathLst>
            </a:custGeom>
            <a:solidFill>
              <a:srgbClr val="16264A"/>
            </a:solidFill>
            <a:ln w="19050" cap="sq">
              <a:solidFill>
                <a:srgbClr val="333333"/>
              </a:solidFill>
              <a:prstDash val="solid"/>
              <a:miter/>
            </a:ln>
          </p:spPr>
        </p:sp>
      </p:grpSp>
      <p:grpSp>
        <p:nvGrpSpPr>
          <p:cNvPr id="22" name="Group 22"/>
          <p:cNvGrpSpPr/>
          <p:nvPr/>
        </p:nvGrpSpPr>
        <p:grpSpPr>
          <a:xfrm>
            <a:off x="7680960" y="2686491"/>
            <a:ext cx="8660130" cy="200155"/>
            <a:chOff x="0" y="0"/>
            <a:chExt cx="11546840" cy="266873"/>
          </a:xfrm>
        </p:grpSpPr>
        <p:sp>
          <p:nvSpPr>
            <p:cNvPr id="23" name="Freeform 23"/>
            <p:cNvSpPr/>
            <p:nvPr/>
          </p:nvSpPr>
          <p:spPr>
            <a:xfrm>
              <a:off x="0" y="0"/>
              <a:ext cx="11546840" cy="266873"/>
            </a:xfrm>
            <a:custGeom>
              <a:avLst/>
              <a:gdLst/>
              <a:ahLst/>
              <a:cxnLst/>
              <a:rect l="l" t="t" r="r" b="b"/>
              <a:pathLst>
                <a:path w="11546840" h="266873">
                  <a:moveTo>
                    <a:pt x="0" y="121313"/>
                  </a:moveTo>
                  <a:cubicBezTo>
                    <a:pt x="0" y="54278"/>
                    <a:pt x="86995" y="0"/>
                    <a:pt x="194437" y="0"/>
                  </a:cubicBezTo>
                  <a:lnTo>
                    <a:pt x="11352403" y="0"/>
                  </a:lnTo>
                  <a:cubicBezTo>
                    <a:pt x="11459845" y="0"/>
                    <a:pt x="11546840" y="54278"/>
                    <a:pt x="11546840" y="121313"/>
                  </a:cubicBezTo>
                  <a:lnTo>
                    <a:pt x="11546840" y="145560"/>
                  </a:lnTo>
                  <a:cubicBezTo>
                    <a:pt x="11546840" y="212595"/>
                    <a:pt x="11459845" y="266873"/>
                    <a:pt x="11352403" y="266873"/>
                  </a:cubicBezTo>
                  <a:lnTo>
                    <a:pt x="194437" y="266873"/>
                  </a:lnTo>
                  <a:cubicBezTo>
                    <a:pt x="86995" y="266873"/>
                    <a:pt x="0" y="212595"/>
                    <a:pt x="0" y="145560"/>
                  </a:cubicBezTo>
                  <a:close/>
                </a:path>
              </a:pathLst>
            </a:custGeom>
            <a:solidFill>
              <a:srgbClr val="E9A944"/>
            </a:solidFill>
            <a:ln w="19050" cap="sq">
              <a:solidFill>
                <a:srgbClr val="333333"/>
              </a:solidFill>
              <a:prstDash val="solid"/>
              <a:miter/>
            </a:ln>
          </p:spPr>
        </p:sp>
      </p:grpSp>
      <p:grpSp>
        <p:nvGrpSpPr>
          <p:cNvPr id="24" name="Group 24"/>
          <p:cNvGrpSpPr/>
          <p:nvPr/>
        </p:nvGrpSpPr>
        <p:grpSpPr>
          <a:xfrm>
            <a:off x="16468725" y="2375800"/>
            <a:ext cx="864108" cy="812979"/>
            <a:chOff x="0" y="0"/>
            <a:chExt cx="1152144" cy="1083972"/>
          </a:xfrm>
        </p:grpSpPr>
        <p:sp>
          <p:nvSpPr>
            <p:cNvPr id="25" name="Freeform 25"/>
            <p:cNvSpPr/>
            <p:nvPr/>
          </p:nvSpPr>
          <p:spPr>
            <a:xfrm>
              <a:off x="0" y="0"/>
              <a:ext cx="1152144" cy="1083972"/>
            </a:xfrm>
            <a:custGeom>
              <a:avLst/>
              <a:gdLst/>
              <a:ahLst/>
              <a:cxnLst/>
              <a:rect l="l" t="t" r="r" b="b"/>
              <a:pathLst>
                <a:path w="1152144" h="1083972">
                  <a:moveTo>
                    <a:pt x="0" y="0"/>
                  </a:moveTo>
                  <a:lnTo>
                    <a:pt x="1152144" y="0"/>
                  </a:lnTo>
                  <a:lnTo>
                    <a:pt x="1152144" y="1083972"/>
                  </a:lnTo>
                  <a:lnTo>
                    <a:pt x="0" y="1083972"/>
                  </a:lnTo>
                  <a:close/>
                </a:path>
              </a:pathLst>
            </a:custGeom>
            <a:blipFill>
              <a:blip r:embed="rId4">
                <a:alphaModFix amt="0"/>
              </a:blip>
              <a:stretch>
                <a:fillRect l="-143473" r="-143473" b="-60277"/>
              </a:stretch>
            </a:blipFill>
          </p:spPr>
        </p:sp>
        <p:sp>
          <p:nvSpPr>
            <p:cNvPr id="26" name="TextBox 26"/>
            <p:cNvSpPr txBox="1"/>
            <p:nvPr/>
          </p:nvSpPr>
          <p:spPr>
            <a:xfrm>
              <a:off x="0" y="-19050"/>
              <a:ext cx="1152144" cy="1103022"/>
            </a:xfrm>
            <a:prstGeom prst="rect">
              <a:avLst/>
            </a:prstGeom>
          </p:spPr>
          <p:txBody>
            <a:bodyPr lIns="0" tIns="0" rIns="0" bIns="0" rtlCol="0" anchor="ctr"/>
            <a:lstStyle/>
            <a:p>
              <a:pPr algn="r">
                <a:lnSpc>
                  <a:spcPts val="3359"/>
                </a:lnSpc>
              </a:pPr>
              <a:r>
                <a:rPr lang="en-US" sz="2799" b="1">
                  <a:solidFill>
                    <a:srgbClr val="E9A944"/>
                  </a:solidFill>
                  <a:latin typeface="Arial Bold"/>
                  <a:ea typeface="Arial Bold"/>
                  <a:cs typeface="Arial Bold"/>
                  <a:sym typeface="Arial Bold"/>
                </a:rPr>
                <a:t>25%</a:t>
              </a:r>
            </a:p>
          </p:txBody>
        </p:sp>
      </p:grpSp>
      <p:grpSp>
        <p:nvGrpSpPr>
          <p:cNvPr id="27" name="Group 27"/>
          <p:cNvGrpSpPr/>
          <p:nvPr/>
        </p:nvGrpSpPr>
        <p:grpSpPr>
          <a:xfrm>
            <a:off x="960120" y="8778240"/>
            <a:ext cx="16363188" cy="576072"/>
            <a:chOff x="0" y="0"/>
            <a:chExt cx="21817584" cy="768096"/>
          </a:xfrm>
        </p:grpSpPr>
        <p:sp>
          <p:nvSpPr>
            <p:cNvPr id="28" name="Freeform 28"/>
            <p:cNvSpPr/>
            <p:nvPr/>
          </p:nvSpPr>
          <p:spPr>
            <a:xfrm>
              <a:off x="0" y="0"/>
              <a:ext cx="21817585" cy="768096"/>
            </a:xfrm>
            <a:custGeom>
              <a:avLst/>
              <a:gdLst/>
              <a:ahLst/>
              <a:cxnLst/>
              <a:rect l="l" t="t" r="r" b="b"/>
              <a:pathLst>
                <a:path w="21817585" h="768096">
                  <a:moveTo>
                    <a:pt x="0" y="0"/>
                  </a:moveTo>
                  <a:lnTo>
                    <a:pt x="21817585" y="0"/>
                  </a:lnTo>
                  <a:lnTo>
                    <a:pt x="21817585" y="768096"/>
                  </a:lnTo>
                  <a:lnTo>
                    <a:pt x="0" y="768096"/>
                  </a:lnTo>
                  <a:close/>
                </a:path>
              </a:pathLst>
            </a:custGeom>
            <a:blipFill>
              <a:blip r:embed="rId4">
                <a:alphaModFix amt="0"/>
              </a:blip>
              <a:stretch>
                <a:fillRect t="-503467" b="-503467"/>
              </a:stretch>
            </a:blipFill>
          </p:spPr>
        </p:sp>
        <p:sp>
          <p:nvSpPr>
            <p:cNvPr id="29" name="TextBox 29"/>
            <p:cNvSpPr txBox="1"/>
            <p:nvPr/>
          </p:nvSpPr>
          <p:spPr>
            <a:xfrm>
              <a:off x="0" y="-38100"/>
              <a:ext cx="21817584" cy="806196"/>
            </a:xfrm>
            <a:prstGeom prst="rect">
              <a:avLst/>
            </a:prstGeom>
          </p:spPr>
          <p:txBody>
            <a:bodyPr lIns="0" tIns="0" rIns="0" bIns="0" rtlCol="0" anchor="ctr"/>
            <a:lstStyle/>
            <a:p>
              <a:pPr algn="l">
                <a:lnSpc>
                  <a:spcPts val="2160"/>
                </a:lnSpc>
              </a:pPr>
              <a:r>
                <a:rPr lang="en-US" sz="1800" i="1">
                  <a:solidFill>
                    <a:srgbClr val="9FB0CE"/>
                  </a:solidFill>
                  <a:latin typeface="Calibri (MS) Italics"/>
                  <a:ea typeface="Calibri (MS) Italics"/>
                  <a:cs typeface="Calibri (MS) Italics"/>
                  <a:sym typeface="Calibri (MS) Italics"/>
                </a:rPr>
                <a:t>Total bobot 100%. Akurasi data memegang porsi terbesar — infografis yang indah tetapi keliru membacanya akan kalah oleh karya yang analisisnya benar.</a:t>
              </a:r>
            </a:p>
          </p:txBody>
        </p:sp>
      </p:grpSp>
      <p:grpSp>
        <p:nvGrpSpPr>
          <p:cNvPr id="30" name="Group 30"/>
          <p:cNvGrpSpPr/>
          <p:nvPr/>
        </p:nvGrpSpPr>
        <p:grpSpPr>
          <a:xfrm>
            <a:off x="960120" y="3394747"/>
            <a:ext cx="16382238" cy="824865"/>
            <a:chOff x="0" y="0"/>
            <a:chExt cx="21842984" cy="1099820"/>
          </a:xfrm>
        </p:grpSpPr>
        <p:sp>
          <p:nvSpPr>
            <p:cNvPr id="31" name="Freeform 31"/>
            <p:cNvSpPr/>
            <p:nvPr/>
          </p:nvSpPr>
          <p:spPr>
            <a:xfrm>
              <a:off x="0" y="0"/>
              <a:ext cx="21842985" cy="1099820"/>
            </a:xfrm>
            <a:custGeom>
              <a:avLst/>
              <a:gdLst/>
              <a:ahLst/>
              <a:cxnLst/>
              <a:rect l="l" t="t" r="r" b="b"/>
              <a:pathLst>
                <a:path w="21842985" h="1099820">
                  <a:moveTo>
                    <a:pt x="0" y="69492"/>
                  </a:moveTo>
                  <a:cubicBezTo>
                    <a:pt x="0" y="31061"/>
                    <a:pt x="49784" y="0"/>
                    <a:pt x="111379" y="0"/>
                  </a:cubicBezTo>
                  <a:lnTo>
                    <a:pt x="21731605" y="0"/>
                  </a:lnTo>
                  <a:cubicBezTo>
                    <a:pt x="21793073" y="0"/>
                    <a:pt x="21842985" y="31061"/>
                    <a:pt x="21842985" y="69492"/>
                  </a:cubicBezTo>
                  <a:lnTo>
                    <a:pt x="21842985" y="1030328"/>
                  </a:lnTo>
                  <a:cubicBezTo>
                    <a:pt x="21842985" y="1068680"/>
                    <a:pt x="21793200" y="1099820"/>
                    <a:pt x="21731605" y="1099820"/>
                  </a:cubicBezTo>
                  <a:lnTo>
                    <a:pt x="111379" y="1099820"/>
                  </a:lnTo>
                  <a:cubicBezTo>
                    <a:pt x="49911" y="1099820"/>
                    <a:pt x="0" y="1068759"/>
                    <a:pt x="0" y="1030328"/>
                  </a:cubicBezTo>
                  <a:close/>
                </a:path>
              </a:pathLst>
            </a:custGeom>
            <a:solidFill>
              <a:srgbClr val="0D1632">
                <a:alpha val="77255"/>
              </a:srgbClr>
            </a:solidFill>
            <a:ln w="19050" cap="sq">
              <a:solidFill>
                <a:srgbClr val="24406F"/>
              </a:solidFill>
              <a:prstDash val="solid"/>
              <a:miter/>
            </a:ln>
          </p:spPr>
        </p:sp>
      </p:grpSp>
      <p:grpSp>
        <p:nvGrpSpPr>
          <p:cNvPr id="32" name="Group 32"/>
          <p:cNvGrpSpPr/>
          <p:nvPr/>
        </p:nvGrpSpPr>
        <p:grpSpPr>
          <a:xfrm>
            <a:off x="1381125" y="3400690"/>
            <a:ext cx="6035040" cy="812979"/>
            <a:chOff x="0" y="0"/>
            <a:chExt cx="8046720" cy="1083972"/>
          </a:xfrm>
        </p:grpSpPr>
        <p:sp>
          <p:nvSpPr>
            <p:cNvPr id="33" name="Freeform 33"/>
            <p:cNvSpPr/>
            <p:nvPr/>
          </p:nvSpPr>
          <p:spPr>
            <a:xfrm>
              <a:off x="0" y="0"/>
              <a:ext cx="8046720" cy="1083972"/>
            </a:xfrm>
            <a:custGeom>
              <a:avLst/>
              <a:gdLst/>
              <a:ahLst/>
              <a:cxnLst/>
              <a:rect l="l" t="t" r="r" b="b"/>
              <a:pathLst>
                <a:path w="8046720" h="1083972">
                  <a:moveTo>
                    <a:pt x="0" y="0"/>
                  </a:moveTo>
                  <a:lnTo>
                    <a:pt x="8046720" y="0"/>
                  </a:lnTo>
                  <a:lnTo>
                    <a:pt x="8046720" y="1083972"/>
                  </a:lnTo>
                  <a:lnTo>
                    <a:pt x="0" y="1083972"/>
                  </a:lnTo>
                  <a:close/>
                </a:path>
              </a:pathLst>
            </a:custGeom>
            <a:blipFill>
              <a:blip r:embed="rId4">
                <a:alphaModFix amt="0"/>
              </a:blip>
              <a:stretch>
                <a:fillRect t="-64505" b="-124783"/>
              </a:stretch>
            </a:blipFill>
          </p:spPr>
        </p:sp>
        <p:sp>
          <p:nvSpPr>
            <p:cNvPr id="34" name="TextBox 34"/>
            <p:cNvSpPr txBox="1"/>
            <p:nvPr/>
          </p:nvSpPr>
          <p:spPr>
            <a:xfrm>
              <a:off x="0" y="-19050"/>
              <a:ext cx="8046720" cy="1103022"/>
            </a:xfrm>
            <a:prstGeom prst="rect">
              <a:avLst/>
            </a:prstGeom>
          </p:spPr>
          <p:txBody>
            <a:bodyPr lIns="0" tIns="0" rIns="0" bIns="0" rtlCol="0" anchor="ctr"/>
            <a:lstStyle/>
            <a:p>
              <a:pPr algn="l">
                <a:lnSpc>
                  <a:spcPts val="2610"/>
                </a:lnSpc>
              </a:pPr>
              <a:r>
                <a:rPr lang="en-US" sz="2175" b="1">
                  <a:solidFill>
                    <a:srgbClr val="FFFFFF"/>
                  </a:solidFill>
                  <a:latin typeface="Arial Bold"/>
                  <a:ea typeface="Arial Bold"/>
                  <a:cs typeface="Arial Bold"/>
                  <a:sym typeface="Arial Bold"/>
                </a:rPr>
                <a:t>Kesesuaian dengan Brief &amp; Adaptasi</a:t>
              </a:r>
            </a:p>
          </p:txBody>
        </p:sp>
      </p:grpSp>
      <p:grpSp>
        <p:nvGrpSpPr>
          <p:cNvPr id="35" name="Group 35"/>
          <p:cNvGrpSpPr/>
          <p:nvPr/>
        </p:nvGrpSpPr>
        <p:grpSpPr>
          <a:xfrm>
            <a:off x="7680960" y="3711381"/>
            <a:ext cx="8660130" cy="200155"/>
            <a:chOff x="0" y="0"/>
            <a:chExt cx="11546840" cy="266873"/>
          </a:xfrm>
        </p:grpSpPr>
        <p:sp>
          <p:nvSpPr>
            <p:cNvPr id="36" name="Freeform 36"/>
            <p:cNvSpPr/>
            <p:nvPr/>
          </p:nvSpPr>
          <p:spPr>
            <a:xfrm>
              <a:off x="0" y="0"/>
              <a:ext cx="11546840" cy="266873"/>
            </a:xfrm>
            <a:custGeom>
              <a:avLst/>
              <a:gdLst/>
              <a:ahLst/>
              <a:cxnLst/>
              <a:rect l="l" t="t" r="r" b="b"/>
              <a:pathLst>
                <a:path w="11546840" h="266873">
                  <a:moveTo>
                    <a:pt x="0" y="121313"/>
                  </a:moveTo>
                  <a:cubicBezTo>
                    <a:pt x="0" y="54278"/>
                    <a:pt x="86995" y="0"/>
                    <a:pt x="194437" y="0"/>
                  </a:cubicBezTo>
                  <a:lnTo>
                    <a:pt x="11352403" y="0"/>
                  </a:lnTo>
                  <a:cubicBezTo>
                    <a:pt x="11459845" y="0"/>
                    <a:pt x="11546840" y="54278"/>
                    <a:pt x="11546840" y="121313"/>
                  </a:cubicBezTo>
                  <a:lnTo>
                    <a:pt x="11546840" y="145560"/>
                  </a:lnTo>
                  <a:cubicBezTo>
                    <a:pt x="11546840" y="212595"/>
                    <a:pt x="11459845" y="266873"/>
                    <a:pt x="11352403" y="266873"/>
                  </a:cubicBezTo>
                  <a:lnTo>
                    <a:pt x="194437" y="266873"/>
                  </a:lnTo>
                  <a:cubicBezTo>
                    <a:pt x="86995" y="266873"/>
                    <a:pt x="0" y="212595"/>
                    <a:pt x="0" y="145560"/>
                  </a:cubicBezTo>
                  <a:close/>
                </a:path>
              </a:pathLst>
            </a:custGeom>
            <a:solidFill>
              <a:srgbClr val="16264A"/>
            </a:solidFill>
            <a:ln w="19050" cap="sq">
              <a:solidFill>
                <a:srgbClr val="333333"/>
              </a:solidFill>
              <a:prstDash val="solid"/>
              <a:miter/>
            </a:ln>
          </p:spPr>
        </p:sp>
      </p:grpSp>
      <p:grpSp>
        <p:nvGrpSpPr>
          <p:cNvPr id="37" name="Group 37"/>
          <p:cNvGrpSpPr/>
          <p:nvPr/>
        </p:nvGrpSpPr>
        <p:grpSpPr>
          <a:xfrm>
            <a:off x="7680960" y="3711381"/>
            <a:ext cx="4663884" cy="200155"/>
            <a:chOff x="0" y="0"/>
            <a:chExt cx="6218512" cy="266873"/>
          </a:xfrm>
        </p:grpSpPr>
        <p:sp>
          <p:nvSpPr>
            <p:cNvPr id="38" name="Freeform 38"/>
            <p:cNvSpPr/>
            <p:nvPr/>
          </p:nvSpPr>
          <p:spPr>
            <a:xfrm>
              <a:off x="0" y="0"/>
              <a:ext cx="6218512" cy="266873"/>
            </a:xfrm>
            <a:custGeom>
              <a:avLst/>
              <a:gdLst/>
              <a:ahLst/>
              <a:cxnLst/>
              <a:rect l="l" t="t" r="r" b="b"/>
              <a:pathLst>
                <a:path w="6218512" h="266873">
                  <a:moveTo>
                    <a:pt x="0" y="121313"/>
                  </a:moveTo>
                  <a:cubicBezTo>
                    <a:pt x="0" y="54278"/>
                    <a:pt x="46851" y="0"/>
                    <a:pt x="104713" y="0"/>
                  </a:cubicBezTo>
                  <a:lnTo>
                    <a:pt x="6113798" y="0"/>
                  </a:lnTo>
                  <a:cubicBezTo>
                    <a:pt x="6171661" y="0"/>
                    <a:pt x="6218512" y="54278"/>
                    <a:pt x="6218512" y="121313"/>
                  </a:cubicBezTo>
                  <a:lnTo>
                    <a:pt x="6218512" y="145560"/>
                  </a:lnTo>
                  <a:cubicBezTo>
                    <a:pt x="6218512" y="212595"/>
                    <a:pt x="6171661" y="266873"/>
                    <a:pt x="6113798" y="266873"/>
                  </a:cubicBezTo>
                  <a:lnTo>
                    <a:pt x="104713" y="266873"/>
                  </a:lnTo>
                  <a:cubicBezTo>
                    <a:pt x="46851" y="266873"/>
                    <a:pt x="0" y="212595"/>
                    <a:pt x="0" y="145560"/>
                  </a:cubicBezTo>
                  <a:close/>
                </a:path>
              </a:pathLst>
            </a:custGeom>
            <a:solidFill>
              <a:srgbClr val="E9A944"/>
            </a:solidFill>
            <a:ln w="19050" cap="sq">
              <a:solidFill>
                <a:srgbClr val="333333"/>
              </a:solidFill>
              <a:prstDash val="solid"/>
              <a:miter/>
            </a:ln>
          </p:spPr>
        </p:sp>
      </p:grpSp>
      <p:grpSp>
        <p:nvGrpSpPr>
          <p:cNvPr id="39" name="Group 39"/>
          <p:cNvGrpSpPr/>
          <p:nvPr/>
        </p:nvGrpSpPr>
        <p:grpSpPr>
          <a:xfrm>
            <a:off x="16468725" y="3400690"/>
            <a:ext cx="864108" cy="812979"/>
            <a:chOff x="0" y="0"/>
            <a:chExt cx="1152144" cy="1083972"/>
          </a:xfrm>
        </p:grpSpPr>
        <p:sp>
          <p:nvSpPr>
            <p:cNvPr id="40" name="Freeform 40"/>
            <p:cNvSpPr/>
            <p:nvPr/>
          </p:nvSpPr>
          <p:spPr>
            <a:xfrm>
              <a:off x="0" y="0"/>
              <a:ext cx="1152144" cy="1083972"/>
            </a:xfrm>
            <a:custGeom>
              <a:avLst/>
              <a:gdLst/>
              <a:ahLst/>
              <a:cxnLst/>
              <a:rect l="l" t="t" r="r" b="b"/>
              <a:pathLst>
                <a:path w="1152144" h="1083972">
                  <a:moveTo>
                    <a:pt x="0" y="0"/>
                  </a:moveTo>
                  <a:lnTo>
                    <a:pt x="1152144" y="0"/>
                  </a:lnTo>
                  <a:lnTo>
                    <a:pt x="1152144" y="1083972"/>
                  </a:lnTo>
                  <a:lnTo>
                    <a:pt x="0" y="1083972"/>
                  </a:lnTo>
                  <a:close/>
                </a:path>
              </a:pathLst>
            </a:custGeom>
            <a:blipFill>
              <a:blip r:embed="rId4">
                <a:alphaModFix amt="0"/>
              </a:blip>
              <a:stretch>
                <a:fillRect l="-143473" r="-143473" b="-60277"/>
              </a:stretch>
            </a:blipFill>
          </p:spPr>
        </p:sp>
        <p:sp>
          <p:nvSpPr>
            <p:cNvPr id="41" name="TextBox 41"/>
            <p:cNvSpPr txBox="1"/>
            <p:nvPr/>
          </p:nvSpPr>
          <p:spPr>
            <a:xfrm>
              <a:off x="0" y="-19050"/>
              <a:ext cx="1152144" cy="1103022"/>
            </a:xfrm>
            <a:prstGeom prst="rect">
              <a:avLst/>
            </a:prstGeom>
          </p:spPr>
          <p:txBody>
            <a:bodyPr lIns="0" tIns="0" rIns="0" bIns="0" rtlCol="0" anchor="ctr"/>
            <a:lstStyle/>
            <a:p>
              <a:pPr algn="r">
                <a:lnSpc>
                  <a:spcPts val="3359"/>
                </a:lnSpc>
              </a:pPr>
              <a:r>
                <a:rPr lang="en-US" sz="2799" b="1">
                  <a:solidFill>
                    <a:srgbClr val="E9A944"/>
                  </a:solidFill>
                  <a:latin typeface="Arial Bold"/>
                  <a:ea typeface="Arial Bold"/>
                  <a:cs typeface="Arial Bold"/>
                  <a:sym typeface="Arial Bold"/>
                </a:rPr>
                <a:t>15%</a:t>
              </a:r>
            </a:p>
          </p:txBody>
        </p:sp>
      </p:grpSp>
      <p:grpSp>
        <p:nvGrpSpPr>
          <p:cNvPr id="42" name="Group 42"/>
          <p:cNvGrpSpPr/>
          <p:nvPr/>
        </p:nvGrpSpPr>
        <p:grpSpPr>
          <a:xfrm>
            <a:off x="960120" y="4419637"/>
            <a:ext cx="16382238" cy="824865"/>
            <a:chOff x="0" y="0"/>
            <a:chExt cx="21842984" cy="1099820"/>
          </a:xfrm>
        </p:grpSpPr>
        <p:sp>
          <p:nvSpPr>
            <p:cNvPr id="43" name="Freeform 43"/>
            <p:cNvSpPr/>
            <p:nvPr/>
          </p:nvSpPr>
          <p:spPr>
            <a:xfrm>
              <a:off x="0" y="0"/>
              <a:ext cx="21842985" cy="1099820"/>
            </a:xfrm>
            <a:custGeom>
              <a:avLst/>
              <a:gdLst/>
              <a:ahLst/>
              <a:cxnLst/>
              <a:rect l="l" t="t" r="r" b="b"/>
              <a:pathLst>
                <a:path w="21842985" h="1099820">
                  <a:moveTo>
                    <a:pt x="0" y="69492"/>
                  </a:moveTo>
                  <a:cubicBezTo>
                    <a:pt x="0" y="31061"/>
                    <a:pt x="49784" y="0"/>
                    <a:pt x="111379" y="0"/>
                  </a:cubicBezTo>
                  <a:lnTo>
                    <a:pt x="21731605" y="0"/>
                  </a:lnTo>
                  <a:cubicBezTo>
                    <a:pt x="21793073" y="0"/>
                    <a:pt x="21842985" y="31061"/>
                    <a:pt x="21842985" y="69492"/>
                  </a:cubicBezTo>
                  <a:lnTo>
                    <a:pt x="21842985" y="1030328"/>
                  </a:lnTo>
                  <a:cubicBezTo>
                    <a:pt x="21842985" y="1068680"/>
                    <a:pt x="21793200" y="1099820"/>
                    <a:pt x="21731605" y="1099820"/>
                  </a:cubicBezTo>
                  <a:lnTo>
                    <a:pt x="111379" y="1099820"/>
                  </a:lnTo>
                  <a:cubicBezTo>
                    <a:pt x="49911" y="1099820"/>
                    <a:pt x="0" y="1068759"/>
                    <a:pt x="0" y="1030328"/>
                  </a:cubicBezTo>
                  <a:close/>
                </a:path>
              </a:pathLst>
            </a:custGeom>
            <a:solidFill>
              <a:srgbClr val="0D1632">
                <a:alpha val="77255"/>
              </a:srgbClr>
            </a:solidFill>
            <a:ln w="19050" cap="sq">
              <a:solidFill>
                <a:srgbClr val="24406F"/>
              </a:solidFill>
              <a:prstDash val="solid"/>
              <a:miter/>
            </a:ln>
          </p:spPr>
        </p:sp>
      </p:grpSp>
      <p:grpSp>
        <p:nvGrpSpPr>
          <p:cNvPr id="44" name="Group 44"/>
          <p:cNvGrpSpPr/>
          <p:nvPr/>
        </p:nvGrpSpPr>
        <p:grpSpPr>
          <a:xfrm>
            <a:off x="1381125" y="4425580"/>
            <a:ext cx="6035040" cy="812979"/>
            <a:chOff x="0" y="0"/>
            <a:chExt cx="8046720" cy="1083972"/>
          </a:xfrm>
        </p:grpSpPr>
        <p:sp>
          <p:nvSpPr>
            <p:cNvPr id="45" name="Freeform 45"/>
            <p:cNvSpPr/>
            <p:nvPr/>
          </p:nvSpPr>
          <p:spPr>
            <a:xfrm>
              <a:off x="0" y="0"/>
              <a:ext cx="8046720" cy="1083972"/>
            </a:xfrm>
            <a:custGeom>
              <a:avLst/>
              <a:gdLst/>
              <a:ahLst/>
              <a:cxnLst/>
              <a:rect l="l" t="t" r="r" b="b"/>
              <a:pathLst>
                <a:path w="8046720" h="1083972">
                  <a:moveTo>
                    <a:pt x="0" y="0"/>
                  </a:moveTo>
                  <a:lnTo>
                    <a:pt x="8046720" y="0"/>
                  </a:lnTo>
                  <a:lnTo>
                    <a:pt x="8046720" y="1083972"/>
                  </a:lnTo>
                  <a:lnTo>
                    <a:pt x="0" y="1083972"/>
                  </a:lnTo>
                  <a:close/>
                </a:path>
              </a:pathLst>
            </a:custGeom>
            <a:blipFill>
              <a:blip r:embed="rId4">
                <a:alphaModFix amt="0"/>
              </a:blip>
              <a:stretch>
                <a:fillRect t="-64505" b="-124783"/>
              </a:stretch>
            </a:blipFill>
          </p:spPr>
        </p:sp>
        <p:sp>
          <p:nvSpPr>
            <p:cNvPr id="46" name="TextBox 46"/>
            <p:cNvSpPr txBox="1"/>
            <p:nvPr/>
          </p:nvSpPr>
          <p:spPr>
            <a:xfrm>
              <a:off x="0" y="-19050"/>
              <a:ext cx="8046720" cy="1103022"/>
            </a:xfrm>
            <a:prstGeom prst="rect">
              <a:avLst/>
            </a:prstGeom>
          </p:spPr>
          <p:txBody>
            <a:bodyPr lIns="0" tIns="0" rIns="0" bIns="0" rtlCol="0" anchor="ctr"/>
            <a:lstStyle/>
            <a:p>
              <a:pPr algn="l">
                <a:lnSpc>
                  <a:spcPts val="2610"/>
                </a:lnSpc>
              </a:pPr>
              <a:r>
                <a:rPr lang="en-US" sz="2175" b="1">
                  <a:solidFill>
                    <a:srgbClr val="FFFFFF"/>
                  </a:solidFill>
                  <a:latin typeface="Arial Bold"/>
                  <a:ea typeface="Arial Bold"/>
                  <a:cs typeface="Arial Bold"/>
                  <a:sym typeface="Arial Bold"/>
                </a:rPr>
                <a:t>Desain Visual &amp; Estetika</a:t>
              </a:r>
            </a:p>
          </p:txBody>
        </p:sp>
      </p:grpSp>
      <p:grpSp>
        <p:nvGrpSpPr>
          <p:cNvPr id="47" name="Group 47"/>
          <p:cNvGrpSpPr/>
          <p:nvPr/>
        </p:nvGrpSpPr>
        <p:grpSpPr>
          <a:xfrm>
            <a:off x="7680960" y="4736271"/>
            <a:ext cx="8660130" cy="200155"/>
            <a:chOff x="0" y="0"/>
            <a:chExt cx="11546840" cy="266873"/>
          </a:xfrm>
        </p:grpSpPr>
        <p:sp>
          <p:nvSpPr>
            <p:cNvPr id="48" name="Freeform 48"/>
            <p:cNvSpPr/>
            <p:nvPr/>
          </p:nvSpPr>
          <p:spPr>
            <a:xfrm>
              <a:off x="0" y="0"/>
              <a:ext cx="11546840" cy="266873"/>
            </a:xfrm>
            <a:custGeom>
              <a:avLst/>
              <a:gdLst/>
              <a:ahLst/>
              <a:cxnLst/>
              <a:rect l="l" t="t" r="r" b="b"/>
              <a:pathLst>
                <a:path w="11546840" h="266873">
                  <a:moveTo>
                    <a:pt x="0" y="121313"/>
                  </a:moveTo>
                  <a:cubicBezTo>
                    <a:pt x="0" y="54278"/>
                    <a:pt x="86995" y="0"/>
                    <a:pt x="194437" y="0"/>
                  </a:cubicBezTo>
                  <a:lnTo>
                    <a:pt x="11352403" y="0"/>
                  </a:lnTo>
                  <a:cubicBezTo>
                    <a:pt x="11459845" y="0"/>
                    <a:pt x="11546840" y="54278"/>
                    <a:pt x="11546840" y="121313"/>
                  </a:cubicBezTo>
                  <a:lnTo>
                    <a:pt x="11546840" y="145560"/>
                  </a:lnTo>
                  <a:cubicBezTo>
                    <a:pt x="11546840" y="212595"/>
                    <a:pt x="11459845" y="266873"/>
                    <a:pt x="11352403" y="266873"/>
                  </a:cubicBezTo>
                  <a:lnTo>
                    <a:pt x="194437" y="266873"/>
                  </a:lnTo>
                  <a:cubicBezTo>
                    <a:pt x="86995" y="266873"/>
                    <a:pt x="0" y="212595"/>
                    <a:pt x="0" y="145560"/>
                  </a:cubicBezTo>
                  <a:close/>
                </a:path>
              </a:pathLst>
            </a:custGeom>
            <a:solidFill>
              <a:srgbClr val="16264A"/>
            </a:solidFill>
            <a:ln w="19050" cap="sq">
              <a:solidFill>
                <a:srgbClr val="333333"/>
              </a:solidFill>
              <a:prstDash val="solid"/>
              <a:miter/>
            </a:ln>
          </p:spPr>
        </p:sp>
      </p:grpSp>
      <p:grpSp>
        <p:nvGrpSpPr>
          <p:cNvPr id="49" name="Group 49"/>
          <p:cNvGrpSpPr/>
          <p:nvPr/>
        </p:nvGrpSpPr>
        <p:grpSpPr>
          <a:xfrm>
            <a:off x="7680960" y="4736271"/>
            <a:ext cx="6955698" cy="200155"/>
            <a:chOff x="0" y="0"/>
            <a:chExt cx="9274264" cy="266873"/>
          </a:xfrm>
        </p:grpSpPr>
        <p:sp>
          <p:nvSpPr>
            <p:cNvPr id="50" name="Freeform 50"/>
            <p:cNvSpPr/>
            <p:nvPr/>
          </p:nvSpPr>
          <p:spPr>
            <a:xfrm>
              <a:off x="0" y="0"/>
              <a:ext cx="9274264" cy="266873"/>
            </a:xfrm>
            <a:custGeom>
              <a:avLst/>
              <a:gdLst/>
              <a:ahLst/>
              <a:cxnLst/>
              <a:rect l="l" t="t" r="r" b="b"/>
              <a:pathLst>
                <a:path w="9274264" h="266873">
                  <a:moveTo>
                    <a:pt x="0" y="121313"/>
                  </a:moveTo>
                  <a:cubicBezTo>
                    <a:pt x="0" y="54278"/>
                    <a:pt x="69873" y="0"/>
                    <a:pt x="156169" y="0"/>
                  </a:cubicBezTo>
                  <a:lnTo>
                    <a:pt x="9118095" y="0"/>
                  </a:lnTo>
                  <a:cubicBezTo>
                    <a:pt x="9204392" y="0"/>
                    <a:pt x="9274264" y="54278"/>
                    <a:pt x="9274264" y="121313"/>
                  </a:cubicBezTo>
                  <a:lnTo>
                    <a:pt x="9274264" y="145560"/>
                  </a:lnTo>
                  <a:cubicBezTo>
                    <a:pt x="9274264" y="212595"/>
                    <a:pt x="9204392" y="266873"/>
                    <a:pt x="9118095" y="266873"/>
                  </a:cubicBezTo>
                  <a:lnTo>
                    <a:pt x="156169" y="266873"/>
                  </a:lnTo>
                  <a:cubicBezTo>
                    <a:pt x="69873" y="266873"/>
                    <a:pt x="0" y="212595"/>
                    <a:pt x="0" y="145560"/>
                  </a:cubicBezTo>
                  <a:close/>
                </a:path>
              </a:pathLst>
            </a:custGeom>
            <a:solidFill>
              <a:srgbClr val="E9A944"/>
            </a:solidFill>
            <a:ln w="19050" cap="sq">
              <a:solidFill>
                <a:srgbClr val="333333"/>
              </a:solidFill>
              <a:prstDash val="solid"/>
              <a:miter/>
            </a:ln>
          </p:spPr>
        </p:sp>
      </p:grpSp>
      <p:grpSp>
        <p:nvGrpSpPr>
          <p:cNvPr id="51" name="Group 51"/>
          <p:cNvGrpSpPr/>
          <p:nvPr/>
        </p:nvGrpSpPr>
        <p:grpSpPr>
          <a:xfrm>
            <a:off x="16468725" y="4425580"/>
            <a:ext cx="864108" cy="812979"/>
            <a:chOff x="0" y="0"/>
            <a:chExt cx="1152144" cy="1083972"/>
          </a:xfrm>
        </p:grpSpPr>
        <p:sp>
          <p:nvSpPr>
            <p:cNvPr id="52" name="Freeform 52"/>
            <p:cNvSpPr/>
            <p:nvPr/>
          </p:nvSpPr>
          <p:spPr>
            <a:xfrm>
              <a:off x="0" y="0"/>
              <a:ext cx="1152144" cy="1083972"/>
            </a:xfrm>
            <a:custGeom>
              <a:avLst/>
              <a:gdLst/>
              <a:ahLst/>
              <a:cxnLst/>
              <a:rect l="l" t="t" r="r" b="b"/>
              <a:pathLst>
                <a:path w="1152144" h="1083972">
                  <a:moveTo>
                    <a:pt x="0" y="0"/>
                  </a:moveTo>
                  <a:lnTo>
                    <a:pt x="1152144" y="0"/>
                  </a:lnTo>
                  <a:lnTo>
                    <a:pt x="1152144" y="1083972"/>
                  </a:lnTo>
                  <a:lnTo>
                    <a:pt x="0" y="1083972"/>
                  </a:lnTo>
                  <a:close/>
                </a:path>
              </a:pathLst>
            </a:custGeom>
            <a:blipFill>
              <a:blip r:embed="rId4">
                <a:alphaModFix amt="0"/>
              </a:blip>
              <a:stretch>
                <a:fillRect l="-143473" r="-143473" b="-60277"/>
              </a:stretch>
            </a:blipFill>
          </p:spPr>
        </p:sp>
        <p:sp>
          <p:nvSpPr>
            <p:cNvPr id="53" name="TextBox 53"/>
            <p:cNvSpPr txBox="1"/>
            <p:nvPr/>
          </p:nvSpPr>
          <p:spPr>
            <a:xfrm>
              <a:off x="0" y="-19050"/>
              <a:ext cx="1152144" cy="1103022"/>
            </a:xfrm>
            <a:prstGeom prst="rect">
              <a:avLst/>
            </a:prstGeom>
          </p:spPr>
          <p:txBody>
            <a:bodyPr lIns="0" tIns="0" rIns="0" bIns="0" rtlCol="0" anchor="ctr"/>
            <a:lstStyle/>
            <a:p>
              <a:pPr algn="r">
                <a:lnSpc>
                  <a:spcPts val="3359"/>
                </a:lnSpc>
              </a:pPr>
              <a:r>
                <a:rPr lang="en-US" sz="2799" b="1">
                  <a:solidFill>
                    <a:srgbClr val="E9A944"/>
                  </a:solidFill>
                  <a:latin typeface="Arial Bold"/>
                  <a:ea typeface="Arial Bold"/>
                  <a:cs typeface="Arial Bold"/>
                  <a:sym typeface="Arial Bold"/>
                </a:rPr>
                <a:t>20%</a:t>
              </a:r>
            </a:p>
          </p:txBody>
        </p:sp>
      </p:grpSp>
      <p:grpSp>
        <p:nvGrpSpPr>
          <p:cNvPr id="54" name="Group 54"/>
          <p:cNvGrpSpPr/>
          <p:nvPr/>
        </p:nvGrpSpPr>
        <p:grpSpPr>
          <a:xfrm>
            <a:off x="960120" y="5444527"/>
            <a:ext cx="16382238" cy="824865"/>
            <a:chOff x="0" y="0"/>
            <a:chExt cx="21842984" cy="1099820"/>
          </a:xfrm>
        </p:grpSpPr>
        <p:sp>
          <p:nvSpPr>
            <p:cNvPr id="55" name="Freeform 55"/>
            <p:cNvSpPr/>
            <p:nvPr/>
          </p:nvSpPr>
          <p:spPr>
            <a:xfrm>
              <a:off x="0" y="0"/>
              <a:ext cx="21842985" cy="1099820"/>
            </a:xfrm>
            <a:custGeom>
              <a:avLst/>
              <a:gdLst/>
              <a:ahLst/>
              <a:cxnLst/>
              <a:rect l="l" t="t" r="r" b="b"/>
              <a:pathLst>
                <a:path w="21842985" h="1099820">
                  <a:moveTo>
                    <a:pt x="0" y="69492"/>
                  </a:moveTo>
                  <a:cubicBezTo>
                    <a:pt x="0" y="31061"/>
                    <a:pt x="49784" y="0"/>
                    <a:pt x="111379" y="0"/>
                  </a:cubicBezTo>
                  <a:lnTo>
                    <a:pt x="21731605" y="0"/>
                  </a:lnTo>
                  <a:cubicBezTo>
                    <a:pt x="21793073" y="0"/>
                    <a:pt x="21842985" y="31061"/>
                    <a:pt x="21842985" y="69492"/>
                  </a:cubicBezTo>
                  <a:lnTo>
                    <a:pt x="21842985" y="1030328"/>
                  </a:lnTo>
                  <a:cubicBezTo>
                    <a:pt x="21842985" y="1068680"/>
                    <a:pt x="21793200" y="1099820"/>
                    <a:pt x="21731605" y="1099820"/>
                  </a:cubicBezTo>
                  <a:lnTo>
                    <a:pt x="111379" y="1099820"/>
                  </a:lnTo>
                  <a:cubicBezTo>
                    <a:pt x="49911" y="1099820"/>
                    <a:pt x="0" y="1068759"/>
                    <a:pt x="0" y="1030328"/>
                  </a:cubicBezTo>
                  <a:close/>
                </a:path>
              </a:pathLst>
            </a:custGeom>
            <a:solidFill>
              <a:srgbClr val="0D1632">
                <a:alpha val="77255"/>
              </a:srgbClr>
            </a:solidFill>
            <a:ln w="19050" cap="sq">
              <a:solidFill>
                <a:srgbClr val="24406F"/>
              </a:solidFill>
              <a:prstDash val="solid"/>
              <a:miter/>
            </a:ln>
          </p:spPr>
        </p:sp>
      </p:grpSp>
      <p:grpSp>
        <p:nvGrpSpPr>
          <p:cNvPr id="56" name="Group 56"/>
          <p:cNvGrpSpPr/>
          <p:nvPr/>
        </p:nvGrpSpPr>
        <p:grpSpPr>
          <a:xfrm>
            <a:off x="1381125" y="5450470"/>
            <a:ext cx="6035040" cy="812979"/>
            <a:chOff x="0" y="0"/>
            <a:chExt cx="8046720" cy="1083972"/>
          </a:xfrm>
        </p:grpSpPr>
        <p:sp>
          <p:nvSpPr>
            <p:cNvPr id="57" name="Freeform 57"/>
            <p:cNvSpPr/>
            <p:nvPr/>
          </p:nvSpPr>
          <p:spPr>
            <a:xfrm>
              <a:off x="0" y="0"/>
              <a:ext cx="8046720" cy="1083972"/>
            </a:xfrm>
            <a:custGeom>
              <a:avLst/>
              <a:gdLst/>
              <a:ahLst/>
              <a:cxnLst/>
              <a:rect l="l" t="t" r="r" b="b"/>
              <a:pathLst>
                <a:path w="8046720" h="1083972">
                  <a:moveTo>
                    <a:pt x="0" y="0"/>
                  </a:moveTo>
                  <a:lnTo>
                    <a:pt x="8046720" y="0"/>
                  </a:lnTo>
                  <a:lnTo>
                    <a:pt x="8046720" y="1083972"/>
                  </a:lnTo>
                  <a:lnTo>
                    <a:pt x="0" y="1083972"/>
                  </a:lnTo>
                  <a:close/>
                </a:path>
              </a:pathLst>
            </a:custGeom>
            <a:blipFill>
              <a:blip r:embed="rId4">
                <a:alphaModFix amt="0"/>
              </a:blip>
              <a:stretch>
                <a:fillRect t="-64505" b="-124783"/>
              </a:stretch>
            </a:blipFill>
          </p:spPr>
        </p:sp>
        <p:sp>
          <p:nvSpPr>
            <p:cNvPr id="58" name="TextBox 58"/>
            <p:cNvSpPr txBox="1"/>
            <p:nvPr/>
          </p:nvSpPr>
          <p:spPr>
            <a:xfrm>
              <a:off x="0" y="-19050"/>
              <a:ext cx="8046720" cy="1103022"/>
            </a:xfrm>
            <a:prstGeom prst="rect">
              <a:avLst/>
            </a:prstGeom>
          </p:spPr>
          <p:txBody>
            <a:bodyPr lIns="0" tIns="0" rIns="0" bIns="0" rtlCol="0" anchor="ctr"/>
            <a:lstStyle/>
            <a:p>
              <a:pPr algn="l">
                <a:lnSpc>
                  <a:spcPts val="2610"/>
                </a:lnSpc>
              </a:pPr>
              <a:r>
                <a:rPr lang="en-US" sz="2175" b="1">
                  <a:solidFill>
                    <a:srgbClr val="FFFFFF"/>
                  </a:solidFill>
                  <a:latin typeface="Arial Bold"/>
                  <a:ea typeface="Arial Bold"/>
                  <a:cs typeface="Arial Bold"/>
                  <a:sym typeface="Arial Bold"/>
                </a:rPr>
                <a:t>Storytelling &amp; Kejelasan Narasi</a:t>
              </a:r>
            </a:p>
          </p:txBody>
        </p:sp>
      </p:grpSp>
      <p:grpSp>
        <p:nvGrpSpPr>
          <p:cNvPr id="59" name="Group 59"/>
          <p:cNvGrpSpPr/>
          <p:nvPr/>
        </p:nvGrpSpPr>
        <p:grpSpPr>
          <a:xfrm>
            <a:off x="7680960" y="5761161"/>
            <a:ext cx="8660130" cy="200155"/>
            <a:chOff x="0" y="0"/>
            <a:chExt cx="11546840" cy="266873"/>
          </a:xfrm>
        </p:grpSpPr>
        <p:sp>
          <p:nvSpPr>
            <p:cNvPr id="60" name="Freeform 60"/>
            <p:cNvSpPr/>
            <p:nvPr/>
          </p:nvSpPr>
          <p:spPr>
            <a:xfrm>
              <a:off x="0" y="0"/>
              <a:ext cx="11546840" cy="266873"/>
            </a:xfrm>
            <a:custGeom>
              <a:avLst/>
              <a:gdLst/>
              <a:ahLst/>
              <a:cxnLst/>
              <a:rect l="l" t="t" r="r" b="b"/>
              <a:pathLst>
                <a:path w="11546840" h="266873">
                  <a:moveTo>
                    <a:pt x="0" y="121313"/>
                  </a:moveTo>
                  <a:cubicBezTo>
                    <a:pt x="0" y="54278"/>
                    <a:pt x="86995" y="0"/>
                    <a:pt x="194437" y="0"/>
                  </a:cubicBezTo>
                  <a:lnTo>
                    <a:pt x="11352403" y="0"/>
                  </a:lnTo>
                  <a:cubicBezTo>
                    <a:pt x="11459845" y="0"/>
                    <a:pt x="11546840" y="54278"/>
                    <a:pt x="11546840" y="121313"/>
                  </a:cubicBezTo>
                  <a:lnTo>
                    <a:pt x="11546840" y="145560"/>
                  </a:lnTo>
                  <a:cubicBezTo>
                    <a:pt x="11546840" y="212595"/>
                    <a:pt x="11459845" y="266873"/>
                    <a:pt x="11352403" y="266873"/>
                  </a:cubicBezTo>
                  <a:lnTo>
                    <a:pt x="194437" y="266873"/>
                  </a:lnTo>
                  <a:cubicBezTo>
                    <a:pt x="86995" y="266873"/>
                    <a:pt x="0" y="212595"/>
                    <a:pt x="0" y="145560"/>
                  </a:cubicBezTo>
                  <a:close/>
                </a:path>
              </a:pathLst>
            </a:custGeom>
            <a:solidFill>
              <a:srgbClr val="16264A"/>
            </a:solidFill>
            <a:ln w="19050" cap="sq">
              <a:solidFill>
                <a:srgbClr val="333333"/>
              </a:solidFill>
              <a:prstDash val="solid"/>
              <a:miter/>
            </a:ln>
          </p:spPr>
        </p:sp>
      </p:grpSp>
      <p:grpSp>
        <p:nvGrpSpPr>
          <p:cNvPr id="61" name="Group 61"/>
          <p:cNvGrpSpPr/>
          <p:nvPr/>
        </p:nvGrpSpPr>
        <p:grpSpPr>
          <a:xfrm>
            <a:off x="7680960" y="5761161"/>
            <a:ext cx="6955698" cy="200155"/>
            <a:chOff x="0" y="0"/>
            <a:chExt cx="9274264" cy="266873"/>
          </a:xfrm>
        </p:grpSpPr>
        <p:sp>
          <p:nvSpPr>
            <p:cNvPr id="62" name="Freeform 62"/>
            <p:cNvSpPr/>
            <p:nvPr/>
          </p:nvSpPr>
          <p:spPr>
            <a:xfrm>
              <a:off x="0" y="0"/>
              <a:ext cx="9274264" cy="266873"/>
            </a:xfrm>
            <a:custGeom>
              <a:avLst/>
              <a:gdLst/>
              <a:ahLst/>
              <a:cxnLst/>
              <a:rect l="l" t="t" r="r" b="b"/>
              <a:pathLst>
                <a:path w="9274264" h="266873">
                  <a:moveTo>
                    <a:pt x="0" y="121313"/>
                  </a:moveTo>
                  <a:cubicBezTo>
                    <a:pt x="0" y="54278"/>
                    <a:pt x="69873" y="0"/>
                    <a:pt x="156169" y="0"/>
                  </a:cubicBezTo>
                  <a:lnTo>
                    <a:pt x="9118095" y="0"/>
                  </a:lnTo>
                  <a:cubicBezTo>
                    <a:pt x="9204392" y="0"/>
                    <a:pt x="9274264" y="54278"/>
                    <a:pt x="9274264" y="121313"/>
                  </a:cubicBezTo>
                  <a:lnTo>
                    <a:pt x="9274264" y="145560"/>
                  </a:lnTo>
                  <a:cubicBezTo>
                    <a:pt x="9274264" y="212595"/>
                    <a:pt x="9204392" y="266873"/>
                    <a:pt x="9118095" y="266873"/>
                  </a:cubicBezTo>
                  <a:lnTo>
                    <a:pt x="156169" y="266873"/>
                  </a:lnTo>
                  <a:cubicBezTo>
                    <a:pt x="69873" y="266873"/>
                    <a:pt x="0" y="212595"/>
                    <a:pt x="0" y="145560"/>
                  </a:cubicBezTo>
                  <a:close/>
                </a:path>
              </a:pathLst>
            </a:custGeom>
            <a:solidFill>
              <a:srgbClr val="E9A944"/>
            </a:solidFill>
            <a:ln w="19050" cap="sq">
              <a:solidFill>
                <a:srgbClr val="333333"/>
              </a:solidFill>
              <a:prstDash val="solid"/>
              <a:miter/>
            </a:ln>
          </p:spPr>
        </p:sp>
      </p:grpSp>
      <p:grpSp>
        <p:nvGrpSpPr>
          <p:cNvPr id="63" name="Group 63"/>
          <p:cNvGrpSpPr/>
          <p:nvPr/>
        </p:nvGrpSpPr>
        <p:grpSpPr>
          <a:xfrm>
            <a:off x="16468725" y="5450470"/>
            <a:ext cx="864108" cy="812979"/>
            <a:chOff x="0" y="0"/>
            <a:chExt cx="1152144" cy="1083972"/>
          </a:xfrm>
        </p:grpSpPr>
        <p:sp>
          <p:nvSpPr>
            <p:cNvPr id="64" name="Freeform 64"/>
            <p:cNvSpPr/>
            <p:nvPr/>
          </p:nvSpPr>
          <p:spPr>
            <a:xfrm>
              <a:off x="0" y="0"/>
              <a:ext cx="1152144" cy="1083972"/>
            </a:xfrm>
            <a:custGeom>
              <a:avLst/>
              <a:gdLst/>
              <a:ahLst/>
              <a:cxnLst/>
              <a:rect l="l" t="t" r="r" b="b"/>
              <a:pathLst>
                <a:path w="1152144" h="1083972">
                  <a:moveTo>
                    <a:pt x="0" y="0"/>
                  </a:moveTo>
                  <a:lnTo>
                    <a:pt x="1152144" y="0"/>
                  </a:lnTo>
                  <a:lnTo>
                    <a:pt x="1152144" y="1083972"/>
                  </a:lnTo>
                  <a:lnTo>
                    <a:pt x="0" y="1083972"/>
                  </a:lnTo>
                  <a:close/>
                </a:path>
              </a:pathLst>
            </a:custGeom>
            <a:blipFill>
              <a:blip r:embed="rId4">
                <a:alphaModFix amt="0"/>
              </a:blip>
              <a:stretch>
                <a:fillRect l="-143473" r="-143473" b="-60277"/>
              </a:stretch>
            </a:blipFill>
          </p:spPr>
        </p:sp>
        <p:sp>
          <p:nvSpPr>
            <p:cNvPr id="65" name="TextBox 65"/>
            <p:cNvSpPr txBox="1"/>
            <p:nvPr/>
          </p:nvSpPr>
          <p:spPr>
            <a:xfrm>
              <a:off x="0" y="-19050"/>
              <a:ext cx="1152144" cy="1103022"/>
            </a:xfrm>
            <a:prstGeom prst="rect">
              <a:avLst/>
            </a:prstGeom>
          </p:spPr>
          <p:txBody>
            <a:bodyPr lIns="0" tIns="0" rIns="0" bIns="0" rtlCol="0" anchor="ctr"/>
            <a:lstStyle/>
            <a:p>
              <a:pPr algn="r">
                <a:lnSpc>
                  <a:spcPts val="3359"/>
                </a:lnSpc>
              </a:pPr>
              <a:r>
                <a:rPr lang="en-US" sz="2799" b="1">
                  <a:solidFill>
                    <a:srgbClr val="E9A944"/>
                  </a:solidFill>
                  <a:latin typeface="Arial Bold"/>
                  <a:ea typeface="Arial Bold"/>
                  <a:cs typeface="Arial Bold"/>
                  <a:sym typeface="Arial Bold"/>
                </a:rPr>
                <a:t>20%</a:t>
              </a:r>
            </a:p>
          </p:txBody>
        </p:sp>
      </p:grpSp>
      <p:grpSp>
        <p:nvGrpSpPr>
          <p:cNvPr id="66" name="Group 66"/>
          <p:cNvGrpSpPr/>
          <p:nvPr/>
        </p:nvGrpSpPr>
        <p:grpSpPr>
          <a:xfrm>
            <a:off x="960120" y="6478942"/>
            <a:ext cx="16382238" cy="824865"/>
            <a:chOff x="0" y="0"/>
            <a:chExt cx="21842984" cy="1099820"/>
          </a:xfrm>
        </p:grpSpPr>
        <p:sp>
          <p:nvSpPr>
            <p:cNvPr id="67" name="Freeform 67"/>
            <p:cNvSpPr/>
            <p:nvPr/>
          </p:nvSpPr>
          <p:spPr>
            <a:xfrm>
              <a:off x="0" y="0"/>
              <a:ext cx="21842985" cy="1099820"/>
            </a:xfrm>
            <a:custGeom>
              <a:avLst/>
              <a:gdLst/>
              <a:ahLst/>
              <a:cxnLst/>
              <a:rect l="l" t="t" r="r" b="b"/>
              <a:pathLst>
                <a:path w="21842985" h="1099820">
                  <a:moveTo>
                    <a:pt x="0" y="69492"/>
                  </a:moveTo>
                  <a:cubicBezTo>
                    <a:pt x="0" y="31061"/>
                    <a:pt x="49784" y="0"/>
                    <a:pt x="111379" y="0"/>
                  </a:cubicBezTo>
                  <a:lnTo>
                    <a:pt x="21731605" y="0"/>
                  </a:lnTo>
                  <a:cubicBezTo>
                    <a:pt x="21793073" y="0"/>
                    <a:pt x="21842985" y="31061"/>
                    <a:pt x="21842985" y="69492"/>
                  </a:cubicBezTo>
                  <a:lnTo>
                    <a:pt x="21842985" y="1030328"/>
                  </a:lnTo>
                  <a:cubicBezTo>
                    <a:pt x="21842985" y="1068680"/>
                    <a:pt x="21793200" y="1099820"/>
                    <a:pt x="21731605" y="1099820"/>
                  </a:cubicBezTo>
                  <a:lnTo>
                    <a:pt x="111379" y="1099820"/>
                  </a:lnTo>
                  <a:cubicBezTo>
                    <a:pt x="49911" y="1099820"/>
                    <a:pt x="0" y="1068759"/>
                    <a:pt x="0" y="1030328"/>
                  </a:cubicBezTo>
                  <a:close/>
                </a:path>
              </a:pathLst>
            </a:custGeom>
            <a:solidFill>
              <a:srgbClr val="0D1632">
                <a:alpha val="77255"/>
              </a:srgbClr>
            </a:solidFill>
            <a:ln w="19050" cap="sq">
              <a:solidFill>
                <a:srgbClr val="24406F"/>
              </a:solidFill>
              <a:prstDash val="solid"/>
              <a:miter/>
            </a:ln>
          </p:spPr>
        </p:sp>
      </p:grpSp>
      <p:grpSp>
        <p:nvGrpSpPr>
          <p:cNvPr id="68" name="Group 68"/>
          <p:cNvGrpSpPr/>
          <p:nvPr/>
        </p:nvGrpSpPr>
        <p:grpSpPr>
          <a:xfrm>
            <a:off x="1381125" y="6484885"/>
            <a:ext cx="6035040" cy="812979"/>
            <a:chOff x="0" y="0"/>
            <a:chExt cx="8046720" cy="1083972"/>
          </a:xfrm>
        </p:grpSpPr>
        <p:sp>
          <p:nvSpPr>
            <p:cNvPr id="69" name="Freeform 69"/>
            <p:cNvSpPr/>
            <p:nvPr/>
          </p:nvSpPr>
          <p:spPr>
            <a:xfrm>
              <a:off x="0" y="0"/>
              <a:ext cx="8046720" cy="1083972"/>
            </a:xfrm>
            <a:custGeom>
              <a:avLst/>
              <a:gdLst/>
              <a:ahLst/>
              <a:cxnLst/>
              <a:rect l="l" t="t" r="r" b="b"/>
              <a:pathLst>
                <a:path w="8046720" h="1083972">
                  <a:moveTo>
                    <a:pt x="0" y="0"/>
                  </a:moveTo>
                  <a:lnTo>
                    <a:pt x="8046720" y="0"/>
                  </a:lnTo>
                  <a:lnTo>
                    <a:pt x="8046720" y="1083972"/>
                  </a:lnTo>
                  <a:lnTo>
                    <a:pt x="0" y="1083972"/>
                  </a:lnTo>
                  <a:close/>
                </a:path>
              </a:pathLst>
            </a:custGeom>
            <a:blipFill>
              <a:blip r:embed="rId4">
                <a:alphaModFix amt="0"/>
              </a:blip>
              <a:stretch>
                <a:fillRect t="-64505" b="-124783"/>
              </a:stretch>
            </a:blipFill>
          </p:spPr>
        </p:sp>
        <p:sp>
          <p:nvSpPr>
            <p:cNvPr id="70" name="TextBox 70"/>
            <p:cNvSpPr txBox="1"/>
            <p:nvPr/>
          </p:nvSpPr>
          <p:spPr>
            <a:xfrm>
              <a:off x="0" y="-19050"/>
              <a:ext cx="8046720" cy="1103022"/>
            </a:xfrm>
            <a:prstGeom prst="rect">
              <a:avLst/>
            </a:prstGeom>
          </p:spPr>
          <p:txBody>
            <a:bodyPr lIns="0" tIns="0" rIns="0" bIns="0" rtlCol="0" anchor="ctr"/>
            <a:lstStyle/>
            <a:p>
              <a:pPr algn="l">
                <a:lnSpc>
                  <a:spcPts val="2610"/>
                </a:lnSpc>
              </a:pPr>
              <a:r>
                <a:rPr lang="en-US" sz="2175" b="1">
                  <a:solidFill>
                    <a:srgbClr val="FFFFFF"/>
                  </a:solidFill>
                  <a:latin typeface="Arial Bold"/>
                  <a:ea typeface="Arial Bold"/>
                  <a:cs typeface="Arial Bold"/>
                  <a:sym typeface="Arial Bold"/>
                </a:rPr>
                <a:t>Kreativitas &amp; Orisinalitas</a:t>
              </a:r>
            </a:p>
          </p:txBody>
        </p:sp>
      </p:grpSp>
      <p:grpSp>
        <p:nvGrpSpPr>
          <p:cNvPr id="71" name="Group 71"/>
          <p:cNvGrpSpPr/>
          <p:nvPr/>
        </p:nvGrpSpPr>
        <p:grpSpPr>
          <a:xfrm>
            <a:off x="7680960" y="6795576"/>
            <a:ext cx="8660130" cy="200155"/>
            <a:chOff x="0" y="0"/>
            <a:chExt cx="11546840" cy="266873"/>
          </a:xfrm>
        </p:grpSpPr>
        <p:sp>
          <p:nvSpPr>
            <p:cNvPr id="72" name="Freeform 72"/>
            <p:cNvSpPr/>
            <p:nvPr/>
          </p:nvSpPr>
          <p:spPr>
            <a:xfrm>
              <a:off x="0" y="0"/>
              <a:ext cx="11546840" cy="266873"/>
            </a:xfrm>
            <a:custGeom>
              <a:avLst/>
              <a:gdLst/>
              <a:ahLst/>
              <a:cxnLst/>
              <a:rect l="l" t="t" r="r" b="b"/>
              <a:pathLst>
                <a:path w="11546840" h="266873">
                  <a:moveTo>
                    <a:pt x="0" y="121313"/>
                  </a:moveTo>
                  <a:cubicBezTo>
                    <a:pt x="0" y="54278"/>
                    <a:pt x="86995" y="0"/>
                    <a:pt x="194437" y="0"/>
                  </a:cubicBezTo>
                  <a:lnTo>
                    <a:pt x="11352403" y="0"/>
                  </a:lnTo>
                  <a:cubicBezTo>
                    <a:pt x="11459845" y="0"/>
                    <a:pt x="11546840" y="54278"/>
                    <a:pt x="11546840" y="121313"/>
                  </a:cubicBezTo>
                  <a:lnTo>
                    <a:pt x="11546840" y="145560"/>
                  </a:lnTo>
                  <a:cubicBezTo>
                    <a:pt x="11546840" y="212595"/>
                    <a:pt x="11459845" y="266873"/>
                    <a:pt x="11352403" y="266873"/>
                  </a:cubicBezTo>
                  <a:lnTo>
                    <a:pt x="194437" y="266873"/>
                  </a:lnTo>
                  <a:cubicBezTo>
                    <a:pt x="86995" y="266873"/>
                    <a:pt x="0" y="212595"/>
                    <a:pt x="0" y="145560"/>
                  </a:cubicBezTo>
                  <a:close/>
                </a:path>
              </a:pathLst>
            </a:custGeom>
            <a:solidFill>
              <a:srgbClr val="16264A"/>
            </a:solidFill>
            <a:ln w="19050" cap="sq">
              <a:solidFill>
                <a:srgbClr val="333333"/>
              </a:solidFill>
              <a:prstDash val="solid"/>
              <a:miter/>
            </a:ln>
          </p:spPr>
        </p:sp>
      </p:grpSp>
      <p:grpSp>
        <p:nvGrpSpPr>
          <p:cNvPr id="73" name="Group 73"/>
          <p:cNvGrpSpPr/>
          <p:nvPr/>
        </p:nvGrpSpPr>
        <p:grpSpPr>
          <a:xfrm>
            <a:off x="7680960" y="6795576"/>
            <a:ext cx="2694619" cy="200155"/>
            <a:chOff x="0" y="0"/>
            <a:chExt cx="3592825" cy="266873"/>
          </a:xfrm>
        </p:grpSpPr>
        <p:sp>
          <p:nvSpPr>
            <p:cNvPr id="74" name="Freeform 74"/>
            <p:cNvSpPr/>
            <p:nvPr/>
          </p:nvSpPr>
          <p:spPr>
            <a:xfrm>
              <a:off x="0" y="0"/>
              <a:ext cx="3592825" cy="266873"/>
            </a:xfrm>
            <a:custGeom>
              <a:avLst/>
              <a:gdLst/>
              <a:ahLst/>
              <a:cxnLst/>
              <a:rect l="l" t="t" r="r" b="b"/>
              <a:pathLst>
                <a:path w="3592825" h="266873">
                  <a:moveTo>
                    <a:pt x="0" y="121313"/>
                  </a:moveTo>
                  <a:cubicBezTo>
                    <a:pt x="0" y="54278"/>
                    <a:pt x="27069" y="0"/>
                    <a:pt x="60500" y="0"/>
                  </a:cubicBezTo>
                  <a:lnTo>
                    <a:pt x="3532326" y="0"/>
                  </a:lnTo>
                  <a:cubicBezTo>
                    <a:pt x="3565757" y="0"/>
                    <a:pt x="3592825" y="54278"/>
                    <a:pt x="3592825" y="121313"/>
                  </a:cubicBezTo>
                  <a:lnTo>
                    <a:pt x="3592825" y="145560"/>
                  </a:lnTo>
                  <a:cubicBezTo>
                    <a:pt x="3592825" y="212595"/>
                    <a:pt x="3565757" y="266873"/>
                    <a:pt x="3532326" y="266873"/>
                  </a:cubicBezTo>
                  <a:lnTo>
                    <a:pt x="60500" y="266873"/>
                  </a:lnTo>
                  <a:cubicBezTo>
                    <a:pt x="27069" y="266873"/>
                    <a:pt x="0" y="212595"/>
                    <a:pt x="0" y="145560"/>
                  </a:cubicBezTo>
                  <a:close/>
                </a:path>
              </a:pathLst>
            </a:custGeom>
            <a:solidFill>
              <a:srgbClr val="E9A944"/>
            </a:solidFill>
            <a:ln w="19050" cap="sq">
              <a:solidFill>
                <a:srgbClr val="333333"/>
              </a:solidFill>
              <a:prstDash val="solid"/>
              <a:miter/>
            </a:ln>
          </p:spPr>
        </p:sp>
      </p:grpSp>
      <p:grpSp>
        <p:nvGrpSpPr>
          <p:cNvPr id="75" name="Group 75"/>
          <p:cNvGrpSpPr/>
          <p:nvPr/>
        </p:nvGrpSpPr>
        <p:grpSpPr>
          <a:xfrm>
            <a:off x="16468725" y="6484885"/>
            <a:ext cx="864108" cy="812979"/>
            <a:chOff x="0" y="0"/>
            <a:chExt cx="1152144" cy="1083972"/>
          </a:xfrm>
        </p:grpSpPr>
        <p:sp>
          <p:nvSpPr>
            <p:cNvPr id="76" name="Freeform 76"/>
            <p:cNvSpPr/>
            <p:nvPr/>
          </p:nvSpPr>
          <p:spPr>
            <a:xfrm>
              <a:off x="0" y="0"/>
              <a:ext cx="1152144" cy="1083972"/>
            </a:xfrm>
            <a:custGeom>
              <a:avLst/>
              <a:gdLst/>
              <a:ahLst/>
              <a:cxnLst/>
              <a:rect l="l" t="t" r="r" b="b"/>
              <a:pathLst>
                <a:path w="1152144" h="1083972">
                  <a:moveTo>
                    <a:pt x="0" y="0"/>
                  </a:moveTo>
                  <a:lnTo>
                    <a:pt x="1152144" y="0"/>
                  </a:lnTo>
                  <a:lnTo>
                    <a:pt x="1152144" y="1083972"/>
                  </a:lnTo>
                  <a:lnTo>
                    <a:pt x="0" y="1083972"/>
                  </a:lnTo>
                  <a:close/>
                </a:path>
              </a:pathLst>
            </a:custGeom>
            <a:blipFill>
              <a:blip r:embed="rId4">
                <a:alphaModFix amt="0"/>
              </a:blip>
              <a:stretch>
                <a:fillRect l="-143473" r="-143473" b="-60277"/>
              </a:stretch>
            </a:blipFill>
          </p:spPr>
        </p:sp>
        <p:sp>
          <p:nvSpPr>
            <p:cNvPr id="77" name="TextBox 77"/>
            <p:cNvSpPr txBox="1"/>
            <p:nvPr/>
          </p:nvSpPr>
          <p:spPr>
            <a:xfrm>
              <a:off x="0" y="-19050"/>
              <a:ext cx="1152144" cy="1103022"/>
            </a:xfrm>
            <a:prstGeom prst="rect">
              <a:avLst/>
            </a:prstGeom>
          </p:spPr>
          <p:txBody>
            <a:bodyPr lIns="0" tIns="0" rIns="0" bIns="0" rtlCol="0" anchor="ctr"/>
            <a:lstStyle/>
            <a:p>
              <a:pPr algn="r">
                <a:lnSpc>
                  <a:spcPts val="3359"/>
                </a:lnSpc>
              </a:pPr>
              <a:r>
                <a:rPr lang="en-US" sz="2799" b="1">
                  <a:solidFill>
                    <a:srgbClr val="E9A944"/>
                  </a:solidFill>
                  <a:latin typeface="Arial Bold"/>
                  <a:ea typeface="Arial Bold"/>
                  <a:cs typeface="Arial Bold"/>
                  <a:sym typeface="Arial Bold"/>
                </a:rPr>
                <a:t>10%</a:t>
              </a:r>
            </a:p>
          </p:txBody>
        </p:sp>
      </p:grpSp>
      <p:grpSp>
        <p:nvGrpSpPr>
          <p:cNvPr id="78" name="Group 78"/>
          <p:cNvGrpSpPr/>
          <p:nvPr/>
        </p:nvGrpSpPr>
        <p:grpSpPr>
          <a:xfrm>
            <a:off x="960120" y="7503832"/>
            <a:ext cx="16382238" cy="824865"/>
            <a:chOff x="0" y="0"/>
            <a:chExt cx="21842984" cy="1099820"/>
          </a:xfrm>
        </p:grpSpPr>
        <p:sp>
          <p:nvSpPr>
            <p:cNvPr id="79" name="Freeform 79"/>
            <p:cNvSpPr/>
            <p:nvPr/>
          </p:nvSpPr>
          <p:spPr>
            <a:xfrm>
              <a:off x="0" y="0"/>
              <a:ext cx="21842985" cy="1099820"/>
            </a:xfrm>
            <a:custGeom>
              <a:avLst/>
              <a:gdLst/>
              <a:ahLst/>
              <a:cxnLst/>
              <a:rect l="l" t="t" r="r" b="b"/>
              <a:pathLst>
                <a:path w="21842985" h="1099820">
                  <a:moveTo>
                    <a:pt x="0" y="69492"/>
                  </a:moveTo>
                  <a:cubicBezTo>
                    <a:pt x="0" y="31061"/>
                    <a:pt x="49784" y="0"/>
                    <a:pt x="111379" y="0"/>
                  </a:cubicBezTo>
                  <a:lnTo>
                    <a:pt x="21731605" y="0"/>
                  </a:lnTo>
                  <a:cubicBezTo>
                    <a:pt x="21793073" y="0"/>
                    <a:pt x="21842985" y="31061"/>
                    <a:pt x="21842985" y="69492"/>
                  </a:cubicBezTo>
                  <a:lnTo>
                    <a:pt x="21842985" y="1030328"/>
                  </a:lnTo>
                  <a:cubicBezTo>
                    <a:pt x="21842985" y="1068680"/>
                    <a:pt x="21793200" y="1099820"/>
                    <a:pt x="21731605" y="1099820"/>
                  </a:cubicBezTo>
                  <a:lnTo>
                    <a:pt x="111379" y="1099820"/>
                  </a:lnTo>
                  <a:cubicBezTo>
                    <a:pt x="49911" y="1099820"/>
                    <a:pt x="0" y="1068759"/>
                    <a:pt x="0" y="1030328"/>
                  </a:cubicBezTo>
                  <a:close/>
                </a:path>
              </a:pathLst>
            </a:custGeom>
            <a:solidFill>
              <a:srgbClr val="0D1632">
                <a:alpha val="77255"/>
              </a:srgbClr>
            </a:solidFill>
            <a:ln w="19050" cap="sq">
              <a:solidFill>
                <a:srgbClr val="24406F"/>
              </a:solidFill>
              <a:prstDash val="solid"/>
              <a:miter/>
            </a:ln>
          </p:spPr>
        </p:sp>
      </p:grpSp>
      <p:grpSp>
        <p:nvGrpSpPr>
          <p:cNvPr id="80" name="Group 80"/>
          <p:cNvGrpSpPr/>
          <p:nvPr/>
        </p:nvGrpSpPr>
        <p:grpSpPr>
          <a:xfrm>
            <a:off x="1381125" y="7509775"/>
            <a:ext cx="6035040" cy="812979"/>
            <a:chOff x="0" y="0"/>
            <a:chExt cx="8046720" cy="1083972"/>
          </a:xfrm>
        </p:grpSpPr>
        <p:sp>
          <p:nvSpPr>
            <p:cNvPr id="81" name="Freeform 81"/>
            <p:cNvSpPr/>
            <p:nvPr/>
          </p:nvSpPr>
          <p:spPr>
            <a:xfrm>
              <a:off x="0" y="0"/>
              <a:ext cx="8046720" cy="1083972"/>
            </a:xfrm>
            <a:custGeom>
              <a:avLst/>
              <a:gdLst/>
              <a:ahLst/>
              <a:cxnLst/>
              <a:rect l="l" t="t" r="r" b="b"/>
              <a:pathLst>
                <a:path w="8046720" h="1083972">
                  <a:moveTo>
                    <a:pt x="0" y="0"/>
                  </a:moveTo>
                  <a:lnTo>
                    <a:pt x="8046720" y="0"/>
                  </a:lnTo>
                  <a:lnTo>
                    <a:pt x="8046720" y="1083972"/>
                  </a:lnTo>
                  <a:lnTo>
                    <a:pt x="0" y="1083972"/>
                  </a:lnTo>
                  <a:close/>
                </a:path>
              </a:pathLst>
            </a:custGeom>
            <a:blipFill>
              <a:blip r:embed="rId4">
                <a:alphaModFix amt="0"/>
              </a:blip>
              <a:stretch>
                <a:fillRect t="-64505" b="-124783"/>
              </a:stretch>
            </a:blipFill>
          </p:spPr>
        </p:sp>
        <p:sp>
          <p:nvSpPr>
            <p:cNvPr id="82" name="TextBox 82"/>
            <p:cNvSpPr txBox="1"/>
            <p:nvPr/>
          </p:nvSpPr>
          <p:spPr>
            <a:xfrm>
              <a:off x="0" y="-19050"/>
              <a:ext cx="8046720" cy="1103022"/>
            </a:xfrm>
            <a:prstGeom prst="rect">
              <a:avLst/>
            </a:prstGeom>
          </p:spPr>
          <p:txBody>
            <a:bodyPr lIns="0" tIns="0" rIns="0" bIns="0" rtlCol="0" anchor="ctr"/>
            <a:lstStyle/>
            <a:p>
              <a:pPr algn="l">
                <a:lnSpc>
                  <a:spcPts val="2610"/>
                </a:lnSpc>
              </a:pPr>
              <a:r>
                <a:rPr lang="en-US" sz="2175" b="1">
                  <a:solidFill>
                    <a:srgbClr val="FFFFFF"/>
                  </a:solidFill>
                  <a:latin typeface="Arial Bold"/>
                  <a:ea typeface="Arial Bold"/>
                  <a:cs typeface="Arial Bold"/>
                  <a:sym typeface="Arial Bold"/>
                </a:rPr>
                <a:t>Desk Review</a:t>
              </a:r>
            </a:p>
          </p:txBody>
        </p:sp>
      </p:grpSp>
      <p:grpSp>
        <p:nvGrpSpPr>
          <p:cNvPr id="83" name="Group 83"/>
          <p:cNvGrpSpPr/>
          <p:nvPr/>
        </p:nvGrpSpPr>
        <p:grpSpPr>
          <a:xfrm>
            <a:off x="7680960" y="7820466"/>
            <a:ext cx="8660130" cy="200155"/>
            <a:chOff x="0" y="0"/>
            <a:chExt cx="11546840" cy="266873"/>
          </a:xfrm>
        </p:grpSpPr>
        <p:sp>
          <p:nvSpPr>
            <p:cNvPr id="84" name="Freeform 84"/>
            <p:cNvSpPr/>
            <p:nvPr/>
          </p:nvSpPr>
          <p:spPr>
            <a:xfrm>
              <a:off x="0" y="0"/>
              <a:ext cx="11546840" cy="266873"/>
            </a:xfrm>
            <a:custGeom>
              <a:avLst/>
              <a:gdLst/>
              <a:ahLst/>
              <a:cxnLst/>
              <a:rect l="l" t="t" r="r" b="b"/>
              <a:pathLst>
                <a:path w="11546840" h="266873">
                  <a:moveTo>
                    <a:pt x="0" y="121313"/>
                  </a:moveTo>
                  <a:cubicBezTo>
                    <a:pt x="0" y="54278"/>
                    <a:pt x="86995" y="0"/>
                    <a:pt x="194437" y="0"/>
                  </a:cubicBezTo>
                  <a:lnTo>
                    <a:pt x="11352403" y="0"/>
                  </a:lnTo>
                  <a:cubicBezTo>
                    <a:pt x="11459845" y="0"/>
                    <a:pt x="11546840" y="54278"/>
                    <a:pt x="11546840" y="121313"/>
                  </a:cubicBezTo>
                  <a:lnTo>
                    <a:pt x="11546840" y="145560"/>
                  </a:lnTo>
                  <a:cubicBezTo>
                    <a:pt x="11546840" y="212595"/>
                    <a:pt x="11459845" y="266873"/>
                    <a:pt x="11352403" y="266873"/>
                  </a:cubicBezTo>
                  <a:lnTo>
                    <a:pt x="194437" y="266873"/>
                  </a:lnTo>
                  <a:cubicBezTo>
                    <a:pt x="86995" y="266873"/>
                    <a:pt x="0" y="212595"/>
                    <a:pt x="0" y="145560"/>
                  </a:cubicBezTo>
                  <a:close/>
                </a:path>
              </a:pathLst>
            </a:custGeom>
            <a:solidFill>
              <a:srgbClr val="16264A"/>
            </a:solidFill>
            <a:ln w="19050" cap="sq">
              <a:solidFill>
                <a:srgbClr val="333333"/>
              </a:solidFill>
              <a:prstDash val="solid"/>
              <a:miter/>
            </a:ln>
          </p:spPr>
        </p:sp>
      </p:grpSp>
      <p:grpSp>
        <p:nvGrpSpPr>
          <p:cNvPr id="85" name="Group 85"/>
          <p:cNvGrpSpPr/>
          <p:nvPr/>
        </p:nvGrpSpPr>
        <p:grpSpPr>
          <a:xfrm>
            <a:off x="7680960" y="7820466"/>
            <a:ext cx="2694619" cy="200155"/>
            <a:chOff x="0" y="0"/>
            <a:chExt cx="3592825" cy="266873"/>
          </a:xfrm>
        </p:grpSpPr>
        <p:sp>
          <p:nvSpPr>
            <p:cNvPr id="86" name="Freeform 86"/>
            <p:cNvSpPr/>
            <p:nvPr/>
          </p:nvSpPr>
          <p:spPr>
            <a:xfrm>
              <a:off x="0" y="0"/>
              <a:ext cx="3592825" cy="266873"/>
            </a:xfrm>
            <a:custGeom>
              <a:avLst/>
              <a:gdLst/>
              <a:ahLst/>
              <a:cxnLst/>
              <a:rect l="l" t="t" r="r" b="b"/>
              <a:pathLst>
                <a:path w="3592825" h="266873">
                  <a:moveTo>
                    <a:pt x="0" y="121313"/>
                  </a:moveTo>
                  <a:cubicBezTo>
                    <a:pt x="0" y="54278"/>
                    <a:pt x="27069" y="0"/>
                    <a:pt x="60500" y="0"/>
                  </a:cubicBezTo>
                  <a:lnTo>
                    <a:pt x="3532326" y="0"/>
                  </a:lnTo>
                  <a:cubicBezTo>
                    <a:pt x="3565757" y="0"/>
                    <a:pt x="3592825" y="54278"/>
                    <a:pt x="3592825" y="121313"/>
                  </a:cubicBezTo>
                  <a:lnTo>
                    <a:pt x="3592825" y="145560"/>
                  </a:lnTo>
                  <a:cubicBezTo>
                    <a:pt x="3592825" y="212595"/>
                    <a:pt x="3565757" y="266873"/>
                    <a:pt x="3532326" y="266873"/>
                  </a:cubicBezTo>
                  <a:lnTo>
                    <a:pt x="60500" y="266873"/>
                  </a:lnTo>
                  <a:cubicBezTo>
                    <a:pt x="27069" y="266873"/>
                    <a:pt x="0" y="212595"/>
                    <a:pt x="0" y="145560"/>
                  </a:cubicBezTo>
                  <a:close/>
                </a:path>
              </a:pathLst>
            </a:custGeom>
            <a:solidFill>
              <a:srgbClr val="E9A944"/>
            </a:solidFill>
            <a:ln w="19050" cap="sq">
              <a:solidFill>
                <a:srgbClr val="333333"/>
              </a:solidFill>
              <a:prstDash val="solid"/>
              <a:miter/>
            </a:ln>
          </p:spPr>
        </p:sp>
      </p:grpSp>
      <p:grpSp>
        <p:nvGrpSpPr>
          <p:cNvPr id="87" name="Group 87"/>
          <p:cNvGrpSpPr/>
          <p:nvPr/>
        </p:nvGrpSpPr>
        <p:grpSpPr>
          <a:xfrm>
            <a:off x="16468725" y="7509775"/>
            <a:ext cx="864108" cy="812979"/>
            <a:chOff x="0" y="0"/>
            <a:chExt cx="1152144" cy="1083972"/>
          </a:xfrm>
        </p:grpSpPr>
        <p:sp>
          <p:nvSpPr>
            <p:cNvPr id="88" name="Freeform 88"/>
            <p:cNvSpPr/>
            <p:nvPr/>
          </p:nvSpPr>
          <p:spPr>
            <a:xfrm>
              <a:off x="0" y="0"/>
              <a:ext cx="1152144" cy="1083972"/>
            </a:xfrm>
            <a:custGeom>
              <a:avLst/>
              <a:gdLst/>
              <a:ahLst/>
              <a:cxnLst/>
              <a:rect l="l" t="t" r="r" b="b"/>
              <a:pathLst>
                <a:path w="1152144" h="1083972">
                  <a:moveTo>
                    <a:pt x="0" y="0"/>
                  </a:moveTo>
                  <a:lnTo>
                    <a:pt x="1152144" y="0"/>
                  </a:lnTo>
                  <a:lnTo>
                    <a:pt x="1152144" y="1083972"/>
                  </a:lnTo>
                  <a:lnTo>
                    <a:pt x="0" y="1083972"/>
                  </a:lnTo>
                  <a:close/>
                </a:path>
              </a:pathLst>
            </a:custGeom>
            <a:blipFill>
              <a:blip r:embed="rId4">
                <a:alphaModFix amt="0"/>
              </a:blip>
              <a:stretch>
                <a:fillRect l="-143473" r="-143473" b="-60277"/>
              </a:stretch>
            </a:blipFill>
          </p:spPr>
        </p:sp>
        <p:sp>
          <p:nvSpPr>
            <p:cNvPr id="89" name="TextBox 89"/>
            <p:cNvSpPr txBox="1"/>
            <p:nvPr/>
          </p:nvSpPr>
          <p:spPr>
            <a:xfrm>
              <a:off x="0" y="-19050"/>
              <a:ext cx="1152144" cy="1103022"/>
            </a:xfrm>
            <a:prstGeom prst="rect">
              <a:avLst/>
            </a:prstGeom>
          </p:spPr>
          <p:txBody>
            <a:bodyPr lIns="0" tIns="0" rIns="0" bIns="0" rtlCol="0" anchor="ctr"/>
            <a:lstStyle/>
            <a:p>
              <a:pPr algn="r">
                <a:lnSpc>
                  <a:spcPts val="3359"/>
                </a:lnSpc>
              </a:pPr>
              <a:r>
                <a:rPr lang="en-US" sz="2799" b="1">
                  <a:solidFill>
                    <a:srgbClr val="E9A944"/>
                  </a:solidFill>
                  <a:latin typeface="Arial Bold"/>
                  <a:ea typeface="Arial Bold"/>
                  <a:cs typeface="Arial Bold"/>
                  <a:sym typeface="Arial Bold"/>
                </a:rPr>
                <a:t>10%</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60120" y="576072"/>
            <a:ext cx="16322040" cy="384048"/>
            <a:chOff x="0" y="0"/>
            <a:chExt cx="21762720" cy="512064"/>
          </a:xfrm>
        </p:grpSpPr>
        <p:sp>
          <p:nvSpPr>
            <p:cNvPr id="4" name="Freeform 4"/>
            <p:cNvSpPr/>
            <p:nvPr/>
          </p:nvSpPr>
          <p:spPr>
            <a:xfrm>
              <a:off x="0" y="0"/>
              <a:ext cx="21762720" cy="512064"/>
            </a:xfrm>
            <a:custGeom>
              <a:avLst/>
              <a:gdLst/>
              <a:ahLst/>
              <a:cxnLst/>
              <a:rect l="l" t="t" r="r" b="b"/>
              <a:pathLst>
                <a:path w="21762720" h="512064">
                  <a:moveTo>
                    <a:pt x="0" y="0"/>
                  </a:moveTo>
                  <a:lnTo>
                    <a:pt x="21762720" y="0"/>
                  </a:lnTo>
                  <a:lnTo>
                    <a:pt x="21762720" y="512064"/>
                  </a:lnTo>
                  <a:lnTo>
                    <a:pt x="0" y="512064"/>
                  </a:lnTo>
                  <a:close/>
                </a:path>
              </a:pathLst>
            </a:custGeom>
            <a:blipFill>
              <a:blip r:embed="rId4">
                <a:alphaModFix amt="0"/>
              </a:blip>
              <a:stretch>
                <a:fillRect t="-778114" b="-778114"/>
              </a:stretch>
            </a:blipFill>
          </p:spPr>
        </p:sp>
        <p:sp>
          <p:nvSpPr>
            <p:cNvPr id="5" name="TextBox 5"/>
            <p:cNvSpPr txBox="1"/>
            <p:nvPr/>
          </p:nvSpPr>
          <p:spPr>
            <a:xfrm>
              <a:off x="0" y="-9525"/>
              <a:ext cx="21762720" cy="521589"/>
            </a:xfrm>
            <a:prstGeom prst="rect">
              <a:avLst/>
            </a:prstGeom>
          </p:spPr>
          <p:txBody>
            <a:bodyPr lIns="0" tIns="0" rIns="0" bIns="0" rtlCol="0" anchor="ctr"/>
            <a:lstStyle/>
            <a:p>
              <a:pPr algn="l">
                <a:lnSpc>
                  <a:spcPts val="1889"/>
                </a:lnSpc>
              </a:pPr>
              <a:r>
                <a:rPr lang="en-US" sz="1575" b="1" spc="330">
                  <a:solidFill>
                    <a:srgbClr val="E9A944"/>
                  </a:solidFill>
                  <a:latin typeface="Arial Bold"/>
                  <a:ea typeface="Arial Bold"/>
                  <a:cs typeface="Arial Bold"/>
                  <a:sym typeface="Arial Bold"/>
                </a:rPr>
                <a:t>BAGIAN 05</a:t>
              </a:r>
            </a:p>
          </p:txBody>
        </p:sp>
      </p:grpSp>
      <p:grpSp>
        <p:nvGrpSpPr>
          <p:cNvPr id="6" name="Group 6"/>
          <p:cNvGrpSpPr/>
          <p:nvPr/>
        </p:nvGrpSpPr>
        <p:grpSpPr>
          <a:xfrm>
            <a:off x="960120" y="987552"/>
            <a:ext cx="16322040" cy="850392"/>
            <a:chOff x="0" y="0"/>
            <a:chExt cx="21762720" cy="1133856"/>
          </a:xfrm>
        </p:grpSpPr>
        <p:sp>
          <p:nvSpPr>
            <p:cNvPr id="7" name="Freeform 7"/>
            <p:cNvSpPr/>
            <p:nvPr/>
          </p:nvSpPr>
          <p:spPr>
            <a:xfrm>
              <a:off x="0" y="0"/>
              <a:ext cx="21762720" cy="1133856"/>
            </a:xfrm>
            <a:custGeom>
              <a:avLst/>
              <a:gdLst/>
              <a:ahLst/>
              <a:cxnLst/>
              <a:rect l="l" t="t" r="r" b="b"/>
              <a:pathLst>
                <a:path w="21762720" h="1133856">
                  <a:moveTo>
                    <a:pt x="0" y="0"/>
                  </a:moveTo>
                  <a:lnTo>
                    <a:pt x="21762720" y="0"/>
                  </a:lnTo>
                  <a:lnTo>
                    <a:pt x="21762720" y="1133856"/>
                  </a:lnTo>
                  <a:lnTo>
                    <a:pt x="0" y="1133856"/>
                  </a:lnTo>
                  <a:close/>
                </a:path>
              </a:pathLst>
            </a:custGeom>
            <a:blipFill>
              <a:blip r:embed="rId4">
                <a:alphaModFix amt="0"/>
              </a:blip>
              <a:stretch>
                <a:fillRect t="-323987" b="-323987"/>
              </a:stretch>
            </a:blipFill>
          </p:spPr>
        </p:sp>
        <p:sp>
          <p:nvSpPr>
            <p:cNvPr id="8" name="TextBox 8"/>
            <p:cNvSpPr txBox="1"/>
            <p:nvPr/>
          </p:nvSpPr>
          <p:spPr>
            <a:xfrm>
              <a:off x="0" y="-28575"/>
              <a:ext cx="21762720" cy="1162431"/>
            </a:xfrm>
            <a:prstGeom prst="rect">
              <a:avLst/>
            </a:prstGeom>
          </p:spPr>
          <p:txBody>
            <a:bodyPr lIns="0" tIns="0" rIns="0" bIns="0" rtlCol="0" anchor="ctr"/>
            <a:lstStyle/>
            <a:p>
              <a:pPr algn="l">
                <a:lnSpc>
                  <a:spcPts val="5400"/>
                </a:lnSpc>
              </a:pPr>
              <a:r>
                <a:rPr lang="en-US" sz="4500" b="1" spc="59">
                  <a:solidFill>
                    <a:srgbClr val="FFFFFF"/>
                  </a:solidFill>
                  <a:latin typeface="Arial Bold"/>
                  <a:ea typeface="Arial Bold"/>
                  <a:cs typeface="Arial Bold"/>
                  <a:sym typeface="Arial Bold"/>
                </a:rPr>
                <a:t>Yang Dilarang</a:t>
              </a:r>
            </a:p>
          </p:txBody>
        </p:sp>
      </p:grpSp>
      <p:grpSp>
        <p:nvGrpSpPr>
          <p:cNvPr id="9" name="Group 9"/>
          <p:cNvGrpSpPr/>
          <p:nvPr/>
        </p:nvGrpSpPr>
        <p:grpSpPr>
          <a:xfrm>
            <a:off x="960120" y="9491472"/>
            <a:ext cx="13990320" cy="384048"/>
            <a:chOff x="0" y="0"/>
            <a:chExt cx="18653760" cy="512064"/>
          </a:xfrm>
        </p:grpSpPr>
        <p:sp>
          <p:nvSpPr>
            <p:cNvPr id="10" name="Freeform 10"/>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4">
                <a:alphaModFix amt="0"/>
              </a:blip>
              <a:stretch>
                <a:fillRect t="-659812" b="-659812"/>
              </a:stretch>
            </a:blipFill>
          </p:spPr>
        </p:sp>
        <p:sp>
          <p:nvSpPr>
            <p:cNvPr id="11" name="TextBox 11"/>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grpSp>
        <p:nvGrpSpPr>
          <p:cNvPr id="12" name="Group 12"/>
          <p:cNvGrpSpPr/>
          <p:nvPr/>
        </p:nvGrpSpPr>
        <p:grpSpPr>
          <a:xfrm>
            <a:off x="16322040" y="9464040"/>
            <a:ext cx="1001268" cy="442875"/>
            <a:chOff x="0" y="0"/>
            <a:chExt cx="1335024" cy="590500"/>
          </a:xfrm>
        </p:grpSpPr>
        <p:sp>
          <p:nvSpPr>
            <p:cNvPr id="13" name="Freeform 13"/>
            <p:cNvSpPr/>
            <p:nvPr/>
          </p:nvSpPr>
          <p:spPr>
            <a:xfrm>
              <a:off x="0" y="0"/>
              <a:ext cx="1335024" cy="590500"/>
            </a:xfrm>
            <a:custGeom>
              <a:avLst/>
              <a:gdLst/>
              <a:ahLst/>
              <a:cxnLst/>
              <a:rect l="l" t="t" r="r" b="b"/>
              <a:pathLst>
                <a:path w="1335024" h="590500">
                  <a:moveTo>
                    <a:pt x="0" y="0"/>
                  </a:moveTo>
                  <a:lnTo>
                    <a:pt x="1335024" y="0"/>
                  </a:lnTo>
                  <a:lnTo>
                    <a:pt x="1335024" y="590500"/>
                  </a:lnTo>
                  <a:lnTo>
                    <a:pt x="0" y="590500"/>
                  </a:lnTo>
                  <a:close/>
                </a:path>
              </a:pathLst>
            </a:custGeom>
            <a:blipFill>
              <a:blip r:embed="rId4">
                <a:alphaModFix amt="0"/>
              </a:blip>
              <a:stretch>
                <a:fillRect l="-2727" r="-2727" b="7088"/>
              </a:stretch>
            </a:blipFill>
          </p:spPr>
        </p:sp>
        <p:sp>
          <p:nvSpPr>
            <p:cNvPr id="14" name="TextBox 14"/>
            <p:cNvSpPr txBox="1"/>
            <p:nvPr/>
          </p:nvSpPr>
          <p:spPr>
            <a:xfrm>
              <a:off x="0" y="-9525"/>
              <a:ext cx="1335024" cy="600025"/>
            </a:xfrm>
            <a:prstGeom prst="rect">
              <a:avLst/>
            </a:prstGeom>
          </p:spPr>
          <p:txBody>
            <a:bodyPr lIns="0" tIns="0" rIns="0" bIns="0" rtlCol="0" anchor="ctr"/>
            <a:lstStyle/>
            <a:p>
              <a:pPr algn="r">
                <a:lnSpc>
                  <a:spcPts val="1980"/>
                </a:lnSpc>
              </a:pPr>
              <a:r>
                <a:rPr lang="en-US" sz="1650" b="1">
                  <a:solidFill>
                    <a:srgbClr val="8A6420"/>
                  </a:solidFill>
                  <a:latin typeface="Courier New Bold"/>
                  <a:ea typeface="Courier New Bold"/>
                  <a:cs typeface="Courier New Bold"/>
                  <a:sym typeface="Courier New Bold"/>
                </a:rPr>
                <a:t>09</a:t>
              </a:r>
            </a:p>
          </p:txBody>
        </p:sp>
      </p:grpSp>
      <p:grpSp>
        <p:nvGrpSpPr>
          <p:cNvPr id="15" name="Group 15"/>
          <p:cNvGrpSpPr/>
          <p:nvPr/>
        </p:nvGrpSpPr>
        <p:grpSpPr>
          <a:xfrm>
            <a:off x="12540615" y="1060323"/>
            <a:ext cx="4792218" cy="704850"/>
            <a:chOff x="0" y="0"/>
            <a:chExt cx="6389624" cy="939800"/>
          </a:xfrm>
        </p:grpSpPr>
        <p:sp>
          <p:nvSpPr>
            <p:cNvPr id="16" name="Freeform 16"/>
            <p:cNvSpPr/>
            <p:nvPr/>
          </p:nvSpPr>
          <p:spPr>
            <a:xfrm>
              <a:off x="0" y="0"/>
              <a:ext cx="6389624" cy="939800"/>
            </a:xfrm>
            <a:custGeom>
              <a:avLst/>
              <a:gdLst/>
              <a:ahLst/>
              <a:cxnLst/>
              <a:rect l="l" t="t" r="r" b="b"/>
              <a:pathLst>
                <a:path w="6389624" h="939800">
                  <a:moveTo>
                    <a:pt x="0" y="112776"/>
                  </a:moveTo>
                  <a:cubicBezTo>
                    <a:pt x="0" y="50546"/>
                    <a:pt x="50546" y="0"/>
                    <a:pt x="112776" y="0"/>
                  </a:cubicBezTo>
                  <a:lnTo>
                    <a:pt x="6276848" y="0"/>
                  </a:lnTo>
                  <a:cubicBezTo>
                    <a:pt x="6339078" y="0"/>
                    <a:pt x="6389624" y="50546"/>
                    <a:pt x="6389624" y="112776"/>
                  </a:cubicBezTo>
                  <a:lnTo>
                    <a:pt x="6389624" y="827024"/>
                  </a:lnTo>
                  <a:cubicBezTo>
                    <a:pt x="6389624" y="889254"/>
                    <a:pt x="6339078" y="939800"/>
                    <a:pt x="6276848" y="939800"/>
                  </a:cubicBezTo>
                  <a:lnTo>
                    <a:pt x="112776" y="939800"/>
                  </a:lnTo>
                  <a:cubicBezTo>
                    <a:pt x="50546" y="939800"/>
                    <a:pt x="0" y="889254"/>
                    <a:pt x="0" y="827024"/>
                  </a:cubicBezTo>
                  <a:close/>
                </a:path>
              </a:pathLst>
            </a:custGeom>
            <a:solidFill>
              <a:srgbClr val="2A0F0F"/>
            </a:solidFill>
            <a:ln w="19050" cap="sq">
              <a:solidFill>
                <a:srgbClr val="E86A6A"/>
              </a:solidFill>
              <a:prstDash val="solid"/>
              <a:miter/>
            </a:ln>
          </p:spPr>
        </p:sp>
      </p:grpSp>
      <p:grpSp>
        <p:nvGrpSpPr>
          <p:cNvPr id="17" name="Group 17"/>
          <p:cNvGrpSpPr/>
          <p:nvPr/>
        </p:nvGrpSpPr>
        <p:grpSpPr>
          <a:xfrm>
            <a:off x="12550140" y="1069848"/>
            <a:ext cx="4773168" cy="685800"/>
            <a:chOff x="0" y="0"/>
            <a:chExt cx="6364224" cy="914400"/>
          </a:xfrm>
        </p:grpSpPr>
        <p:sp>
          <p:nvSpPr>
            <p:cNvPr id="18" name="Freeform 18"/>
            <p:cNvSpPr/>
            <p:nvPr/>
          </p:nvSpPr>
          <p:spPr>
            <a:xfrm>
              <a:off x="0" y="0"/>
              <a:ext cx="6364224" cy="914400"/>
            </a:xfrm>
            <a:custGeom>
              <a:avLst/>
              <a:gdLst/>
              <a:ahLst/>
              <a:cxnLst/>
              <a:rect l="l" t="t" r="r" b="b"/>
              <a:pathLst>
                <a:path w="6364224" h="914400">
                  <a:moveTo>
                    <a:pt x="0" y="0"/>
                  </a:moveTo>
                  <a:lnTo>
                    <a:pt x="6364224" y="0"/>
                  </a:lnTo>
                  <a:lnTo>
                    <a:pt x="6364224" y="914400"/>
                  </a:lnTo>
                  <a:lnTo>
                    <a:pt x="0" y="914400"/>
                  </a:lnTo>
                  <a:close/>
                </a:path>
              </a:pathLst>
            </a:custGeom>
            <a:blipFill>
              <a:blip r:embed="rId4">
                <a:alphaModFix amt="0"/>
              </a:blip>
              <a:stretch>
                <a:fillRect t="-85615" b="-85615"/>
              </a:stretch>
            </a:blipFill>
          </p:spPr>
        </p:sp>
        <p:sp>
          <p:nvSpPr>
            <p:cNvPr id="19" name="TextBox 19"/>
            <p:cNvSpPr txBox="1"/>
            <p:nvPr/>
          </p:nvSpPr>
          <p:spPr>
            <a:xfrm>
              <a:off x="0" y="-28575"/>
              <a:ext cx="6364224" cy="942975"/>
            </a:xfrm>
            <a:prstGeom prst="rect">
              <a:avLst/>
            </a:prstGeom>
          </p:spPr>
          <p:txBody>
            <a:bodyPr lIns="0" tIns="0" rIns="0" bIns="0" rtlCol="0" anchor="ctr"/>
            <a:lstStyle/>
            <a:p>
              <a:pPr algn="ctr">
                <a:lnSpc>
                  <a:spcPts val="2250"/>
                </a:lnSpc>
              </a:pPr>
              <a:r>
                <a:rPr lang="en-US" sz="1875" b="1" spc="240">
                  <a:solidFill>
                    <a:srgbClr val="9FB0CE"/>
                  </a:solidFill>
                  <a:latin typeface="Arial Bold"/>
                  <a:ea typeface="Arial Bold"/>
                  <a:cs typeface="Arial Bold"/>
                  <a:sym typeface="Arial Bold"/>
                </a:rPr>
                <a:t>SANKSI:  </a:t>
              </a:r>
              <a:r>
                <a:rPr lang="en-US" sz="1875" b="1" spc="240">
                  <a:solidFill>
                    <a:srgbClr val="E86A6A"/>
                  </a:solidFill>
                  <a:latin typeface="Arial Bold"/>
                  <a:ea typeface="Arial Bold"/>
                  <a:cs typeface="Arial Bold"/>
                  <a:sym typeface="Arial Bold"/>
                </a:rPr>
                <a:t>DISKUALIFIKASI</a:t>
              </a:r>
            </a:p>
          </p:txBody>
        </p:sp>
      </p:grpSp>
      <p:grpSp>
        <p:nvGrpSpPr>
          <p:cNvPr id="20" name="Group 20"/>
          <p:cNvGrpSpPr/>
          <p:nvPr/>
        </p:nvGrpSpPr>
        <p:grpSpPr>
          <a:xfrm>
            <a:off x="950595" y="2185035"/>
            <a:ext cx="16382238" cy="896874"/>
            <a:chOff x="0" y="0"/>
            <a:chExt cx="21842984" cy="1195832"/>
          </a:xfrm>
        </p:grpSpPr>
        <p:sp>
          <p:nvSpPr>
            <p:cNvPr id="21" name="Freeform 21"/>
            <p:cNvSpPr/>
            <p:nvPr/>
          </p:nvSpPr>
          <p:spPr>
            <a:xfrm>
              <a:off x="0" y="0"/>
              <a:ext cx="21842983" cy="1195832"/>
            </a:xfrm>
            <a:custGeom>
              <a:avLst/>
              <a:gdLst/>
              <a:ahLst/>
              <a:cxnLst/>
              <a:rect l="l" t="t" r="r" b="b"/>
              <a:pathLst>
                <a:path w="21842983" h="1195832">
                  <a:moveTo>
                    <a:pt x="0" y="112141"/>
                  </a:moveTo>
                  <a:cubicBezTo>
                    <a:pt x="0" y="50165"/>
                    <a:pt x="50165" y="0"/>
                    <a:pt x="112141" y="0"/>
                  </a:cubicBezTo>
                  <a:lnTo>
                    <a:pt x="21730843" y="0"/>
                  </a:lnTo>
                  <a:cubicBezTo>
                    <a:pt x="21792819" y="0"/>
                    <a:pt x="21842983" y="50165"/>
                    <a:pt x="21842983" y="112141"/>
                  </a:cubicBezTo>
                  <a:lnTo>
                    <a:pt x="21842983" y="1083691"/>
                  </a:lnTo>
                  <a:cubicBezTo>
                    <a:pt x="21842983" y="1145667"/>
                    <a:pt x="21792819" y="1195832"/>
                    <a:pt x="21730843" y="1195832"/>
                  </a:cubicBezTo>
                  <a:lnTo>
                    <a:pt x="112141" y="1195832"/>
                  </a:lnTo>
                  <a:cubicBezTo>
                    <a:pt x="50165" y="1195832"/>
                    <a:pt x="0" y="1145667"/>
                    <a:pt x="0" y="1083691"/>
                  </a:cubicBezTo>
                  <a:close/>
                </a:path>
              </a:pathLst>
            </a:custGeom>
            <a:solidFill>
              <a:srgbClr val="0D1632">
                <a:alpha val="77255"/>
              </a:srgbClr>
            </a:solidFill>
            <a:ln w="19050" cap="sq">
              <a:solidFill>
                <a:srgbClr val="24406F"/>
              </a:solidFill>
              <a:prstDash val="solid"/>
              <a:miter/>
            </a:ln>
          </p:spPr>
        </p:sp>
      </p:grpSp>
      <p:grpSp>
        <p:nvGrpSpPr>
          <p:cNvPr id="22" name="Group 22"/>
          <p:cNvGrpSpPr/>
          <p:nvPr/>
        </p:nvGrpSpPr>
        <p:grpSpPr>
          <a:xfrm>
            <a:off x="1334643" y="2377059"/>
            <a:ext cx="512826" cy="512826"/>
            <a:chOff x="0" y="0"/>
            <a:chExt cx="683768" cy="683768"/>
          </a:xfrm>
        </p:grpSpPr>
        <p:sp>
          <p:nvSpPr>
            <p:cNvPr id="23" name="Freeform 23"/>
            <p:cNvSpPr/>
            <p:nvPr/>
          </p:nvSpPr>
          <p:spPr>
            <a:xfrm>
              <a:off x="0" y="0"/>
              <a:ext cx="683768" cy="683768"/>
            </a:xfrm>
            <a:custGeom>
              <a:avLst/>
              <a:gdLst/>
              <a:ahLst/>
              <a:cxnLst/>
              <a:rect l="l" t="t" r="r" b="b"/>
              <a:pathLst>
                <a:path w="683768" h="683768">
                  <a:moveTo>
                    <a:pt x="0" y="94996"/>
                  </a:moveTo>
                  <a:cubicBezTo>
                    <a:pt x="0" y="42545"/>
                    <a:pt x="42545" y="0"/>
                    <a:pt x="94996" y="0"/>
                  </a:cubicBezTo>
                  <a:lnTo>
                    <a:pt x="588772" y="0"/>
                  </a:lnTo>
                  <a:cubicBezTo>
                    <a:pt x="641223" y="0"/>
                    <a:pt x="683768" y="42545"/>
                    <a:pt x="683768" y="94996"/>
                  </a:cubicBezTo>
                  <a:lnTo>
                    <a:pt x="683768" y="588772"/>
                  </a:lnTo>
                  <a:cubicBezTo>
                    <a:pt x="683768" y="641223"/>
                    <a:pt x="641223" y="683768"/>
                    <a:pt x="588772" y="683768"/>
                  </a:cubicBezTo>
                  <a:lnTo>
                    <a:pt x="94996" y="683768"/>
                  </a:lnTo>
                  <a:cubicBezTo>
                    <a:pt x="42545" y="683768"/>
                    <a:pt x="0" y="641223"/>
                    <a:pt x="0" y="588772"/>
                  </a:cubicBezTo>
                  <a:close/>
                </a:path>
              </a:pathLst>
            </a:custGeom>
            <a:solidFill>
              <a:srgbClr val="2A0F0F"/>
            </a:solidFill>
            <a:ln w="19050" cap="sq">
              <a:solidFill>
                <a:srgbClr val="E86A6A"/>
              </a:solidFill>
              <a:prstDash val="solid"/>
              <a:miter/>
            </a:ln>
          </p:spPr>
        </p:sp>
      </p:grpSp>
      <p:grpSp>
        <p:nvGrpSpPr>
          <p:cNvPr id="24" name="Group 24"/>
          <p:cNvGrpSpPr/>
          <p:nvPr/>
        </p:nvGrpSpPr>
        <p:grpSpPr>
          <a:xfrm>
            <a:off x="1344168" y="2386584"/>
            <a:ext cx="493776" cy="493776"/>
            <a:chOff x="0" y="0"/>
            <a:chExt cx="658368" cy="658368"/>
          </a:xfrm>
        </p:grpSpPr>
        <p:sp>
          <p:nvSpPr>
            <p:cNvPr id="25" name="Freeform 25"/>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4">
                <a:alphaModFix amt="0"/>
              </a:blip>
              <a:stretch>
                <a:fillRect l="-78303" r="-78303"/>
              </a:stretch>
            </a:blipFill>
          </p:spPr>
        </p:sp>
        <p:sp>
          <p:nvSpPr>
            <p:cNvPr id="26" name="TextBox 26"/>
            <p:cNvSpPr txBox="1"/>
            <p:nvPr/>
          </p:nvSpPr>
          <p:spPr>
            <a:xfrm>
              <a:off x="0" y="-19050"/>
              <a:ext cx="658368" cy="677418"/>
            </a:xfrm>
            <a:prstGeom prst="rect">
              <a:avLst/>
            </a:prstGeom>
          </p:spPr>
          <p:txBody>
            <a:bodyPr lIns="0" tIns="0" rIns="0" bIns="0" rtlCol="0" anchor="ctr"/>
            <a:lstStyle/>
            <a:p>
              <a:pPr algn="ctr">
                <a:lnSpc>
                  <a:spcPts val="2160"/>
                </a:lnSpc>
              </a:pPr>
              <a:r>
                <a:rPr lang="en-US" sz="1800" b="1">
                  <a:solidFill>
                    <a:srgbClr val="E86A6A"/>
                  </a:solidFill>
                  <a:latin typeface="Arial Bold"/>
                  <a:ea typeface="Arial Bold"/>
                  <a:cs typeface="Arial Bold"/>
                  <a:sym typeface="Arial Bold"/>
                </a:rPr>
                <a:t>✕</a:t>
              </a:r>
            </a:p>
          </p:txBody>
        </p:sp>
      </p:grpSp>
      <p:grpSp>
        <p:nvGrpSpPr>
          <p:cNvPr id="27" name="Group 27"/>
          <p:cNvGrpSpPr/>
          <p:nvPr/>
        </p:nvGrpSpPr>
        <p:grpSpPr>
          <a:xfrm>
            <a:off x="2084832" y="2194560"/>
            <a:ext cx="14813280" cy="877824"/>
            <a:chOff x="0" y="0"/>
            <a:chExt cx="19751040" cy="1170432"/>
          </a:xfrm>
        </p:grpSpPr>
        <p:sp>
          <p:nvSpPr>
            <p:cNvPr id="28" name="Freeform 28"/>
            <p:cNvSpPr/>
            <p:nvPr/>
          </p:nvSpPr>
          <p:spPr>
            <a:xfrm>
              <a:off x="0" y="0"/>
              <a:ext cx="19751039" cy="1170432"/>
            </a:xfrm>
            <a:custGeom>
              <a:avLst/>
              <a:gdLst/>
              <a:ahLst/>
              <a:cxnLst/>
              <a:rect l="l" t="t" r="r" b="b"/>
              <a:pathLst>
                <a:path w="19751039" h="1170432">
                  <a:moveTo>
                    <a:pt x="0" y="0"/>
                  </a:moveTo>
                  <a:lnTo>
                    <a:pt x="19751039" y="0"/>
                  </a:lnTo>
                  <a:lnTo>
                    <a:pt x="19751039" y="1170432"/>
                  </a:lnTo>
                  <a:lnTo>
                    <a:pt x="0" y="1170432"/>
                  </a:lnTo>
                  <a:close/>
                </a:path>
              </a:pathLst>
            </a:custGeom>
            <a:blipFill>
              <a:blip r:embed="rId4">
                <a:alphaModFix amt="0"/>
              </a:blip>
              <a:stretch>
                <a:fillRect t="-278810" b="-278810"/>
              </a:stretch>
            </a:blipFill>
          </p:spPr>
        </p:sp>
        <p:sp>
          <p:nvSpPr>
            <p:cNvPr id="29" name="TextBox 29"/>
            <p:cNvSpPr txBox="1"/>
            <p:nvPr/>
          </p:nvSpPr>
          <p:spPr>
            <a:xfrm>
              <a:off x="0" y="-47625"/>
              <a:ext cx="19751040" cy="1218057"/>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Plagiarisme desain, termasuk memakai karya atau template berhak cipta tanpa lisensi yang sah.</a:t>
              </a:r>
            </a:p>
          </p:txBody>
        </p:sp>
      </p:grpSp>
      <p:grpSp>
        <p:nvGrpSpPr>
          <p:cNvPr id="30" name="Group 30"/>
          <p:cNvGrpSpPr/>
          <p:nvPr/>
        </p:nvGrpSpPr>
        <p:grpSpPr>
          <a:xfrm>
            <a:off x="950595" y="3200019"/>
            <a:ext cx="16382238" cy="896874"/>
            <a:chOff x="0" y="0"/>
            <a:chExt cx="21842984" cy="1195832"/>
          </a:xfrm>
        </p:grpSpPr>
        <p:sp>
          <p:nvSpPr>
            <p:cNvPr id="31" name="Freeform 31"/>
            <p:cNvSpPr/>
            <p:nvPr/>
          </p:nvSpPr>
          <p:spPr>
            <a:xfrm>
              <a:off x="0" y="0"/>
              <a:ext cx="21842983" cy="1195832"/>
            </a:xfrm>
            <a:custGeom>
              <a:avLst/>
              <a:gdLst/>
              <a:ahLst/>
              <a:cxnLst/>
              <a:rect l="l" t="t" r="r" b="b"/>
              <a:pathLst>
                <a:path w="21842983" h="1195832">
                  <a:moveTo>
                    <a:pt x="0" y="112141"/>
                  </a:moveTo>
                  <a:cubicBezTo>
                    <a:pt x="0" y="50165"/>
                    <a:pt x="50165" y="0"/>
                    <a:pt x="112141" y="0"/>
                  </a:cubicBezTo>
                  <a:lnTo>
                    <a:pt x="21730843" y="0"/>
                  </a:lnTo>
                  <a:cubicBezTo>
                    <a:pt x="21792819" y="0"/>
                    <a:pt x="21842983" y="50165"/>
                    <a:pt x="21842983" y="112141"/>
                  </a:cubicBezTo>
                  <a:lnTo>
                    <a:pt x="21842983" y="1083691"/>
                  </a:lnTo>
                  <a:cubicBezTo>
                    <a:pt x="21842983" y="1145667"/>
                    <a:pt x="21792819" y="1195832"/>
                    <a:pt x="21730843" y="1195832"/>
                  </a:cubicBezTo>
                  <a:lnTo>
                    <a:pt x="112141" y="1195832"/>
                  </a:lnTo>
                  <a:cubicBezTo>
                    <a:pt x="50165" y="1195832"/>
                    <a:pt x="0" y="1145667"/>
                    <a:pt x="0" y="1083691"/>
                  </a:cubicBezTo>
                  <a:close/>
                </a:path>
              </a:pathLst>
            </a:custGeom>
            <a:solidFill>
              <a:srgbClr val="0D1632">
                <a:alpha val="77255"/>
              </a:srgbClr>
            </a:solidFill>
            <a:ln w="19050" cap="sq">
              <a:solidFill>
                <a:srgbClr val="24406F"/>
              </a:solidFill>
              <a:prstDash val="solid"/>
              <a:miter/>
            </a:ln>
          </p:spPr>
        </p:sp>
      </p:grpSp>
      <p:grpSp>
        <p:nvGrpSpPr>
          <p:cNvPr id="32" name="Group 32"/>
          <p:cNvGrpSpPr/>
          <p:nvPr/>
        </p:nvGrpSpPr>
        <p:grpSpPr>
          <a:xfrm>
            <a:off x="1334643" y="3392043"/>
            <a:ext cx="512826" cy="512826"/>
            <a:chOff x="0" y="0"/>
            <a:chExt cx="683768" cy="683768"/>
          </a:xfrm>
        </p:grpSpPr>
        <p:sp>
          <p:nvSpPr>
            <p:cNvPr id="33" name="Freeform 33"/>
            <p:cNvSpPr/>
            <p:nvPr/>
          </p:nvSpPr>
          <p:spPr>
            <a:xfrm>
              <a:off x="0" y="0"/>
              <a:ext cx="683768" cy="683768"/>
            </a:xfrm>
            <a:custGeom>
              <a:avLst/>
              <a:gdLst/>
              <a:ahLst/>
              <a:cxnLst/>
              <a:rect l="l" t="t" r="r" b="b"/>
              <a:pathLst>
                <a:path w="683768" h="683768">
                  <a:moveTo>
                    <a:pt x="0" y="94996"/>
                  </a:moveTo>
                  <a:cubicBezTo>
                    <a:pt x="0" y="42545"/>
                    <a:pt x="42545" y="0"/>
                    <a:pt x="94996" y="0"/>
                  </a:cubicBezTo>
                  <a:lnTo>
                    <a:pt x="588772" y="0"/>
                  </a:lnTo>
                  <a:cubicBezTo>
                    <a:pt x="641223" y="0"/>
                    <a:pt x="683768" y="42545"/>
                    <a:pt x="683768" y="94996"/>
                  </a:cubicBezTo>
                  <a:lnTo>
                    <a:pt x="683768" y="588772"/>
                  </a:lnTo>
                  <a:cubicBezTo>
                    <a:pt x="683768" y="641223"/>
                    <a:pt x="641223" y="683768"/>
                    <a:pt x="588772" y="683768"/>
                  </a:cubicBezTo>
                  <a:lnTo>
                    <a:pt x="94996" y="683768"/>
                  </a:lnTo>
                  <a:cubicBezTo>
                    <a:pt x="42545" y="683768"/>
                    <a:pt x="0" y="641223"/>
                    <a:pt x="0" y="588772"/>
                  </a:cubicBezTo>
                  <a:close/>
                </a:path>
              </a:pathLst>
            </a:custGeom>
            <a:solidFill>
              <a:srgbClr val="2A0F0F"/>
            </a:solidFill>
            <a:ln w="19050" cap="sq">
              <a:solidFill>
                <a:srgbClr val="E86A6A"/>
              </a:solidFill>
              <a:prstDash val="solid"/>
              <a:miter/>
            </a:ln>
          </p:spPr>
        </p:sp>
      </p:grpSp>
      <p:grpSp>
        <p:nvGrpSpPr>
          <p:cNvPr id="34" name="Group 34"/>
          <p:cNvGrpSpPr/>
          <p:nvPr/>
        </p:nvGrpSpPr>
        <p:grpSpPr>
          <a:xfrm>
            <a:off x="1344168" y="3401568"/>
            <a:ext cx="493776" cy="493776"/>
            <a:chOff x="0" y="0"/>
            <a:chExt cx="658368" cy="658368"/>
          </a:xfrm>
        </p:grpSpPr>
        <p:sp>
          <p:nvSpPr>
            <p:cNvPr id="35" name="Freeform 35"/>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4">
                <a:alphaModFix amt="0"/>
              </a:blip>
              <a:stretch>
                <a:fillRect l="-78303" r="-78303"/>
              </a:stretch>
            </a:blipFill>
          </p:spPr>
        </p:sp>
        <p:sp>
          <p:nvSpPr>
            <p:cNvPr id="36" name="TextBox 36"/>
            <p:cNvSpPr txBox="1"/>
            <p:nvPr/>
          </p:nvSpPr>
          <p:spPr>
            <a:xfrm>
              <a:off x="0" y="-19050"/>
              <a:ext cx="658368" cy="677418"/>
            </a:xfrm>
            <a:prstGeom prst="rect">
              <a:avLst/>
            </a:prstGeom>
          </p:spPr>
          <p:txBody>
            <a:bodyPr lIns="0" tIns="0" rIns="0" bIns="0" rtlCol="0" anchor="ctr"/>
            <a:lstStyle/>
            <a:p>
              <a:pPr algn="ctr">
                <a:lnSpc>
                  <a:spcPts val="2160"/>
                </a:lnSpc>
              </a:pPr>
              <a:r>
                <a:rPr lang="en-US" sz="1800" b="1">
                  <a:solidFill>
                    <a:srgbClr val="E86A6A"/>
                  </a:solidFill>
                  <a:latin typeface="Arial Bold"/>
                  <a:ea typeface="Arial Bold"/>
                  <a:cs typeface="Arial Bold"/>
                  <a:sym typeface="Arial Bold"/>
                </a:rPr>
                <a:t>✕</a:t>
              </a:r>
            </a:p>
          </p:txBody>
        </p:sp>
      </p:grpSp>
      <p:grpSp>
        <p:nvGrpSpPr>
          <p:cNvPr id="37" name="Group 37"/>
          <p:cNvGrpSpPr/>
          <p:nvPr/>
        </p:nvGrpSpPr>
        <p:grpSpPr>
          <a:xfrm>
            <a:off x="2084832" y="3209544"/>
            <a:ext cx="14813280" cy="877824"/>
            <a:chOff x="0" y="0"/>
            <a:chExt cx="19751040" cy="1170432"/>
          </a:xfrm>
        </p:grpSpPr>
        <p:sp>
          <p:nvSpPr>
            <p:cNvPr id="38" name="Freeform 38"/>
            <p:cNvSpPr/>
            <p:nvPr/>
          </p:nvSpPr>
          <p:spPr>
            <a:xfrm>
              <a:off x="0" y="0"/>
              <a:ext cx="19751039" cy="1170432"/>
            </a:xfrm>
            <a:custGeom>
              <a:avLst/>
              <a:gdLst/>
              <a:ahLst/>
              <a:cxnLst/>
              <a:rect l="l" t="t" r="r" b="b"/>
              <a:pathLst>
                <a:path w="19751039" h="1170432">
                  <a:moveTo>
                    <a:pt x="0" y="0"/>
                  </a:moveTo>
                  <a:lnTo>
                    <a:pt x="19751039" y="0"/>
                  </a:lnTo>
                  <a:lnTo>
                    <a:pt x="19751039" y="1170432"/>
                  </a:lnTo>
                  <a:lnTo>
                    <a:pt x="0" y="1170432"/>
                  </a:lnTo>
                  <a:close/>
                </a:path>
              </a:pathLst>
            </a:custGeom>
            <a:blipFill>
              <a:blip r:embed="rId4">
                <a:alphaModFix amt="0"/>
              </a:blip>
              <a:stretch>
                <a:fillRect t="-278810" b="-278810"/>
              </a:stretch>
            </a:blipFill>
          </p:spPr>
        </p:sp>
        <p:sp>
          <p:nvSpPr>
            <p:cNvPr id="39" name="TextBox 39"/>
            <p:cNvSpPr txBox="1"/>
            <p:nvPr/>
          </p:nvSpPr>
          <p:spPr>
            <a:xfrm>
              <a:off x="0" y="-47625"/>
              <a:ext cx="19751040" cy="1218057"/>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Memakai ikon, font, atau foto pihak ketiga tanpa mencantumkan kredit sumbernya.</a:t>
              </a:r>
            </a:p>
          </p:txBody>
        </p:sp>
      </p:grpSp>
      <p:grpSp>
        <p:nvGrpSpPr>
          <p:cNvPr id="40" name="Group 40"/>
          <p:cNvGrpSpPr/>
          <p:nvPr/>
        </p:nvGrpSpPr>
        <p:grpSpPr>
          <a:xfrm>
            <a:off x="950595" y="4215003"/>
            <a:ext cx="16382238" cy="896874"/>
            <a:chOff x="0" y="0"/>
            <a:chExt cx="21842984" cy="1195832"/>
          </a:xfrm>
        </p:grpSpPr>
        <p:sp>
          <p:nvSpPr>
            <p:cNvPr id="41" name="Freeform 41"/>
            <p:cNvSpPr/>
            <p:nvPr/>
          </p:nvSpPr>
          <p:spPr>
            <a:xfrm>
              <a:off x="0" y="0"/>
              <a:ext cx="21842983" cy="1195832"/>
            </a:xfrm>
            <a:custGeom>
              <a:avLst/>
              <a:gdLst/>
              <a:ahLst/>
              <a:cxnLst/>
              <a:rect l="l" t="t" r="r" b="b"/>
              <a:pathLst>
                <a:path w="21842983" h="1195832">
                  <a:moveTo>
                    <a:pt x="0" y="112141"/>
                  </a:moveTo>
                  <a:cubicBezTo>
                    <a:pt x="0" y="50165"/>
                    <a:pt x="50165" y="0"/>
                    <a:pt x="112141" y="0"/>
                  </a:cubicBezTo>
                  <a:lnTo>
                    <a:pt x="21730843" y="0"/>
                  </a:lnTo>
                  <a:cubicBezTo>
                    <a:pt x="21792819" y="0"/>
                    <a:pt x="21842983" y="50165"/>
                    <a:pt x="21842983" y="112141"/>
                  </a:cubicBezTo>
                  <a:lnTo>
                    <a:pt x="21842983" y="1083691"/>
                  </a:lnTo>
                  <a:cubicBezTo>
                    <a:pt x="21842983" y="1145667"/>
                    <a:pt x="21792819" y="1195832"/>
                    <a:pt x="21730843" y="1195832"/>
                  </a:cubicBezTo>
                  <a:lnTo>
                    <a:pt x="112141" y="1195832"/>
                  </a:lnTo>
                  <a:cubicBezTo>
                    <a:pt x="50165" y="1195832"/>
                    <a:pt x="0" y="1145667"/>
                    <a:pt x="0" y="1083691"/>
                  </a:cubicBezTo>
                  <a:close/>
                </a:path>
              </a:pathLst>
            </a:custGeom>
            <a:solidFill>
              <a:srgbClr val="0D1632">
                <a:alpha val="77255"/>
              </a:srgbClr>
            </a:solidFill>
            <a:ln w="19050" cap="sq">
              <a:solidFill>
                <a:srgbClr val="24406F"/>
              </a:solidFill>
              <a:prstDash val="solid"/>
              <a:miter/>
            </a:ln>
          </p:spPr>
        </p:sp>
      </p:grpSp>
      <p:grpSp>
        <p:nvGrpSpPr>
          <p:cNvPr id="42" name="Group 42"/>
          <p:cNvGrpSpPr/>
          <p:nvPr/>
        </p:nvGrpSpPr>
        <p:grpSpPr>
          <a:xfrm>
            <a:off x="1334643" y="4407027"/>
            <a:ext cx="512826" cy="512826"/>
            <a:chOff x="0" y="0"/>
            <a:chExt cx="683768" cy="683768"/>
          </a:xfrm>
        </p:grpSpPr>
        <p:sp>
          <p:nvSpPr>
            <p:cNvPr id="43" name="Freeform 43"/>
            <p:cNvSpPr/>
            <p:nvPr/>
          </p:nvSpPr>
          <p:spPr>
            <a:xfrm>
              <a:off x="0" y="0"/>
              <a:ext cx="683768" cy="683768"/>
            </a:xfrm>
            <a:custGeom>
              <a:avLst/>
              <a:gdLst/>
              <a:ahLst/>
              <a:cxnLst/>
              <a:rect l="l" t="t" r="r" b="b"/>
              <a:pathLst>
                <a:path w="683768" h="683768">
                  <a:moveTo>
                    <a:pt x="0" y="94996"/>
                  </a:moveTo>
                  <a:cubicBezTo>
                    <a:pt x="0" y="42545"/>
                    <a:pt x="42545" y="0"/>
                    <a:pt x="94996" y="0"/>
                  </a:cubicBezTo>
                  <a:lnTo>
                    <a:pt x="588772" y="0"/>
                  </a:lnTo>
                  <a:cubicBezTo>
                    <a:pt x="641223" y="0"/>
                    <a:pt x="683768" y="42545"/>
                    <a:pt x="683768" y="94996"/>
                  </a:cubicBezTo>
                  <a:lnTo>
                    <a:pt x="683768" y="588772"/>
                  </a:lnTo>
                  <a:cubicBezTo>
                    <a:pt x="683768" y="641223"/>
                    <a:pt x="641223" y="683768"/>
                    <a:pt x="588772" y="683768"/>
                  </a:cubicBezTo>
                  <a:lnTo>
                    <a:pt x="94996" y="683768"/>
                  </a:lnTo>
                  <a:cubicBezTo>
                    <a:pt x="42545" y="683768"/>
                    <a:pt x="0" y="641223"/>
                    <a:pt x="0" y="588772"/>
                  </a:cubicBezTo>
                  <a:close/>
                </a:path>
              </a:pathLst>
            </a:custGeom>
            <a:solidFill>
              <a:srgbClr val="2A0F0F"/>
            </a:solidFill>
            <a:ln w="19050" cap="sq">
              <a:solidFill>
                <a:srgbClr val="E86A6A"/>
              </a:solidFill>
              <a:prstDash val="solid"/>
              <a:miter/>
            </a:ln>
          </p:spPr>
        </p:sp>
      </p:grpSp>
      <p:grpSp>
        <p:nvGrpSpPr>
          <p:cNvPr id="44" name="Group 44"/>
          <p:cNvGrpSpPr/>
          <p:nvPr/>
        </p:nvGrpSpPr>
        <p:grpSpPr>
          <a:xfrm>
            <a:off x="1344168" y="4416552"/>
            <a:ext cx="493776" cy="493776"/>
            <a:chOff x="0" y="0"/>
            <a:chExt cx="658368" cy="658368"/>
          </a:xfrm>
        </p:grpSpPr>
        <p:sp>
          <p:nvSpPr>
            <p:cNvPr id="45" name="Freeform 45"/>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4">
                <a:alphaModFix amt="0"/>
              </a:blip>
              <a:stretch>
                <a:fillRect l="-78303" r="-78303"/>
              </a:stretch>
            </a:blipFill>
          </p:spPr>
        </p:sp>
        <p:sp>
          <p:nvSpPr>
            <p:cNvPr id="46" name="TextBox 46"/>
            <p:cNvSpPr txBox="1"/>
            <p:nvPr/>
          </p:nvSpPr>
          <p:spPr>
            <a:xfrm>
              <a:off x="0" y="-19050"/>
              <a:ext cx="658368" cy="677418"/>
            </a:xfrm>
            <a:prstGeom prst="rect">
              <a:avLst/>
            </a:prstGeom>
          </p:spPr>
          <p:txBody>
            <a:bodyPr lIns="0" tIns="0" rIns="0" bIns="0" rtlCol="0" anchor="ctr"/>
            <a:lstStyle/>
            <a:p>
              <a:pPr algn="ctr">
                <a:lnSpc>
                  <a:spcPts val="2160"/>
                </a:lnSpc>
              </a:pPr>
              <a:r>
                <a:rPr lang="en-US" sz="1800" b="1">
                  <a:solidFill>
                    <a:srgbClr val="E86A6A"/>
                  </a:solidFill>
                  <a:latin typeface="Arial Bold"/>
                  <a:ea typeface="Arial Bold"/>
                  <a:cs typeface="Arial Bold"/>
                  <a:sym typeface="Arial Bold"/>
                </a:rPr>
                <a:t>✕</a:t>
              </a:r>
            </a:p>
          </p:txBody>
        </p:sp>
      </p:grpSp>
      <p:grpSp>
        <p:nvGrpSpPr>
          <p:cNvPr id="47" name="Group 47"/>
          <p:cNvGrpSpPr/>
          <p:nvPr/>
        </p:nvGrpSpPr>
        <p:grpSpPr>
          <a:xfrm>
            <a:off x="2084832" y="4224528"/>
            <a:ext cx="14813280" cy="877824"/>
            <a:chOff x="0" y="0"/>
            <a:chExt cx="19751040" cy="1170432"/>
          </a:xfrm>
        </p:grpSpPr>
        <p:sp>
          <p:nvSpPr>
            <p:cNvPr id="48" name="Freeform 48"/>
            <p:cNvSpPr/>
            <p:nvPr/>
          </p:nvSpPr>
          <p:spPr>
            <a:xfrm>
              <a:off x="0" y="0"/>
              <a:ext cx="19751039" cy="1170432"/>
            </a:xfrm>
            <a:custGeom>
              <a:avLst/>
              <a:gdLst/>
              <a:ahLst/>
              <a:cxnLst/>
              <a:rect l="l" t="t" r="r" b="b"/>
              <a:pathLst>
                <a:path w="19751039" h="1170432">
                  <a:moveTo>
                    <a:pt x="0" y="0"/>
                  </a:moveTo>
                  <a:lnTo>
                    <a:pt x="19751039" y="0"/>
                  </a:lnTo>
                  <a:lnTo>
                    <a:pt x="19751039" y="1170432"/>
                  </a:lnTo>
                  <a:lnTo>
                    <a:pt x="0" y="1170432"/>
                  </a:lnTo>
                  <a:close/>
                </a:path>
              </a:pathLst>
            </a:custGeom>
            <a:blipFill>
              <a:blip r:embed="rId4">
                <a:alphaModFix amt="0"/>
              </a:blip>
              <a:stretch>
                <a:fillRect t="-278810" b="-278810"/>
              </a:stretch>
            </a:blipFill>
          </p:spPr>
        </p:sp>
        <p:sp>
          <p:nvSpPr>
            <p:cNvPr id="49" name="TextBox 49"/>
            <p:cNvSpPr txBox="1"/>
            <p:nvPr/>
          </p:nvSpPr>
          <p:spPr>
            <a:xfrm>
              <a:off x="0" y="-47625"/>
              <a:ext cx="19751040" cy="1218057"/>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Memanipulasi atau memalsukan data di luar dataset resmi sehingga menyesatkan pembaca.</a:t>
              </a:r>
            </a:p>
          </p:txBody>
        </p:sp>
      </p:grpSp>
      <p:grpSp>
        <p:nvGrpSpPr>
          <p:cNvPr id="50" name="Group 50"/>
          <p:cNvGrpSpPr/>
          <p:nvPr/>
        </p:nvGrpSpPr>
        <p:grpSpPr>
          <a:xfrm>
            <a:off x="950595" y="5229987"/>
            <a:ext cx="16382238" cy="896874"/>
            <a:chOff x="0" y="0"/>
            <a:chExt cx="21842984" cy="1195832"/>
          </a:xfrm>
        </p:grpSpPr>
        <p:sp>
          <p:nvSpPr>
            <p:cNvPr id="51" name="Freeform 51"/>
            <p:cNvSpPr/>
            <p:nvPr/>
          </p:nvSpPr>
          <p:spPr>
            <a:xfrm>
              <a:off x="0" y="0"/>
              <a:ext cx="21842983" cy="1195832"/>
            </a:xfrm>
            <a:custGeom>
              <a:avLst/>
              <a:gdLst/>
              <a:ahLst/>
              <a:cxnLst/>
              <a:rect l="l" t="t" r="r" b="b"/>
              <a:pathLst>
                <a:path w="21842983" h="1195832">
                  <a:moveTo>
                    <a:pt x="0" y="112141"/>
                  </a:moveTo>
                  <a:cubicBezTo>
                    <a:pt x="0" y="50165"/>
                    <a:pt x="50165" y="0"/>
                    <a:pt x="112141" y="0"/>
                  </a:cubicBezTo>
                  <a:lnTo>
                    <a:pt x="21730843" y="0"/>
                  </a:lnTo>
                  <a:cubicBezTo>
                    <a:pt x="21792819" y="0"/>
                    <a:pt x="21842983" y="50165"/>
                    <a:pt x="21842983" y="112141"/>
                  </a:cubicBezTo>
                  <a:lnTo>
                    <a:pt x="21842983" y="1083691"/>
                  </a:lnTo>
                  <a:cubicBezTo>
                    <a:pt x="21842983" y="1145667"/>
                    <a:pt x="21792819" y="1195832"/>
                    <a:pt x="21730843" y="1195832"/>
                  </a:cubicBezTo>
                  <a:lnTo>
                    <a:pt x="112141" y="1195832"/>
                  </a:lnTo>
                  <a:cubicBezTo>
                    <a:pt x="50165" y="1195832"/>
                    <a:pt x="0" y="1145667"/>
                    <a:pt x="0" y="1083691"/>
                  </a:cubicBezTo>
                  <a:close/>
                </a:path>
              </a:pathLst>
            </a:custGeom>
            <a:solidFill>
              <a:srgbClr val="0D1632">
                <a:alpha val="77255"/>
              </a:srgbClr>
            </a:solidFill>
            <a:ln w="19050" cap="sq">
              <a:solidFill>
                <a:srgbClr val="24406F"/>
              </a:solidFill>
              <a:prstDash val="solid"/>
              <a:miter/>
            </a:ln>
          </p:spPr>
        </p:sp>
      </p:grpSp>
      <p:grpSp>
        <p:nvGrpSpPr>
          <p:cNvPr id="52" name="Group 52"/>
          <p:cNvGrpSpPr/>
          <p:nvPr/>
        </p:nvGrpSpPr>
        <p:grpSpPr>
          <a:xfrm>
            <a:off x="1334643" y="5422011"/>
            <a:ext cx="512826" cy="512826"/>
            <a:chOff x="0" y="0"/>
            <a:chExt cx="683768" cy="683768"/>
          </a:xfrm>
        </p:grpSpPr>
        <p:sp>
          <p:nvSpPr>
            <p:cNvPr id="53" name="Freeform 53"/>
            <p:cNvSpPr/>
            <p:nvPr/>
          </p:nvSpPr>
          <p:spPr>
            <a:xfrm>
              <a:off x="0" y="0"/>
              <a:ext cx="683768" cy="683768"/>
            </a:xfrm>
            <a:custGeom>
              <a:avLst/>
              <a:gdLst/>
              <a:ahLst/>
              <a:cxnLst/>
              <a:rect l="l" t="t" r="r" b="b"/>
              <a:pathLst>
                <a:path w="683768" h="683768">
                  <a:moveTo>
                    <a:pt x="0" y="94996"/>
                  </a:moveTo>
                  <a:cubicBezTo>
                    <a:pt x="0" y="42545"/>
                    <a:pt x="42545" y="0"/>
                    <a:pt x="94996" y="0"/>
                  </a:cubicBezTo>
                  <a:lnTo>
                    <a:pt x="588772" y="0"/>
                  </a:lnTo>
                  <a:cubicBezTo>
                    <a:pt x="641223" y="0"/>
                    <a:pt x="683768" y="42545"/>
                    <a:pt x="683768" y="94996"/>
                  </a:cubicBezTo>
                  <a:lnTo>
                    <a:pt x="683768" y="588772"/>
                  </a:lnTo>
                  <a:cubicBezTo>
                    <a:pt x="683768" y="641223"/>
                    <a:pt x="641223" y="683768"/>
                    <a:pt x="588772" y="683768"/>
                  </a:cubicBezTo>
                  <a:lnTo>
                    <a:pt x="94996" y="683768"/>
                  </a:lnTo>
                  <a:cubicBezTo>
                    <a:pt x="42545" y="683768"/>
                    <a:pt x="0" y="641223"/>
                    <a:pt x="0" y="588772"/>
                  </a:cubicBezTo>
                  <a:close/>
                </a:path>
              </a:pathLst>
            </a:custGeom>
            <a:solidFill>
              <a:srgbClr val="2A0F0F"/>
            </a:solidFill>
            <a:ln w="19050" cap="sq">
              <a:solidFill>
                <a:srgbClr val="E86A6A"/>
              </a:solidFill>
              <a:prstDash val="solid"/>
              <a:miter/>
            </a:ln>
          </p:spPr>
        </p:sp>
      </p:grpSp>
      <p:grpSp>
        <p:nvGrpSpPr>
          <p:cNvPr id="54" name="Group 54"/>
          <p:cNvGrpSpPr/>
          <p:nvPr/>
        </p:nvGrpSpPr>
        <p:grpSpPr>
          <a:xfrm>
            <a:off x="1344168" y="5431536"/>
            <a:ext cx="493776" cy="493776"/>
            <a:chOff x="0" y="0"/>
            <a:chExt cx="658368" cy="658368"/>
          </a:xfrm>
        </p:grpSpPr>
        <p:sp>
          <p:nvSpPr>
            <p:cNvPr id="55" name="Freeform 55"/>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4">
                <a:alphaModFix amt="0"/>
              </a:blip>
              <a:stretch>
                <a:fillRect l="-78303" r="-78303"/>
              </a:stretch>
            </a:blipFill>
          </p:spPr>
        </p:sp>
        <p:sp>
          <p:nvSpPr>
            <p:cNvPr id="56" name="TextBox 56"/>
            <p:cNvSpPr txBox="1"/>
            <p:nvPr/>
          </p:nvSpPr>
          <p:spPr>
            <a:xfrm>
              <a:off x="0" y="-19050"/>
              <a:ext cx="658368" cy="677418"/>
            </a:xfrm>
            <a:prstGeom prst="rect">
              <a:avLst/>
            </a:prstGeom>
          </p:spPr>
          <p:txBody>
            <a:bodyPr lIns="0" tIns="0" rIns="0" bIns="0" rtlCol="0" anchor="ctr"/>
            <a:lstStyle/>
            <a:p>
              <a:pPr algn="ctr">
                <a:lnSpc>
                  <a:spcPts val="2160"/>
                </a:lnSpc>
              </a:pPr>
              <a:r>
                <a:rPr lang="en-US" sz="1800" b="1">
                  <a:solidFill>
                    <a:srgbClr val="E86A6A"/>
                  </a:solidFill>
                  <a:latin typeface="Arial Bold"/>
                  <a:ea typeface="Arial Bold"/>
                  <a:cs typeface="Arial Bold"/>
                  <a:sym typeface="Arial Bold"/>
                </a:rPr>
                <a:t>✕</a:t>
              </a:r>
            </a:p>
          </p:txBody>
        </p:sp>
      </p:grpSp>
      <p:grpSp>
        <p:nvGrpSpPr>
          <p:cNvPr id="57" name="Group 57"/>
          <p:cNvGrpSpPr/>
          <p:nvPr/>
        </p:nvGrpSpPr>
        <p:grpSpPr>
          <a:xfrm>
            <a:off x="2084832" y="5239512"/>
            <a:ext cx="14813280" cy="877824"/>
            <a:chOff x="0" y="0"/>
            <a:chExt cx="19751040" cy="1170432"/>
          </a:xfrm>
        </p:grpSpPr>
        <p:sp>
          <p:nvSpPr>
            <p:cNvPr id="58" name="Freeform 58"/>
            <p:cNvSpPr/>
            <p:nvPr/>
          </p:nvSpPr>
          <p:spPr>
            <a:xfrm>
              <a:off x="0" y="0"/>
              <a:ext cx="19751039" cy="1170432"/>
            </a:xfrm>
            <a:custGeom>
              <a:avLst/>
              <a:gdLst/>
              <a:ahLst/>
              <a:cxnLst/>
              <a:rect l="l" t="t" r="r" b="b"/>
              <a:pathLst>
                <a:path w="19751039" h="1170432">
                  <a:moveTo>
                    <a:pt x="0" y="0"/>
                  </a:moveTo>
                  <a:lnTo>
                    <a:pt x="19751039" y="0"/>
                  </a:lnTo>
                  <a:lnTo>
                    <a:pt x="19751039" y="1170432"/>
                  </a:lnTo>
                  <a:lnTo>
                    <a:pt x="0" y="1170432"/>
                  </a:lnTo>
                  <a:close/>
                </a:path>
              </a:pathLst>
            </a:custGeom>
            <a:blipFill>
              <a:blip r:embed="rId4">
                <a:alphaModFix amt="0"/>
              </a:blip>
              <a:stretch>
                <a:fillRect t="-278810" b="-278810"/>
              </a:stretch>
            </a:blipFill>
          </p:spPr>
        </p:sp>
        <p:sp>
          <p:nvSpPr>
            <p:cNvPr id="59" name="TextBox 59"/>
            <p:cNvSpPr txBox="1"/>
            <p:nvPr/>
          </p:nvSpPr>
          <p:spPr>
            <a:xfrm>
              <a:off x="0" y="-47625"/>
              <a:ext cx="19751040" cy="1218057"/>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Menggunakan data di luar dataset resmi panitia.</a:t>
              </a:r>
            </a:p>
          </p:txBody>
        </p:sp>
      </p:grpSp>
      <p:grpSp>
        <p:nvGrpSpPr>
          <p:cNvPr id="60" name="Group 60"/>
          <p:cNvGrpSpPr/>
          <p:nvPr/>
        </p:nvGrpSpPr>
        <p:grpSpPr>
          <a:xfrm>
            <a:off x="950595" y="6244971"/>
            <a:ext cx="16382238" cy="896874"/>
            <a:chOff x="0" y="0"/>
            <a:chExt cx="21842984" cy="1195832"/>
          </a:xfrm>
        </p:grpSpPr>
        <p:sp>
          <p:nvSpPr>
            <p:cNvPr id="61" name="Freeform 61"/>
            <p:cNvSpPr/>
            <p:nvPr/>
          </p:nvSpPr>
          <p:spPr>
            <a:xfrm>
              <a:off x="0" y="0"/>
              <a:ext cx="21842983" cy="1195832"/>
            </a:xfrm>
            <a:custGeom>
              <a:avLst/>
              <a:gdLst/>
              <a:ahLst/>
              <a:cxnLst/>
              <a:rect l="l" t="t" r="r" b="b"/>
              <a:pathLst>
                <a:path w="21842983" h="1195832">
                  <a:moveTo>
                    <a:pt x="0" y="112141"/>
                  </a:moveTo>
                  <a:cubicBezTo>
                    <a:pt x="0" y="50165"/>
                    <a:pt x="50165" y="0"/>
                    <a:pt x="112141" y="0"/>
                  </a:cubicBezTo>
                  <a:lnTo>
                    <a:pt x="21730843" y="0"/>
                  </a:lnTo>
                  <a:cubicBezTo>
                    <a:pt x="21792819" y="0"/>
                    <a:pt x="21842983" y="50165"/>
                    <a:pt x="21842983" y="112141"/>
                  </a:cubicBezTo>
                  <a:lnTo>
                    <a:pt x="21842983" y="1083691"/>
                  </a:lnTo>
                  <a:cubicBezTo>
                    <a:pt x="21842983" y="1145667"/>
                    <a:pt x="21792819" y="1195832"/>
                    <a:pt x="21730843" y="1195832"/>
                  </a:cubicBezTo>
                  <a:lnTo>
                    <a:pt x="112141" y="1195832"/>
                  </a:lnTo>
                  <a:cubicBezTo>
                    <a:pt x="50165" y="1195832"/>
                    <a:pt x="0" y="1145667"/>
                    <a:pt x="0" y="1083691"/>
                  </a:cubicBezTo>
                  <a:close/>
                </a:path>
              </a:pathLst>
            </a:custGeom>
            <a:solidFill>
              <a:srgbClr val="0D1632">
                <a:alpha val="77255"/>
              </a:srgbClr>
            </a:solidFill>
            <a:ln w="19050" cap="sq">
              <a:solidFill>
                <a:srgbClr val="24406F"/>
              </a:solidFill>
              <a:prstDash val="solid"/>
              <a:miter/>
            </a:ln>
          </p:spPr>
        </p:sp>
      </p:grpSp>
      <p:grpSp>
        <p:nvGrpSpPr>
          <p:cNvPr id="62" name="Group 62"/>
          <p:cNvGrpSpPr/>
          <p:nvPr/>
        </p:nvGrpSpPr>
        <p:grpSpPr>
          <a:xfrm>
            <a:off x="1334643" y="6436995"/>
            <a:ext cx="512826" cy="512826"/>
            <a:chOff x="0" y="0"/>
            <a:chExt cx="683768" cy="683768"/>
          </a:xfrm>
        </p:grpSpPr>
        <p:sp>
          <p:nvSpPr>
            <p:cNvPr id="63" name="Freeform 63"/>
            <p:cNvSpPr/>
            <p:nvPr/>
          </p:nvSpPr>
          <p:spPr>
            <a:xfrm>
              <a:off x="0" y="0"/>
              <a:ext cx="683768" cy="683768"/>
            </a:xfrm>
            <a:custGeom>
              <a:avLst/>
              <a:gdLst/>
              <a:ahLst/>
              <a:cxnLst/>
              <a:rect l="l" t="t" r="r" b="b"/>
              <a:pathLst>
                <a:path w="683768" h="683768">
                  <a:moveTo>
                    <a:pt x="0" y="94996"/>
                  </a:moveTo>
                  <a:cubicBezTo>
                    <a:pt x="0" y="42545"/>
                    <a:pt x="42545" y="0"/>
                    <a:pt x="94996" y="0"/>
                  </a:cubicBezTo>
                  <a:lnTo>
                    <a:pt x="588772" y="0"/>
                  </a:lnTo>
                  <a:cubicBezTo>
                    <a:pt x="641223" y="0"/>
                    <a:pt x="683768" y="42545"/>
                    <a:pt x="683768" y="94996"/>
                  </a:cubicBezTo>
                  <a:lnTo>
                    <a:pt x="683768" y="588772"/>
                  </a:lnTo>
                  <a:cubicBezTo>
                    <a:pt x="683768" y="641223"/>
                    <a:pt x="641223" y="683768"/>
                    <a:pt x="588772" y="683768"/>
                  </a:cubicBezTo>
                  <a:lnTo>
                    <a:pt x="94996" y="683768"/>
                  </a:lnTo>
                  <a:cubicBezTo>
                    <a:pt x="42545" y="683768"/>
                    <a:pt x="0" y="641223"/>
                    <a:pt x="0" y="588772"/>
                  </a:cubicBezTo>
                  <a:close/>
                </a:path>
              </a:pathLst>
            </a:custGeom>
            <a:solidFill>
              <a:srgbClr val="2A0F0F"/>
            </a:solidFill>
            <a:ln w="19050" cap="sq">
              <a:solidFill>
                <a:srgbClr val="E86A6A"/>
              </a:solidFill>
              <a:prstDash val="solid"/>
              <a:miter/>
            </a:ln>
          </p:spPr>
        </p:sp>
      </p:grpSp>
      <p:grpSp>
        <p:nvGrpSpPr>
          <p:cNvPr id="64" name="Group 64"/>
          <p:cNvGrpSpPr/>
          <p:nvPr/>
        </p:nvGrpSpPr>
        <p:grpSpPr>
          <a:xfrm>
            <a:off x="1344168" y="6446520"/>
            <a:ext cx="493776" cy="493776"/>
            <a:chOff x="0" y="0"/>
            <a:chExt cx="658368" cy="658368"/>
          </a:xfrm>
        </p:grpSpPr>
        <p:sp>
          <p:nvSpPr>
            <p:cNvPr id="65" name="Freeform 65"/>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4">
                <a:alphaModFix amt="0"/>
              </a:blip>
              <a:stretch>
                <a:fillRect l="-78303" r="-78303"/>
              </a:stretch>
            </a:blipFill>
          </p:spPr>
        </p:sp>
        <p:sp>
          <p:nvSpPr>
            <p:cNvPr id="66" name="TextBox 66"/>
            <p:cNvSpPr txBox="1"/>
            <p:nvPr/>
          </p:nvSpPr>
          <p:spPr>
            <a:xfrm>
              <a:off x="0" y="-19050"/>
              <a:ext cx="658368" cy="677418"/>
            </a:xfrm>
            <a:prstGeom prst="rect">
              <a:avLst/>
            </a:prstGeom>
          </p:spPr>
          <p:txBody>
            <a:bodyPr lIns="0" tIns="0" rIns="0" bIns="0" rtlCol="0" anchor="ctr"/>
            <a:lstStyle/>
            <a:p>
              <a:pPr algn="ctr">
                <a:lnSpc>
                  <a:spcPts val="2160"/>
                </a:lnSpc>
              </a:pPr>
              <a:r>
                <a:rPr lang="en-US" sz="1800" b="1">
                  <a:solidFill>
                    <a:srgbClr val="E86A6A"/>
                  </a:solidFill>
                  <a:latin typeface="Arial Bold"/>
                  <a:ea typeface="Arial Bold"/>
                  <a:cs typeface="Arial Bold"/>
                  <a:sym typeface="Arial Bold"/>
                </a:rPr>
                <a:t>✕</a:t>
              </a:r>
            </a:p>
          </p:txBody>
        </p:sp>
      </p:grpSp>
      <p:grpSp>
        <p:nvGrpSpPr>
          <p:cNvPr id="67" name="Group 67"/>
          <p:cNvGrpSpPr/>
          <p:nvPr/>
        </p:nvGrpSpPr>
        <p:grpSpPr>
          <a:xfrm>
            <a:off x="2084832" y="6254496"/>
            <a:ext cx="14813280" cy="877824"/>
            <a:chOff x="0" y="0"/>
            <a:chExt cx="19751040" cy="1170432"/>
          </a:xfrm>
        </p:grpSpPr>
        <p:sp>
          <p:nvSpPr>
            <p:cNvPr id="68" name="Freeform 68"/>
            <p:cNvSpPr/>
            <p:nvPr/>
          </p:nvSpPr>
          <p:spPr>
            <a:xfrm>
              <a:off x="0" y="0"/>
              <a:ext cx="19751039" cy="1170432"/>
            </a:xfrm>
            <a:custGeom>
              <a:avLst/>
              <a:gdLst/>
              <a:ahLst/>
              <a:cxnLst/>
              <a:rect l="l" t="t" r="r" b="b"/>
              <a:pathLst>
                <a:path w="19751039" h="1170432">
                  <a:moveTo>
                    <a:pt x="0" y="0"/>
                  </a:moveTo>
                  <a:lnTo>
                    <a:pt x="19751039" y="0"/>
                  </a:lnTo>
                  <a:lnTo>
                    <a:pt x="19751039" y="1170432"/>
                  </a:lnTo>
                  <a:lnTo>
                    <a:pt x="0" y="1170432"/>
                  </a:lnTo>
                  <a:close/>
                </a:path>
              </a:pathLst>
            </a:custGeom>
            <a:blipFill>
              <a:blip r:embed="rId4">
                <a:alphaModFix amt="0"/>
              </a:blip>
              <a:stretch>
                <a:fillRect t="-278810" b="-278810"/>
              </a:stretch>
            </a:blipFill>
          </p:spPr>
        </p:sp>
        <p:sp>
          <p:nvSpPr>
            <p:cNvPr id="69" name="TextBox 69"/>
            <p:cNvSpPr txBox="1"/>
            <p:nvPr/>
          </p:nvSpPr>
          <p:spPr>
            <a:xfrm>
              <a:off x="0" y="-47625"/>
              <a:ext cx="19751040" cy="1218057"/>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Mencantumkan nama universitas mana pun sebagai pemilik data dalam karya.</a:t>
              </a:r>
            </a:p>
          </p:txBody>
        </p:sp>
      </p:grpSp>
      <p:grpSp>
        <p:nvGrpSpPr>
          <p:cNvPr id="70" name="Group 70"/>
          <p:cNvGrpSpPr/>
          <p:nvPr/>
        </p:nvGrpSpPr>
        <p:grpSpPr>
          <a:xfrm>
            <a:off x="950595" y="7259955"/>
            <a:ext cx="16382238" cy="896874"/>
            <a:chOff x="0" y="0"/>
            <a:chExt cx="21842984" cy="1195832"/>
          </a:xfrm>
        </p:grpSpPr>
        <p:sp>
          <p:nvSpPr>
            <p:cNvPr id="71" name="Freeform 71"/>
            <p:cNvSpPr/>
            <p:nvPr/>
          </p:nvSpPr>
          <p:spPr>
            <a:xfrm>
              <a:off x="0" y="0"/>
              <a:ext cx="21842983" cy="1195832"/>
            </a:xfrm>
            <a:custGeom>
              <a:avLst/>
              <a:gdLst/>
              <a:ahLst/>
              <a:cxnLst/>
              <a:rect l="l" t="t" r="r" b="b"/>
              <a:pathLst>
                <a:path w="21842983" h="1195832">
                  <a:moveTo>
                    <a:pt x="0" y="112141"/>
                  </a:moveTo>
                  <a:cubicBezTo>
                    <a:pt x="0" y="50165"/>
                    <a:pt x="50165" y="0"/>
                    <a:pt x="112141" y="0"/>
                  </a:cubicBezTo>
                  <a:lnTo>
                    <a:pt x="21730843" y="0"/>
                  </a:lnTo>
                  <a:cubicBezTo>
                    <a:pt x="21792819" y="0"/>
                    <a:pt x="21842983" y="50165"/>
                    <a:pt x="21842983" y="112141"/>
                  </a:cubicBezTo>
                  <a:lnTo>
                    <a:pt x="21842983" y="1083691"/>
                  </a:lnTo>
                  <a:cubicBezTo>
                    <a:pt x="21842983" y="1145667"/>
                    <a:pt x="21792819" y="1195832"/>
                    <a:pt x="21730843" y="1195832"/>
                  </a:cubicBezTo>
                  <a:lnTo>
                    <a:pt x="112141" y="1195832"/>
                  </a:lnTo>
                  <a:cubicBezTo>
                    <a:pt x="50165" y="1195832"/>
                    <a:pt x="0" y="1145667"/>
                    <a:pt x="0" y="1083691"/>
                  </a:cubicBezTo>
                  <a:close/>
                </a:path>
              </a:pathLst>
            </a:custGeom>
            <a:solidFill>
              <a:srgbClr val="0D1632">
                <a:alpha val="77255"/>
              </a:srgbClr>
            </a:solidFill>
            <a:ln w="19050" cap="sq">
              <a:solidFill>
                <a:srgbClr val="24406F"/>
              </a:solidFill>
              <a:prstDash val="solid"/>
              <a:miter/>
            </a:ln>
          </p:spPr>
        </p:sp>
      </p:grpSp>
      <p:grpSp>
        <p:nvGrpSpPr>
          <p:cNvPr id="72" name="Group 72"/>
          <p:cNvGrpSpPr/>
          <p:nvPr/>
        </p:nvGrpSpPr>
        <p:grpSpPr>
          <a:xfrm>
            <a:off x="1334643" y="7451979"/>
            <a:ext cx="512826" cy="512826"/>
            <a:chOff x="0" y="0"/>
            <a:chExt cx="683768" cy="683768"/>
          </a:xfrm>
        </p:grpSpPr>
        <p:sp>
          <p:nvSpPr>
            <p:cNvPr id="73" name="Freeform 73"/>
            <p:cNvSpPr/>
            <p:nvPr/>
          </p:nvSpPr>
          <p:spPr>
            <a:xfrm>
              <a:off x="0" y="0"/>
              <a:ext cx="683768" cy="683768"/>
            </a:xfrm>
            <a:custGeom>
              <a:avLst/>
              <a:gdLst/>
              <a:ahLst/>
              <a:cxnLst/>
              <a:rect l="l" t="t" r="r" b="b"/>
              <a:pathLst>
                <a:path w="683768" h="683768">
                  <a:moveTo>
                    <a:pt x="0" y="94996"/>
                  </a:moveTo>
                  <a:cubicBezTo>
                    <a:pt x="0" y="42545"/>
                    <a:pt x="42545" y="0"/>
                    <a:pt x="94996" y="0"/>
                  </a:cubicBezTo>
                  <a:lnTo>
                    <a:pt x="588772" y="0"/>
                  </a:lnTo>
                  <a:cubicBezTo>
                    <a:pt x="641223" y="0"/>
                    <a:pt x="683768" y="42545"/>
                    <a:pt x="683768" y="94996"/>
                  </a:cubicBezTo>
                  <a:lnTo>
                    <a:pt x="683768" y="588772"/>
                  </a:lnTo>
                  <a:cubicBezTo>
                    <a:pt x="683768" y="641223"/>
                    <a:pt x="641223" y="683768"/>
                    <a:pt x="588772" y="683768"/>
                  </a:cubicBezTo>
                  <a:lnTo>
                    <a:pt x="94996" y="683768"/>
                  </a:lnTo>
                  <a:cubicBezTo>
                    <a:pt x="42545" y="683768"/>
                    <a:pt x="0" y="641223"/>
                    <a:pt x="0" y="588772"/>
                  </a:cubicBezTo>
                  <a:close/>
                </a:path>
              </a:pathLst>
            </a:custGeom>
            <a:solidFill>
              <a:srgbClr val="2A0F0F"/>
            </a:solidFill>
            <a:ln w="19050" cap="sq">
              <a:solidFill>
                <a:srgbClr val="E86A6A"/>
              </a:solidFill>
              <a:prstDash val="solid"/>
              <a:miter/>
            </a:ln>
          </p:spPr>
        </p:sp>
      </p:grpSp>
      <p:grpSp>
        <p:nvGrpSpPr>
          <p:cNvPr id="74" name="Group 74"/>
          <p:cNvGrpSpPr/>
          <p:nvPr/>
        </p:nvGrpSpPr>
        <p:grpSpPr>
          <a:xfrm>
            <a:off x="1344168" y="7461504"/>
            <a:ext cx="493776" cy="493776"/>
            <a:chOff x="0" y="0"/>
            <a:chExt cx="658368" cy="658368"/>
          </a:xfrm>
        </p:grpSpPr>
        <p:sp>
          <p:nvSpPr>
            <p:cNvPr id="75" name="Freeform 75"/>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4">
                <a:alphaModFix amt="0"/>
              </a:blip>
              <a:stretch>
                <a:fillRect l="-78303" r="-78303"/>
              </a:stretch>
            </a:blipFill>
          </p:spPr>
        </p:sp>
        <p:sp>
          <p:nvSpPr>
            <p:cNvPr id="76" name="TextBox 76"/>
            <p:cNvSpPr txBox="1"/>
            <p:nvPr/>
          </p:nvSpPr>
          <p:spPr>
            <a:xfrm>
              <a:off x="0" y="-19050"/>
              <a:ext cx="658368" cy="677418"/>
            </a:xfrm>
            <a:prstGeom prst="rect">
              <a:avLst/>
            </a:prstGeom>
          </p:spPr>
          <p:txBody>
            <a:bodyPr lIns="0" tIns="0" rIns="0" bIns="0" rtlCol="0" anchor="ctr"/>
            <a:lstStyle/>
            <a:p>
              <a:pPr algn="ctr">
                <a:lnSpc>
                  <a:spcPts val="2160"/>
                </a:lnSpc>
              </a:pPr>
              <a:r>
                <a:rPr lang="en-US" sz="1800" b="1">
                  <a:solidFill>
                    <a:srgbClr val="E86A6A"/>
                  </a:solidFill>
                  <a:latin typeface="Arial Bold"/>
                  <a:ea typeface="Arial Bold"/>
                  <a:cs typeface="Arial Bold"/>
                  <a:sym typeface="Arial Bold"/>
                </a:rPr>
                <a:t>✕</a:t>
              </a:r>
            </a:p>
          </p:txBody>
        </p:sp>
      </p:grpSp>
      <p:grpSp>
        <p:nvGrpSpPr>
          <p:cNvPr id="77" name="Group 77"/>
          <p:cNvGrpSpPr/>
          <p:nvPr/>
        </p:nvGrpSpPr>
        <p:grpSpPr>
          <a:xfrm>
            <a:off x="2084832" y="7269480"/>
            <a:ext cx="14813280" cy="877824"/>
            <a:chOff x="0" y="0"/>
            <a:chExt cx="19751040" cy="1170432"/>
          </a:xfrm>
        </p:grpSpPr>
        <p:sp>
          <p:nvSpPr>
            <p:cNvPr id="78" name="Freeform 78"/>
            <p:cNvSpPr/>
            <p:nvPr/>
          </p:nvSpPr>
          <p:spPr>
            <a:xfrm>
              <a:off x="0" y="0"/>
              <a:ext cx="19751039" cy="1170432"/>
            </a:xfrm>
            <a:custGeom>
              <a:avLst/>
              <a:gdLst/>
              <a:ahLst/>
              <a:cxnLst/>
              <a:rect l="l" t="t" r="r" b="b"/>
              <a:pathLst>
                <a:path w="19751039" h="1170432">
                  <a:moveTo>
                    <a:pt x="0" y="0"/>
                  </a:moveTo>
                  <a:lnTo>
                    <a:pt x="19751039" y="0"/>
                  </a:lnTo>
                  <a:lnTo>
                    <a:pt x="19751039" y="1170432"/>
                  </a:lnTo>
                  <a:lnTo>
                    <a:pt x="0" y="1170432"/>
                  </a:lnTo>
                  <a:close/>
                </a:path>
              </a:pathLst>
            </a:custGeom>
            <a:blipFill>
              <a:blip r:embed="rId4">
                <a:alphaModFix amt="0"/>
              </a:blip>
              <a:stretch>
                <a:fillRect t="-278810" b="-278810"/>
              </a:stretch>
            </a:blipFill>
          </p:spPr>
        </p:sp>
        <p:sp>
          <p:nvSpPr>
            <p:cNvPr id="79" name="TextBox 79"/>
            <p:cNvSpPr txBox="1"/>
            <p:nvPr/>
          </p:nvSpPr>
          <p:spPr>
            <a:xfrm>
              <a:off x="0" y="-47625"/>
              <a:ext cx="19751040" cy="1218057"/>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Membuat elemen visual utama dan narasi menggunakan AI generatif.</a:t>
              </a:r>
            </a:p>
          </p:txBody>
        </p:sp>
      </p:grpSp>
      <p:grpSp>
        <p:nvGrpSpPr>
          <p:cNvPr id="80" name="Group 80"/>
          <p:cNvGrpSpPr/>
          <p:nvPr/>
        </p:nvGrpSpPr>
        <p:grpSpPr>
          <a:xfrm>
            <a:off x="950595" y="8274939"/>
            <a:ext cx="16382238" cy="896874"/>
            <a:chOff x="0" y="0"/>
            <a:chExt cx="21842984" cy="1195832"/>
          </a:xfrm>
        </p:grpSpPr>
        <p:sp>
          <p:nvSpPr>
            <p:cNvPr id="81" name="Freeform 81"/>
            <p:cNvSpPr/>
            <p:nvPr/>
          </p:nvSpPr>
          <p:spPr>
            <a:xfrm>
              <a:off x="0" y="0"/>
              <a:ext cx="21842983" cy="1195832"/>
            </a:xfrm>
            <a:custGeom>
              <a:avLst/>
              <a:gdLst/>
              <a:ahLst/>
              <a:cxnLst/>
              <a:rect l="l" t="t" r="r" b="b"/>
              <a:pathLst>
                <a:path w="21842983" h="1195832">
                  <a:moveTo>
                    <a:pt x="0" y="112141"/>
                  </a:moveTo>
                  <a:cubicBezTo>
                    <a:pt x="0" y="50165"/>
                    <a:pt x="50165" y="0"/>
                    <a:pt x="112141" y="0"/>
                  </a:cubicBezTo>
                  <a:lnTo>
                    <a:pt x="21730843" y="0"/>
                  </a:lnTo>
                  <a:cubicBezTo>
                    <a:pt x="21792819" y="0"/>
                    <a:pt x="21842983" y="50165"/>
                    <a:pt x="21842983" y="112141"/>
                  </a:cubicBezTo>
                  <a:lnTo>
                    <a:pt x="21842983" y="1083691"/>
                  </a:lnTo>
                  <a:cubicBezTo>
                    <a:pt x="21842983" y="1145667"/>
                    <a:pt x="21792819" y="1195832"/>
                    <a:pt x="21730843" y="1195832"/>
                  </a:cubicBezTo>
                  <a:lnTo>
                    <a:pt x="112141" y="1195832"/>
                  </a:lnTo>
                  <a:cubicBezTo>
                    <a:pt x="50165" y="1195832"/>
                    <a:pt x="0" y="1145667"/>
                    <a:pt x="0" y="1083691"/>
                  </a:cubicBezTo>
                  <a:close/>
                </a:path>
              </a:pathLst>
            </a:custGeom>
            <a:solidFill>
              <a:srgbClr val="0D1632">
                <a:alpha val="77255"/>
              </a:srgbClr>
            </a:solidFill>
            <a:ln w="19050" cap="sq">
              <a:solidFill>
                <a:srgbClr val="24406F"/>
              </a:solidFill>
              <a:prstDash val="solid"/>
              <a:miter/>
            </a:ln>
          </p:spPr>
        </p:sp>
      </p:grpSp>
      <p:grpSp>
        <p:nvGrpSpPr>
          <p:cNvPr id="82" name="Group 82"/>
          <p:cNvGrpSpPr/>
          <p:nvPr/>
        </p:nvGrpSpPr>
        <p:grpSpPr>
          <a:xfrm>
            <a:off x="1334643" y="8466963"/>
            <a:ext cx="512826" cy="512826"/>
            <a:chOff x="0" y="0"/>
            <a:chExt cx="683768" cy="683768"/>
          </a:xfrm>
        </p:grpSpPr>
        <p:sp>
          <p:nvSpPr>
            <p:cNvPr id="83" name="Freeform 83"/>
            <p:cNvSpPr/>
            <p:nvPr/>
          </p:nvSpPr>
          <p:spPr>
            <a:xfrm>
              <a:off x="0" y="0"/>
              <a:ext cx="683768" cy="683768"/>
            </a:xfrm>
            <a:custGeom>
              <a:avLst/>
              <a:gdLst/>
              <a:ahLst/>
              <a:cxnLst/>
              <a:rect l="l" t="t" r="r" b="b"/>
              <a:pathLst>
                <a:path w="683768" h="683768">
                  <a:moveTo>
                    <a:pt x="0" y="94996"/>
                  </a:moveTo>
                  <a:cubicBezTo>
                    <a:pt x="0" y="42545"/>
                    <a:pt x="42545" y="0"/>
                    <a:pt x="94996" y="0"/>
                  </a:cubicBezTo>
                  <a:lnTo>
                    <a:pt x="588772" y="0"/>
                  </a:lnTo>
                  <a:cubicBezTo>
                    <a:pt x="641223" y="0"/>
                    <a:pt x="683768" y="42545"/>
                    <a:pt x="683768" y="94996"/>
                  </a:cubicBezTo>
                  <a:lnTo>
                    <a:pt x="683768" y="588772"/>
                  </a:lnTo>
                  <a:cubicBezTo>
                    <a:pt x="683768" y="641223"/>
                    <a:pt x="641223" y="683768"/>
                    <a:pt x="588772" y="683768"/>
                  </a:cubicBezTo>
                  <a:lnTo>
                    <a:pt x="94996" y="683768"/>
                  </a:lnTo>
                  <a:cubicBezTo>
                    <a:pt x="42545" y="683768"/>
                    <a:pt x="0" y="641223"/>
                    <a:pt x="0" y="588772"/>
                  </a:cubicBezTo>
                  <a:close/>
                </a:path>
              </a:pathLst>
            </a:custGeom>
            <a:solidFill>
              <a:srgbClr val="2A0F0F"/>
            </a:solidFill>
            <a:ln w="19050" cap="sq">
              <a:solidFill>
                <a:srgbClr val="E86A6A"/>
              </a:solidFill>
              <a:prstDash val="solid"/>
              <a:miter/>
            </a:ln>
          </p:spPr>
        </p:sp>
      </p:grpSp>
      <p:grpSp>
        <p:nvGrpSpPr>
          <p:cNvPr id="84" name="Group 84"/>
          <p:cNvGrpSpPr/>
          <p:nvPr/>
        </p:nvGrpSpPr>
        <p:grpSpPr>
          <a:xfrm>
            <a:off x="1344168" y="8476488"/>
            <a:ext cx="493776" cy="493776"/>
            <a:chOff x="0" y="0"/>
            <a:chExt cx="658368" cy="658368"/>
          </a:xfrm>
        </p:grpSpPr>
        <p:sp>
          <p:nvSpPr>
            <p:cNvPr id="85" name="Freeform 85"/>
            <p:cNvSpPr/>
            <p:nvPr/>
          </p:nvSpPr>
          <p:spPr>
            <a:xfrm>
              <a:off x="0" y="0"/>
              <a:ext cx="658368" cy="658368"/>
            </a:xfrm>
            <a:custGeom>
              <a:avLst/>
              <a:gdLst/>
              <a:ahLst/>
              <a:cxnLst/>
              <a:rect l="l" t="t" r="r" b="b"/>
              <a:pathLst>
                <a:path w="658368" h="658368">
                  <a:moveTo>
                    <a:pt x="0" y="0"/>
                  </a:moveTo>
                  <a:lnTo>
                    <a:pt x="658368" y="0"/>
                  </a:lnTo>
                  <a:lnTo>
                    <a:pt x="658368" y="658368"/>
                  </a:lnTo>
                  <a:lnTo>
                    <a:pt x="0" y="658368"/>
                  </a:lnTo>
                  <a:close/>
                </a:path>
              </a:pathLst>
            </a:custGeom>
            <a:blipFill>
              <a:blip r:embed="rId4">
                <a:alphaModFix amt="0"/>
              </a:blip>
              <a:stretch>
                <a:fillRect l="-78303" r="-78303"/>
              </a:stretch>
            </a:blipFill>
          </p:spPr>
        </p:sp>
        <p:sp>
          <p:nvSpPr>
            <p:cNvPr id="86" name="TextBox 86"/>
            <p:cNvSpPr txBox="1"/>
            <p:nvPr/>
          </p:nvSpPr>
          <p:spPr>
            <a:xfrm>
              <a:off x="0" y="-19050"/>
              <a:ext cx="658368" cy="677418"/>
            </a:xfrm>
            <a:prstGeom prst="rect">
              <a:avLst/>
            </a:prstGeom>
          </p:spPr>
          <p:txBody>
            <a:bodyPr lIns="0" tIns="0" rIns="0" bIns="0" rtlCol="0" anchor="ctr"/>
            <a:lstStyle/>
            <a:p>
              <a:pPr algn="ctr">
                <a:lnSpc>
                  <a:spcPts val="2160"/>
                </a:lnSpc>
              </a:pPr>
              <a:r>
                <a:rPr lang="en-US" sz="1800" b="1">
                  <a:solidFill>
                    <a:srgbClr val="E86A6A"/>
                  </a:solidFill>
                  <a:latin typeface="Arial Bold"/>
                  <a:ea typeface="Arial Bold"/>
                  <a:cs typeface="Arial Bold"/>
                  <a:sym typeface="Arial Bold"/>
                </a:rPr>
                <a:t>✕</a:t>
              </a:r>
            </a:p>
          </p:txBody>
        </p:sp>
      </p:grpSp>
      <p:grpSp>
        <p:nvGrpSpPr>
          <p:cNvPr id="87" name="Group 87"/>
          <p:cNvGrpSpPr/>
          <p:nvPr/>
        </p:nvGrpSpPr>
        <p:grpSpPr>
          <a:xfrm>
            <a:off x="2084832" y="8284464"/>
            <a:ext cx="14813280" cy="877824"/>
            <a:chOff x="0" y="0"/>
            <a:chExt cx="19751040" cy="1170432"/>
          </a:xfrm>
        </p:grpSpPr>
        <p:sp>
          <p:nvSpPr>
            <p:cNvPr id="88" name="Freeform 88"/>
            <p:cNvSpPr/>
            <p:nvPr/>
          </p:nvSpPr>
          <p:spPr>
            <a:xfrm>
              <a:off x="0" y="0"/>
              <a:ext cx="19751039" cy="1170432"/>
            </a:xfrm>
            <a:custGeom>
              <a:avLst/>
              <a:gdLst/>
              <a:ahLst/>
              <a:cxnLst/>
              <a:rect l="l" t="t" r="r" b="b"/>
              <a:pathLst>
                <a:path w="19751039" h="1170432">
                  <a:moveTo>
                    <a:pt x="0" y="0"/>
                  </a:moveTo>
                  <a:lnTo>
                    <a:pt x="19751039" y="0"/>
                  </a:lnTo>
                  <a:lnTo>
                    <a:pt x="19751039" y="1170432"/>
                  </a:lnTo>
                  <a:lnTo>
                    <a:pt x="0" y="1170432"/>
                  </a:lnTo>
                  <a:close/>
                </a:path>
              </a:pathLst>
            </a:custGeom>
            <a:blipFill>
              <a:blip r:embed="rId4">
                <a:alphaModFix amt="0"/>
              </a:blip>
              <a:stretch>
                <a:fillRect t="-278810" b="-278810"/>
              </a:stretch>
            </a:blipFill>
          </p:spPr>
        </p:sp>
        <p:sp>
          <p:nvSpPr>
            <p:cNvPr id="89" name="TextBox 89"/>
            <p:cNvSpPr txBox="1"/>
            <p:nvPr/>
          </p:nvSpPr>
          <p:spPr>
            <a:xfrm>
              <a:off x="0" y="-47625"/>
              <a:ext cx="19751040" cy="1218057"/>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Menggunakan joki atau melibatkan anggota di luar yang terdaftar.</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60120" y="576072"/>
            <a:ext cx="16322040" cy="384048"/>
            <a:chOff x="0" y="0"/>
            <a:chExt cx="21762720" cy="512064"/>
          </a:xfrm>
        </p:grpSpPr>
        <p:sp>
          <p:nvSpPr>
            <p:cNvPr id="4" name="Freeform 4"/>
            <p:cNvSpPr/>
            <p:nvPr/>
          </p:nvSpPr>
          <p:spPr>
            <a:xfrm>
              <a:off x="0" y="0"/>
              <a:ext cx="21762720" cy="512064"/>
            </a:xfrm>
            <a:custGeom>
              <a:avLst/>
              <a:gdLst/>
              <a:ahLst/>
              <a:cxnLst/>
              <a:rect l="l" t="t" r="r" b="b"/>
              <a:pathLst>
                <a:path w="21762720" h="512064">
                  <a:moveTo>
                    <a:pt x="0" y="0"/>
                  </a:moveTo>
                  <a:lnTo>
                    <a:pt x="21762720" y="0"/>
                  </a:lnTo>
                  <a:lnTo>
                    <a:pt x="21762720" y="512064"/>
                  </a:lnTo>
                  <a:lnTo>
                    <a:pt x="0" y="512064"/>
                  </a:lnTo>
                  <a:close/>
                </a:path>
              </a:pathLst>
            </a:custGeom>
            <a:blipFill>
              <a:blip r:embed="rId4">
                <a:alphaModFix amt="0"/>
              </a:blip>
              <a:stretch>
                <a:fillRect t="-778114" b="-778114"/>
              </a:stretch>
            </a:blipFill>
          </p:spPr>
        </p:sp>
        <p:sp>
          <p:nvSpPr>
            <p:cNvPr id="5" name="TextBox 5"/>
            <p:cNvSpPr txBox="1"/>
            <p:nvPr/>
          </p:nvSpPr>
          <p:spPr>
            <a:xfrm>
              <a:off x="0" y="-9525"/>
              <a:ext cx="21762720" cy="521589"/>
            </a:xfrm>
            <a:prstGeom prst="rect">
              <a:avLst/>
            </a:prstGeom>
          </p:spPr>
          <p:txBody>
            <a:bodyPr lIns="0" tIns="0" rIns="0" bIns="0" rtlCol="0" anchor="ctr"/>
            <a:lstStyle/>
            <a:p>
              <a:pPr algn="l">
                <a:lnSpc>
                  <a:spcPts val="1889"/>
                </a:lnSpc>
              </a:pPr>
              <a:r>
                <a:rPr lang="en-US" sz="1575" b="1" spc="330">
                  <a:solidFill>
                    <a:srgbClr val="E9A944"/>
                  </a:solidFill>
                  <a:latin typeface="Arial Bold"/>
                  <a:ea typeface="Arial Bold"/>
                  <a:cs typeface="Arial Bold"/>
                  <a:sym typeface="Arial Bold"/>
                </a:rPr>
                <a:t>BAGIAN 05</a:t>
              </a:r>
            </a:p>
          </p:txBody>
        </p:sp>
      </p:grpSp>
      <p:grpSp>
        <p:nvGrpSpPr>
          <p:cNvPr id="6" name="Group 6"/>
          <p:cNvGrpSpPr/>
          <p:nvPr/>
        </p:nvGrpSpPr>
        <p:grpSpPr>
          <a:xfrm>
            <a:off x="960120" y="987552"/>
            <a:ext cx="16322040" cy="850392"/>
            <a:chOff x="0" y="0"/>
            <a:chExt cx="21762720" cy="1133856"/>
          </a:xfrm>
        </p:grpSpPr>
        <p:sp>
          <p:nvSpPr>
            <p:cNvPr id="7" name="Freeform 7"/>
            <p:cNvSpPr/>
            <p:nvPr/>
          </p:nvSpPr>
          <p:spPr>
            <a:xfrm>
              <a:off x="0" y="0"/>
              <a:ext cx="21762720" cy="1133856"/>
            </a:xfrm>
            <a:custGeom>
              <a:avLst/>
              <a:gdLst/>
              <a:ahLst/>
              <a:cxnLst/>
              <a:rect l="l" t="t" r="r" b="b"/>
              <a:pathLst>
                <a:path w="21762720" h="1133856">
                  <a:moveTo>
                    <a:pt x="0" y="0"/>
                  </a:moveTo>
                  <a:lnTo>
                    <a:pt x="21762720" y="0"/>
                  </a:lnTo>
                  <a:lnTo>
                    <a:pt x="21762720" y="1133856"/>
                  </a:lnTo>
                  <a:lnTo>
                    <a:pt x="0" y="1133856"/>
                  </a:lnTo>
                  <a:close/>
                </a:path>
              </a:pathLst>
            </a:custGeom>
            <a:blipFill>
              <a:blip r:embed="rId4">
                <a:alphaModFix amt="0"/>
              </a:blip>
              <a:stretch>
                <a:fillRect t="-323987" b="-323987"/>
              </a:stretch>
            </a:blipFill>
          </p:spPr>
        </p:sp>
        <p:sp>
          <p:nvSpPr>
            <p:cNvPr id="8" name="TextBox 8"/>
            <p:cNvSpPr txBox="1"/>
            <p:nvPr/>
          </p:nvSpPr>
          <p:spPr>
            <a:xfrm>
              <a:off x="0" y="-28575"/>
              <a:ext cx="21762720" cy="1162431"/>
            </a:xfrm>
            <a:prstGeom prst="rect">
              <a:avLst/>
            </a:prstGeom>
          </p:spPr>
          <p:txBody>
            <a:bodyPr lIns="0" tIns="0" rIns="0" bIns="0" rtlCol="0" anchor="ctr"/>
            <a:lstStyle/>
            <a:p>
              <a:pPr algn="l">
                <a:lnSpc>
                  <a:spcPts val="5400"/>
                </a:lnSpc>
              </a:pPr>
              <a:r>
                <a:rPr lang="en-US" sz="4500" b="1" spc="59">
                  <a:solidFill>
                    <a:srgbClr val="FFFFFF"/>
                  </a:solidFill>
                  <a:latin typeface="Arial Bold"/>
                  <a:ea typeface="Arial Bold"/>
                  <a:cs typeface="Arial Bold"/>
                  <a:sym typeface="Arial Bold"/>
                </a:rPr>
                <a:t>Batasan Penggunaan AI Generatif</a:t>
              </a:r>
            </a:p>
          </p:txBody>
        </p:sp>
      </p:grpSp>
      <p:grpSp>
        <p:nvGrpSpPr>
          <p:cNvPr id="9" name="Group 9"/>
          <p:cNvGrpSpPr/>
          <p:nvPr/>
        </p:nvGrpSpPr>
        <p:grpSpPr>
          <a:xfrm>
            <a:off x="960120" y="9491472"/>
            <a:ext cx="13990320" cy="384048"/>
            <a:chOff x="0" y="0"/>
            <a:chExt cx="18653760" cy="512064"/>
          </a:xfrm>
        </p:grpSpPr>
        <p:sp>
          <p:nvSpPr>
            <p:cNvPr id="10" name="Freeform 10"/>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4">
                <a:alphaModFix amt="0"/>
              </a:blip>
              <a:stretch>
                <a:fillRect t="-659812" b="-659812"/>
              </a:stretch>
            </a:blipFill>
          </p:spPr>
        </p:sp>
        <p:sp>
          <p:nvSpPr>
            <p:cNvPr id="11" name="TextBox 11"/>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grpSp>
        <p:nvGrpSpPr>
          <p:cNvPr id="12" name="Group 12"/>
          <p:cNvGrpSpPr/>
          <p:nvPr/>
        </p:nvGrpSpPr>
        <p:grpSpPr>
          <a:xfrm>
            <a:off x="16322040" y="9464040"/>
            <a:ext cx="1001268" cy="442875"/>
            <a:chOff x="0" y="0"/>
            <a:chExt cx="1335024" cy="590500"/>
          </a:xfrm>
        </p:grpSpPr>
        <p:sp>
          <p:nvSpPr>
            <p:cNvPr id="13" name="Freeform 13"/>
            <p:cNvSpPr/>
            <p:nvPr/>
          </p:nvSpPr>
          <p:spPr>
            <a:xfrm>
              <a:off x="0" y="0"/>
              <a:ext cx="1335024" cy="590500"/>
            </a:xfrm>
            <a:custGeom>
              <a:avLst/>
              <a:gdLst/>
              <a:ahLst/>
              <a:cxnLst/>
              <a:rect l="l" t="t" r="r" b="b"/>
              <a:pathLst>
                <a:path w="1335024" h="590500">
                  <a:moveTo>
                    <a:pt x="0" y="0"/>
                  </a:moveTo>
                  <a:lnTo>
                    <a:pt x="1335024" y="0"/>
                  </a:lnTo>
                  <a:lnTo>
                    <a:pt x="1335024" y="590500"/>
                  </a:lnTo>
                  <a:lnTo>
                    <a:pt x="0" y="590500"/>
                  </a:lnTo>
                  <a:close/>
                </a:path>
              </a:pathLst>
            </a:custGeom>
            <a:blipFill>
              <a:blip r:embed="rId4">
                <a:alphaModFix amt="0"/>
              </a:blip>
              <a:stretch>
                <a:fillRect l="-2727" r="-2727" b="7088"/>
              </a:stretch>
            </a:blipFill>
          </p:spPr>
        </p:sp>
        <p:sp>
          <p:nvSpPr>
            <p:cNvPr id="14" name="TextBox 14"/>
            <p:cNvSpPr txBox="1"/>
            <p:nvPr/>
          </p:nvSpPr>
          <p:spPr>
            <a:xfrm>
              <a:off x="0" y="-9525"/>
              <a:ext cx="1335024" cy="600025"/>
            </a:xfrm>
            <a:prstGeom prst="rect">
              <a:avLst/>
            </a:prstGeom>
          </p:spPr>
          <p:txBody>
            <a:bodyPr lIns="0" tIns="0" rIns="0" bIns="0" rtlCol="0" anchor="ctr"/>
            <a:lstStyle/>
            <a:p>
              <a:pPr algn="r">
                <a:lnSpc>
                  <a:spcPts val="1980"/>
                </a:lnSpc>
              </a:pPr>
              <a:r>
                <a:rPr lang="en-US" sz="1650" b="1">
                  <a:solidFill>
                    <a:srgbClr val="8A6420"/>
                  </a:solidFill>
                  <a:latin typeface="Courier New Bold"/>
                  <a:ea typeface="Courier New Bold"/>
                  <a:cs typeface="Courier New Bold"/>
                  <a:sym typeface="Courier New Bold"/>
                </a:rPr>
                <a:t>10</a:t>
              </a:r>
            </a:p>
          </p:txBody>
        </p:sp>
      </p:grpSp>
      <p:grpSp>
        <p:nvGrpSpPr>
          <p:cNvPr id="15" name="Group 15"/>
          <p:cNvGrpSpPr/>
          <p:nvPr/>
        </p:nvGrpSpPr>
        <p:grpSpPr>
          <a:xfrm>
            <a:off x="960120" y="2057400"/>
            <a:ext cx="16363188" cy="466344"/>
            <a:chOff x="0" y="0"/>
            <a:chExt cx="21817584" cy="621792"/>
          </a:xfrm>
        </p:grpSpPr>
        <p:sp>
          <p:nvSpPr>
            <p:cNvPr id="16" name="Freeform 16"/>
            <p:cNvSpPr/>
            <p:nvPr/>
          </p:nvSpPr>
          <p:spPr>
            <a:xfrm>
              <a:off x="0" y="0"/>
              <a:ext cx="21817585" cy="621792"/>
            </a:xfrm>
            <a:custGeom>
              <a:avLst/>
              <a:gdLst/>
              <a:ahLst/>
              <a:cxnLst/>
              <a:rect l="l" t="t" r="r" b="b"/>
              <a:pathLst>
                <a:path w="21817585" h="621792">
                  <a:moveTo>
                    <a:pt x="0" y="0"/>
                  </a:moveTo>
                  <a:lnTo>
                    <a:pt x="21817585" y="0"/>
                  </a:lnTo>
                  <a:lnTo>
                    <a:pt x="21817585" y="621792"/>
                  </a:lnTo>
                  <a:lnTo>
                    <a:pt x="0" y="621792"/>
                  </a:lnTo>
                  <a:close/>
                </a:path>
              </a:pathLst>
            </a:custGeom>
            <a:blipFill>
              <a:blip r:embed="rId4">
                <a:alphaModFix amt="0"/>
              </a:blip>
              <a:stretch>
                <a:fillRect t="-633695" b="-633695"/>
              </a:stretch>
            </a:blipFill>
          </p:spPr>
        </p:sp>
        <p:sp>
          <p:nvSpPr>
            <p:cNvPr id="17" name="TextBox 17"/>
            <p:cNvSpPr txBox="1"/>
            <p:nvPr/>
          </p:nvSpPr>
          <p:spPr>
            <a:xfrm>
              <a:off x="0" y="-47625"/>
              <a:ext cx="21817584" cy="669417"/>
            </a:xfrm>
            <a:prstGeom prst="rect">
              <a:avLst/>
            </a:prstGeom>
          </p:spPr>
          <p:txBody>
            <a:bodyPr lIns="0" tIns="0" rIns="0" bIns="0" rtlCol="0" anchor="ctr"/>
            <a:lstStyle/>
            <a:p>
              <a:pPr algn="l">
                <a:lnSpc>
                  <a:spcPts val="2520"/>
                </a:lnSpc>
              </a:pPr>
              <a:r>
                <a:rPr lang="en-US" sz="2100">
                  <a:solidFill>
                    <a:srgbClr val="9FB0CE"/>
                  </a:solidFill>
                  <a:latin typeface="Calibri (MS)"/>
                  <a:ea typeface="Calibri (MS)"/>
                  <a:cs typeface="Calibri (MS)"/>
                  <a:sym typeface="Calibri (MS)"/>
                </a:rPr>
                <a:t>AI generatif boleh dipakai sebagai alat bantu berpikir, bukan sebagai pembuat karya.</a:t>
              </a:r>
            </a:p>
          </p:txBody>
        </p:sp>
      </p:grpSp>
      <p:grpSp>
        <p:nvGrpSpPr>
          <p:cNvPr id="18" name="Group 18"/>
          <p:cNvGrpSpPr/>
          <p:nvPr/>
        </p:nvGrpSpPr>
        <p:grpSpPr>
          <a:xfrm>
            <a:off x="950595" y="2802255"/>
            <a:ext cx="7974330" cy="4751070"/>
            <a:chOff x="0" y="0"/>
            <a:chExt cx="10632440" cy="6334760"/>
          </a:xfrm>
        </p:grpSpPr>
        <p:sp>
          <p:nvSpPr>
            <p:cNvPr id="19" name="Freeform 19"/>
            <p:cNvSpPr/>
            <p:nvPr/>
          </p:nvSpPr>
          <p:spPr>
            <a:xfrm>
              <a:off x="0" y="0"/>
              <a:ext cx="10632440" cy="6334760"/>
            </a:xfrm>
            <a:custGeom>
              <a:avLst/>
              <a:gdLst/>
              <a:ahLst/>
              <a:cxnLst/>
              <a:rect l="l" t="t" r="r" b="b"/>
              <a:pathLst>
                <a:path w="10632440" h="6334760">
                  <a:moveTo>
                    <a:pt x="0" y="110109"/>
                  </a:moveTo>
                  <a:cubicBezTo>
                    <a:pt x="0" y="49276"/>
                    <a:pt x="49276" y="0"/>
                    <a:pt x="110109" y="0"/>
                  </a:cubicBezTo>
                  <a:lnTo>
                    <a:pt x="10522331" y="0"/>
                  </a:lnTo>
                  <a:cubicBezTo>
                    <a:pt x="10583164" y="0"/>
                    <a:pt x="10632440" y="49276"/>
                    <a:pt x="10632440" y="110109"/>
                  </a:cubicBezTo>
                  <a:lnTo>
                    <a:pt x="10632440" y="6224651"/>
                  </a:lnTo>
                  <a:cubicBezTo>
                    <a:pt x="10632440" y="6285484"/>
                    <a:pt x="10583164" y="6334760"/>
                    <a:pt x="10522331" y="6334760"/>
                  </a:cubicBezTo>
                  <a:lnTo>
                    <a:pt x="110109" y="6334760"/>
                  </a:lnTo>
                  <a:cubicBezTo>
                    <a:pt x="49276" y="6334760"/>
                    <a:pt x="0" y="6285484"/>
                    <a:pt x="0" y="6224651"/>
                  </a:cubicBezTo>
                  <a:close/>
                </a:path>
              </a:pathLst>
            </a:custGeom>
            <a:solidFill>
              <a:srgbClr val="0D1632">
                <a:alpha val="77255"/>
              </a:srgbClr>
            </a:solidFill>
            <a:ln w="19050" cap="sq">
              <a:solidFill>
                <a:srgbClr val="4ADE80"/>
              </a:solidFill>
              <a:prstDash val="solid"/>
              <a:miter/>
            </a:ln>
          </p:spPr>
        </p:sp>
      </p:grpSp>
      <p:grpSp>
        <p:nvGrpSpPr>
          <p:cNvPr id="20" name="Group 20"/>
          <p:cNvGrpSpPr/>
          <p:nvPr/>
        </p:nvGrpSpPr>
        <p:grpSpPr>
          <a:xfrm>
            <a:off x="1362075" y="3213735"/>
            <a:ext cx="2145030" cy="512826"/>
            <a:chOff x="0" y="0"/>
            <a:chExt cx="2860040" cy="683768"/>
          </a:xfrm>
        </p:grpSpPr>
        <p:sp>
          <p:nvSpPr>
            <p:cNvPr id="21" name="Freeform 21"/>
            <p:cNvSpPr/>
            <p:nvPr/>
          </p:nvSpPr>
          <p:spPr>
            <a:xfrm>
              <a:off x="0" y="0"/>
              <a:ext cx="2860040" cy="683768"/>
            </a:xfrm>
            <a:custGeom>
              <a:avLst/>
              <a:gdLst/>
              <a:ahLst/>
              <a:cxnLst/>
              <a:rect l="l" t="t" r="r" b="b"/>
              <a:pathLst>
                <a:path w="2860040" h="683768">
                  <a:moveTo>
                    <a:pt x="0" y="94996"/>
                  </a:moveTo>
                  <a:cubicBezTo>
                    <a:pt x="0" y="42545"/>
                    <a:pt x="42545" y="0"/>
                    <a:pt x="94996" y="0"/>
                  </a:cubicBezTo>
                  <a:lnTo>
                    <a:pt x="2765044" y="0"/>
                  </a:lnTo>
                  <a:cubicBezTo>
                    <a:pt x="2817495" y="0"/>
                    <a:pt x="2860040" y="42545"/>
                    <a:pt x="2860040" y="94996"/>
                  </a:cubicBezTo>
                  <a:lnTo>
                    <a:pt x="2860040" y="588772"/>
                  </a:lnTo>
                  <a:cubicBezTo>
                    <a:pt x="2860040" y="641223"/>
                    <a:pt x="2817495" y="683768"/>
                    <a:pt x="2765044" y="683768"/>
                  </a:cubicBezTo>
                  <a:lnTo>
                    <a:pt x="94996" y="683768"/>
                  </a:lnTo>
                  <a:cubicBezTo>
                    <a:pt x="42545" y="683768"/>
                    <a:pt x="0" y="641223"/>
                    <a:pt x="0" y="588772"/>
                  </a:cubicBezTo>
                  <a:close/>
                </a:path>
              </a:pathLst>
            </a:custGeom>
            <a:solidFill>
              <a:srgbClr val="0E2A1C"/>
            </a:solidFill>
            <a:ln w="19050" cap="sq">
              <a:solidFill>
                <a:srgbClr val="4ADE80"/>
              </a:solidFill>
              <a:prstDash val="solid"/>
              <a:miter/>
            </a:ln>
          </p:spPr>
        </p:sp>
      </p:grpSp>
      <p:grpSp>
        <p:nvGrpSpPr>
          <p:cNvPr id="22" name="Group 22"/>
          <p:cNvGrpSpPr/>
          <p:nvPr/>
        </p:nvGrpSpPr>
        <p:grpSpPr>
          <a:xfrm>
            <a:off x="1371600" y="3223260"/>
            <a:ext cx="2125980" cy="493776"/>
            <a:chOff x="0" y="0"/>
            <a:chExt cx="2834640" cy="658368"/>
          </a:xfrm>
        </p:grpSpPr>
        <p:sp>
          <p:nvSpPr>
            <p:cNvPr id="23" name="Freeform 23"/>
            <p:cNvSpPr/>
            <p:nvPr/>
          </p:nvSpPr>
          <p:spPr>
            <a:xfrm>
              <a:off x="0" y="0"/>
              <a:ext cx="2834640" cy="658368"/>
            </a:xfrm>
            <a:custGeom>
              <a:avLst/>
              <a:gdLst/>
              <a:ahLst/>
              <a:cxnLst/>
              <a:rect l="l" t="t" r="r" b="b"/>
              <a:pathLst>
                <a:path w="2834640" h="658368">
                  <a:moveTo>
                    <a:pt x="0" y="0"/>
                  </a:moveTo>
                  <a:lnTo>
                    <a:pt x="2834640" y="0"/>
                  </a:lnTo>
                  <a:lnTo>
                    <a:pt x="2834640" y="658368"/>
                  </a:lnTo>
                  <a:lnTo>
                    <a:pt x="0" y="658368"/>
                  </a:lnTo>
                  <a:close/>
                </a:path>
              </a:pathLst>
            </a:custGeom>
            <a:blipFill>
              <a:blip r:embed="rId4">
                <a:alphaModFix amt="0"/>
              </a:blip>
              <a:stretch>
                <a:fillRect t="-33893" b="-33893"/>
              </a:stretch>
            </a:blipFill>
          </p:spPr>
        </p:sp>
        <p:sp>
          <p:nvSpPr>
            <p:cNvPr id="24" name="TextBox 24"/>
            <p:cNvSpPr txBox="1"/>
            <p:nvPr/>
          </p:nvSpPr>
          <p:spPr>
            <a:xfrm>
              <a:off x="0" y="-9525"/>
              <a:ext cx="2834640" cy="667893"/>
            </a:xfrm>
            <a:prstGeom prst="rect">
              <a:avLst/>
            </a:prstGeom>
          </p:spPr>
          <p:txBody>
            <a:bodyPr lIns="0" tIns="0" rIns="0" bIns="0" rtlCol="0" anchor="ctr"/>
            <a:lstStyle/>
            <a:p>
              <a:pPr algn="ctr">
                <a:lnSpc>
                  <a:spcPts val="1889"/>
                </a:lnSpc>
              </a:pPr>
              <a:r>
                <a:rPr lang="en-US" sz="1575" b="1" spc="209">
                  <a:solidFill>
                    <a:srgbClr val="4ADE80"/>
                  </a:solidFill>
                  <a:latin typeface="Arial Bold"/>
                  <a:ea typeface="Arial Bold"/>
                  <a:cs typeface="Arial Bold"/>
                  <a:sym typeface="Arial Bold"/>
                </a:rPr>
                <a:t>BOLEH</a:t>
              </a:r>
            </a:p>
          </p:txBody>
        </p:sp>
      </p:grpSp>
      <p:grpSp>
        <p:nvGrpSpPr>
          <p:cNvPr id="25" name="Group 25"/>
          <p:cNvGrpSpPr/>
          <p:nvPr/>
        </p:nvGrpSpPr>
        <p:grpSpPr>
          <a:xfrm>
            <a:off x="1416939" y="4269867"/>
            <a:ext cx="183642" cy="183642"/>
            <a:chOff x="0" y="0"/>
            <a:chExt cx="244856" cy="244856"/>
          </a:xfrm>
        </p:grpSpPr>
        <p:sp>
          <p:nvSpPr>
            <p:cNvPr id="26" name="Freeform 26"/>
            <p:cNvSpPr/>
            <p:nvPr/>
          </p:nvSpPr>
          <p:spPr>
            <a:xfrm>
              <a:off x="0" y="0"/>
              <a:ext cx="244856" cy="244856"/>
            </a:xfrm>
            <a:custGeom>
              <a:avLst/>
              <a:gdLst/>
              <a:ahLst/>
              <a:cxnLst/>
              <a:rect l="l" t="t" r="r" b="b"/>
              <a:pathLst>
                <a:path w="244856" h="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333333"/>
              </a:solidFill>
              <a:prstDash val="solid"/>
              <a:miter/>
            </a:ln>
          </p:spPr>
        </p:sp>
      </p:grpSp>
      <p:grpSp>
        <p:nvGrpSpPr>
          <p:cNvPr id="27" name="Group 27"/>
          <p:cNvGrpSpPr/>
          <p:nvPr/>
        </p:nvGrpSpPr>
        <p:grpSpPr>
          <a:xfrm>
            <a:off x="1810512" y="4046220"/>
            <a:ext cx="6652260" cy="562356"/>
            <a:chOff x="0" y="0"/>
            <a:chExt cx="8869680" cy="749808"/>
          </a:xfrm>
        </p:grpSpPr>
        <p:sp>
          <p:nvSpPr>
            <p:cNvPr id="28" name="Freeform 28"/>
            <p:cNvSpPr/>
            <p:nvPr/>
          </p:nvSpPr>
          <p:spPr>
            <a:xfrm>
              <a:off x="0" y="0"/>
              <a:ext cx="8869680" cy="749808"/>
            </a:xfrm>
            <a:custGeom>
              <a:avLst/>
              <a:gdLst/>
              <a:ahLst/>
              <a:cxnLst/>
              <a:rect l="l" t="t" r="r" b="b"/>
              <a:pathLst>
                <a:path w="8869680" h="749808">
                  <a:moveTo>
                    <a:pt x="0" y="0"/>
                  </a:moveTo>
                  <a:lnTo>
                    <a:pt x="8869680" y="0"/>
                  </a:lnTo>
                  <a:lnTo>
                    <a:pt x="8869680" y="749808"/>
                  </a:lnTo>
                  <a:lnTo>
                    <a:pt x="0" y="749808"/>
                  </a:lnTo>
                  <a:close/>
                </a:path>
              </a:pathLst>
            </a:custGeom>
            <a:blipFill>
              <a:blip r:embed="rId4">
                <a:alphaModFix amt="0"/>
              </a:blip>
              <a:stretch>
                <a:fillRect t="-180493" b="-180493"/>
              </a:stretch>
            </a:blipFill>
          </p:spPr>
        </p:sp>
        <p:sp>
          <p:nvSpPr>
            <p:cNvPr id="29" name="TextBox 29"/>
            <p:cNvSpPr txBox="1"/>
            <p:nvPr/>
          </p:nvSpPr>
          <p:spPr>
            <a:xfrm>
              <a:off x="0" y="-47625"/>
              <a:ext cx="8869680" cy="797433"/>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Membantu memahami isi dataset.</a:t>
              </a:r>
            </a:p>
          </p:txBody>
        </p:sp>
      </p:grpSp>
      <p:grpSp>
        <p:nvGrpSpPr>
          <p:cNvPr id="30" name="Group 30"/>
          <p:cNvGrpSpPr/>
          <p:nvPr/>
        </p:nvGrpSpPr>
        <p:grpSpPr>
          <a:xfrm>
            <a:off x="1416939" y="5339715"/>
            <a:ext cx="183642" cy="183642"/>
            <a:chOff x="0" y="0"/>
            <a:chExt cx="244856" cy="244856"/>
          </a:xfrm>
        </p:grpSpPr>
        <p:sp>
          <p:nvSpPr>
            <p:cNvPr id="31" name="Freeform 31"/>
            <p:cNvSpPr/>
            <p:nvPr/>
          </p:nvSpPr>
          <p:spPr>
            <a:xfrm>
              <a:off x="0" y="0"/>
              <a:ext cx="244856" cy="244856"/>
            </a:xfrm>
            <a:custGeom>
              <a:avLst/>
              <a:gdLst/>
              <a:ahLst/>
              <a:cxnLst/>
              <a:rect l="l" t="t" r="r" b="b"/>
              <a:pathLst>
                <a:path w="244856" h="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4ADE80"/>
            </a:solidFill>
            <a:ln w="19050" cap="sq">
              <a:solidFill>
                <a:srgbClr val="333333"/>
              </a:solidFill>
              <a:prstDash val="solid"/>
              <a:miter/>
            </a:ln>
          </p:spPr>
        </p:sp>
      </p:grpSp>
      <p:grpSp>
        <p:nvGrpSpPr>
          <p:cNvPr id="32" name="Group 32"/>
          <p:cNvGrpSpPr/>
          <p:nvPr/>
        </p:nvGrpSpPr>
        <p:grpSpPr>
          <a:xfrm>
            <a:off x="1810512" y="5116068"/>
            <a:ext cx="6652260" cy="726948"/>
            <a:chOff x="0" y="0"/>
            <a:chExt cx="8869680" cy="969264"/>
          </a:xfrm>
        </p:grpSpPr>
        <p:sp>
          <p:nvSpPr>
            <p:cNvPr id="33" name="Freeform 33"/>
            <p:cNvSpPr/>
            <p:nvPr/>
          </p:nvSpPr>
          <p:spPr>
            <a:xfrm>
              <a:off x="0" y="0"/>
              <a:ext cx="8869680" cy="969264"/>
            </a:xfrm>
            <a:custGeom>
              <a:avLst/>
              <a:gdLst/>
              <a:ahLst/>
              <a:cxnLst/>
              <a:rect l="l" t="t" r="r" b="b"/>
              <a:pathLst>
                <a:path w="8869680" h="969264">
                  <a:moveTo>
                    <a:pt x="0" y="0"/>
                  </a:moveTo>
                  <a:lnTo>
                    <a:pt x="8869680" y="0"/>
                  </a:lnTo>
                  <a:lnTo>
                    <a:pt x="8869680" y="969264"/>
                  </a:lnTo>
                  <a:lnTo>
                    <a:pt x="0" y="969264"/>
                  </a:lnTo>
                  <a:close/>
                </a:path>
              </a:pathLst>
            </a:custGeom>
            <a:blipFill>
              <a:blip r:embed="rId4">
                <a:alphaModFix amt="0"/>
              </a:blip>
              <a:stretch>
                <a:fillRect t="-128306" b="-128306"/>
              </a:stretch>
            </a:blipFill>
          </p:spPr>
        </p:sp>
        <p:sp>
          <p:nvSpPr>
            <p:cNvPr id="34" name="TextBox 34"/>
            <p:cNvSpPr txBox="1"/>
            <p:nvPr/>
          </p:nvSpPr>
          <p:spPr>
            <a:xfrm>
              <a:off x="0" y="-47625"/>
              <a:ext cx="8869680" cy="1016889"/>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Mencari potensi pendalaman insight yang bisa Anda telusuri sendiri.</a:t>
              </a:r>
            </a:p>
          </p:txBody>
        </p:sp>
      </p:grpSp>
      <p:grpSp>
        <p:nvGrpSpPr>
          <p:cNvPr id="35" name="Group 35"/>
          <p:cNvGrpSpPr/>
          <p:nvPr/>
        </p:nvGrpSpPr>
        <p:grpSpPr>
          <a:xfrm>
            <a:off x="9358503" y="2802255"/>
            <a:ext cx="7974330" cy="4751070"/>
            <a:chOff x="0" y="0"/>
            <a:chExt cx="10632440" cy="6334760"/>
          </a:xfrm>
        </p:grpSpPr>
        <p:sp>
          <p:nvSpPr>
            <p:cNvPr id="36" name="Freeform 36"/>
            <p:cNvSpPr/>
            <p:nvPr/>
          </p:nvSpPr>
          <p:spPr>
            <a:xfrm>
              <a:off x="0" y="0"/>
              <a:ext cx="10632440" cy="6334760"/>
            </a:xfrm>
            <a:custGeom>
              <a:avLst/>
              <a:gdLst/>
              <a:ahLst/>
              <a:cxnLst/>
              <a:rect l="l" t="t" r="r" b="b"/>
              <a:pathLst>
                <a:path w="10632440" h="6334760">
                  <a:moveTo>
                    <a:pt x="0" y="110109"/>
                  </a:moveTo>
                  <a:cubicBezTo>
                    <a:pt x="0" y="49276"/>
                    <a:pt x="49276" y="0"/>
                    <a:pt x="110109" y="0"/>
                  </a:cubicBezTo>
                  <a:lnTo>
                    <a:pt x="10522331" y="0"/>
                  </a:lnTo>
                  <a:cubicBezTo>
                    <a:pt x="10583164" y="0"/>
                    <a:pt x="10632440" y="49276"/>
                    <a:pt x="10632440" y="110109"/>
                  </a:cubicBezTo>
                  <a:lnTo>
                    <a:pt x="10632440" y="6224651"/>
                  </a:lnTo>
                  <a:cubicBezTo>
                    <a:pt x="10632440" y="6285484"/>
                    <a:pt x="10583164" y="6334760"/>
                    <a:pt x="10522331" y="6334760"/>
                  </a:cubicBezTo>
                  <a:lnTo>
                    <a:pt x="110109" y="6334760"/>
                  </a:lnTo>
                  <a:cubicBezTo>
                    <a:pt x="49276" y="6334760"/>
                    <a:pt x="0" y="6285484"/>
                    <a:pt x="0" y="6224651"/>
                  </a:cubicBezTo>
                  <a:close/>
                </a:path>
              </a:pathLst>
            </a:custGeom>
            <a:solidFill>
              <a:srgbClr val="0D1632">
                <a:alpha val="77255"/>
              </a:srgbClr>
            </a:solidFill>
            <a:ln w="19050" cap="sq">
              <a:solidFill>
                <a:srgbClr val="E86A6A"/>
              </a:solidFill>
              <a:prstDash val="solid"/>
              <a:miter/>
            </a:ln>
          </p:spPr>
        </p:sp>
      </p:grpSp>
      <p:grpSp>
        <p:nvGrpSpPr>
          <p:cNvPr id="37" name="Group 37"/>
          <p:cNvGrpSpPr/>
          <p:nvPr/>
        </p:nvGrpSpPr>
        <p:grpSpPr>
          <a:xfrm>
            <a:off x="9769983" y="3213735"/>
            <a:ext cx="2145030" cy="512826"/>
            <a:chOff x="0" y="0"/>
            <a:chExt cx="2860040" cy="683768"/>
          </a:xfrm>
        </p:grpSpPr>
        <p:sp>
          <p:nvSpPr>
            <p:cNvPr id="38" name="Freeform 38"/>
            <p:cNvSpPr/>
            <p:nvPr/>
          </p:nvSpPr>
          <p:spPr>
            <a:xfrm>
              <a:off x="0" y="0"/>
              <a:ext cx="2860040" cy="683768"/>
            </a:xfrm>
            <a:custGeom>
              <a:avLst/>
              <a:gdLst/>
              <a:ahLst/>
              <a:cxnLst/>
              <a:rect l="l" t="t" r="r" b="b"/>
              <a:pathLst>
                <a:path w="2860040" h="683768">
                  <a:moveTo>
                    <a:pt x="0" y="94996"/>
                  </a:moveTo>
                  <a:cubicBezTo>
                    <a:pt x="0" y="42545"/>
                    <a:pt x="42545" y="0"/>
                    <a:pt x="94996" y="0"/>
                  </a:cubicBezTo>
                  <a:lnTo>
                    <a:pt x="2765044" y="0"/>
                  </a:lnTo>
                  <a:cubicBezTo>
                    <a:pt x="2817495" y="0"/>
                    <a:pt x="2860040" y="42545"/>
                    <a:pt x="2860040" y="94996"/>
                  </a:cubicBezTo>
                  <a:lnTo>
                    <a:pt x="2860040" y="588772"/>
                  </a:lnTo>
                  <a:cubicBezTo>
                    <a:pt x="2860040" y="641223"/>
                    <a:pt x="2817495" y="683768"/>
                    <a:pt x="2765044" y="683768"/>
                  </a:cubicBezTo>
                  <a:lnTo>
                    <a:pt x="94996" y="683768"/>
                  </a:lnTo>
                  <a:cubicBezTo>
                    <a:pt x="42545" y="683768"/>
                    <a:pt x="0" y="641223"/>
                    <a:pt x="0" y="588772"/>
                  </a:cubicBezTo>
                  <a:close/>
                </a:path>
              </a:pathLst>
            </a:custGeom>
            <a:solidFill>
              <a:srgbClr val="2A0F0F"/>
            </a:solidFill>
            <a:ln w="19050" cap="sq">
              <a:solidFill>
                <a:srgbClr val="E86A6A"/>
              </a:solidFill>
              <a:prstDash val="solid"/>
              <a:miter/>
            </a:ln>
          </p:spPr>
        </p:sp>
      </p:grpSp>
      <p:grpSp>
        <p:nvGrpSpPr>
          <p:cNvPr id="39" name="Group 39"/>
          <p:cNvGrpSpPr/>
          <p:nvPr/>
        </p:nvGrpSpPr>
        <p:grpSpPr>
          <a:xfrm>
            <a:off x="9779508" y="3223260"/>
            <a:ext cx="2125980" cy="493776"/>
            <a:chOff x="0" y="0"/>
            <a:chExt cx="2834640" cy="658368"/>
          </a:xfrm>
        </p:grpSpPr>
        <p:sp>
          <p:nvSpPr>
            <p:cNvPr id="40" name="Freeform 40"/>
            <p:cNvSpPr/>
            <p:nvPr/>
          </p:nvSpPr>
          <p:spPr>
            <a:xfrm>
              <a:off x="0" y="0"/>
              <a:ext cx="2834640" cy="658368"/>
            </a:xfrm>
            <a:custGeom>
              <a:avLst/>
              <a:gdLst/>
              <a:ahLst/>
              <a:cxnLst/>
              <a:rect l="l" t="t" r="r" b="b"/>
              <a:pathLst>
                <a:path w="2834640" h="658368">
                  <a:moveTo>
                    <a:pt x="0" y="0"/>
                  </a:moveTo>
                  <a:lnTo>
                    <a:pt x="2834640" y="0"/>
                  </a:lnTo>
                  <a:lnTo>
                    <a:pt x="2834640" y="658368"/>
                  </a:lnTo>
                  <a:lnTo>
                    <a:pt x="0" y="658368"/>
                  </a:lnTo>
                  <a:close/>
                </a:path>
              </a:pathLst>
            </a:custGeom>
            <a:blipFill>
              <a:blip r:embed="rId4">
                <a:alphaModFix amt="0"/>
              </a:blip>
              <a:stretch>
                <a:fillRect t="-33893" b="-33893"/>
              </a:stretch>
            </a:blipFill>
          </p:spPr>
        </p:sp>
        <p:sp>
          <p:nvSpPr>
            <p:cNvPr id="41" name="TextBox 41"/>
            <p:cNvSpPr txBox="1"/>
            <p:nvPr/>
          </p:nvSpPr>
          <p:spPr>
            <a:xfrm>
              <a:off x="0" y="-9525"/>
              <a:ext cx="2834640" cy="667893"/>
            </a:xfrm>
            <a:prstGeom prst="rect">
              <a:avLst/>
            </a:prstGeom>
          </p:spPr>
          <p:txBody>
            <a:bodyPr lIns="0" tIns="0" rIns="0" bIns="0" rtlCol="0" anchor="ctr"/>
            <a:lstStyle/>
            <a:p>
              <a:pPr algn="ctr">
                <a:lnSpc>
                  <a:spcPts val="1889"/>
                </a:lnSpc>
              </a:pPr>
              <a:r>
                <a:rPr lang="en-US" sz="1575" b="1" spc="209">
                  <a:solidFill>
                    <a:srgbClr val="E86A6A"/>
                  </a:solidFill>
                  <a:latin typeface="Arial Bold"/>
                  <a:ea typeface="Arial Bold"/>
                  <a:cs typeface="Arial Bold"/>
                  <a:sym typeface="Arial Bold"/>
                </a:rPr>
                <a:t>TIDAK BOLEH</a:t>
              </a:r>
            </a:p>
          </p:txBody>
        </p:sp>
      </p:grpSp>
      <p:grpSp>
        <p:nvGrpSpPr>
          <p:cNvPr id="42" name="Group 42"/>
          <p:cNvGrpSpPr/>
          <p:nvPr/>
        </p:nvGrpSpPr>
        <p:grpSpPr>
          <a:xfrm>
            <a:off x="9824847" y="4269867"/>
            <a:ext cx="183642" cy="183642"/>
            <a:chOff x="0" y="0"/>
            <a:chExt cx="244856" cy="244856"/>
          </a:xfrm>
        </p:grpSpPr>
        <p:sp>
          <p:nvSpPr>
            <p:cNvPr id="43" name="Freeform 43"/>
            <p:cNvSpPr/>
            <p:nvPr/>
          </p:nvSpPr>
          <p:spPr>
            <a:xfrm>
              <a:off x="0" y="0"/>
              <a:ext cx="244856" cy="244856"/>
            </a:xfrm>
            <a:custGeom>
              <a:avLst/>
              <a:gdLst/>
              <a:ahLst/>
              <a:cxnLst/>
              <a:rect l="l" t="t" r="r" b="b"/>
              <a:pathLst>
                <a:path w="244856" h="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E86A6A"/>
            </a:solidFill>
            <a:ln w="19050" cap="sq">
              <a:solidFill>
                <a:srgbClr val="333333"/>
              </a:solidFill>
              <a:prstDash val="solid"/>
              <a:miter/>
            </a:ln>
          </p:spPr>
        </p:sp>
      </p:grpSp>
      <p:grpSp>
        <p:nvGrpSpPr>
          <p:cNvPr id="44" name="Group 44"/>
          <p:cNvGrpSpPr/>
          <p:nvPr/>
        </p:nvGrpSpPr>
        <p:grpSpPr>
          <a:xfrm>
            <a:off x="10218420" y="4046220"/>
            <a:ext cx="6652260" cy="562356"/>
            <a:chOff x="0" y="0"/>
            <a:chExt cx="8869680" cy="749808"/>
          </a:xfrm>
        </p:grpSpPr>
        <p:sp>
          <p:nvSpPr>
            <p:cNvPr id="45" name="Freeform 45"/>
            <p:cNvSpPr/>
            <p:nvPr/>
          </p:nvSpPr>
          <p:spPr>
            <a:xfrm>
              <a:off x="0" y="0"/>
              <a:ext cx="8869680" cy="749808"/>
            </a:xfrm>
            <a:custGeom>
              <a:avLst/>
              <a:gdLst/>
              <a:ahLst/>
              <a:cxnLst/>
              <a:rect l="l" t="t" r="r" b="b"/>
              <a:pathLst>
                <a:path w="8869680" h="749808">
                  <a:moveTo>
                    <a:pt x="0" y="0"/>
                  </a:moveTo>
                  <a:lnTo>
                    <a:pt x="8869680" y="0"/>
                  </a:lnTo>
                  <a:lnTo>
                    <a:pt x="8869680" y="749808"/>
                  </a:lnTo>
                  <a:lnTo>
                    <a:pt x="0" y="749808"/>
                  </a:lnTo>
                  <a:close/>
                </a:path>
              </a:pathLst>
            </a:custGeom>
            <a:blipFill>
              <a:blip r:embed="rId4">
                <a:alphaModFix amt="0"/>
              </a:blip>
              <a:stretch>
                <a:fillRect t="-180493" b="-180493"/>
              </a:stretch>
            </a:blipFill>
          </p:spPr>
        </p:sp>
        <p:sp>
          <p:nvSpPr>
            <p:cNvPr id="46" name="TextBox 46"/>
            <p:cNvSpPr txBox="1"/>
            <p:nvPr/>
          </p:nvSpPr>
          <p:spPr>
            <a:xfrm>
              <a:off x="0" y="-47625"/>
              <a:ext cx="8869680" cy="797433"/>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Membuat elemen visual utama karya.</a:t>
              </a:r>
            </a:p>
          </p:txBody>
        </p:sp>
      </p:grpSp>
      <p:grpSp>
        <p:nvGrpSpPr>
          <p:cNvPr id="47" name="Group 47"/>
          <p:cNvGrpSpPr/>
          <p:nvPr/>
        </p:nvGrpSpPr>
        <p:grpSpPr>
          <a:xfrm>
            <a:off x="9824847" y="5339715"/>
            <a:ext cx="183642" cy="183642"/>
            <a:chOff x="0" y="0"/>
            <a:chExt cx="244856" cy="244856"/>
          </a:xfrm>
        </p:grpSpPr>
        <p:sp>
          <p:nvSpPr>
            <p:cNvPr id="48" name="Freeform 48"/>
            <p:cNvSpPr/>
            <p:nvPr/>
          </p:nvSpPr>
          <p:spPr>
            <a:xfrm>
              <a:off x="0" y="0"/>
              <a:ext cx="244856" cy="244856"/>
            </a:xfrm>
            <a:custGeom>
              <a:avLst/>
              <a:gdLst/>
              <a:ahLst/>
              <a:cxnLst/>
              <a:rect l="l" t="t" r="r" b="b"/>
              <a:pathLst>
                <a:path w="244856" h="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E86A6A"/>
            </a:solidFill>
            <a:ln w="19050" cap="sq">
              <a:solidFill>
                <a:srgbClr val="333333"/>
              </a:solidFill>
              <a:prstDash val="solid"/>
              <a:miter/>
            </a:ln>
          </p:spPr>
        </p:sp>
      </p:grpSp>
      <p:grpSp>
        <p:nvGrpSpPr>
          <p:cNvPr id="49" name="Group 49"/>
          <p:cNvGrpSpPr/>
          <p:nvPr/>
        </p:nvGrpSpPr>
        <p:grpSpPr>
          <a:xfrm>
            <a:off x="10218420" y="5116068"/>
            <a:ext cx="6652260" cy="562356"/>
            <a:chOff x="0" y="0"/>
            <a:chExt cx="8869680" cy="749808"/>
          </a:xfrm>
        </p:grpSpPr>
        <p:sp>
          <p:nvSpPr>
            <p:cNvPr id="50" name="Freeform 50"/>
            <p:cNvSpPr/>
            <p:nvPr/>
          </p:nvSpPr>
          <p:spPr>
            <a:xfrm>
              <a:off x="0" y="0"/>
              <a:ext cx="8869680" cy="749808"/>
            </a:xfrm>
            <a:custGeom>
              <a:avLst/>
              <a:gdLst/>
              <a:ahLst/>
              <a:cxnLst/>
              <a:rect l="l" t="t" r="r" b="b"/>
              <a:pathLst>
                <a:path w="8869680" h="749808">
                  <a:moveTo>
                    <a:pt x="0" y="0"/>
                  </a:moveTo>
                  <a:lnTo>
                    <a:pt x="8869680" y="0"/>
                  </a:lnTo>
                  <a:lnTo>
                    <a:pt x="8869680" y="749808"/>
                  </a:lnTo>
                  <a:lnTo>
                    <a:pt x="0" y="749808"/>
                  </a:lnTo>
                  <a:close/>
                </a:path>
              </a:pathLst>
            </a:custGeom>
            <a:blipFill>
              <a:blip r:embed="rId4">
                <a:alphaModFix amt="0"/>
              </a:blip>
              <a:stretch>
                <a:fillRect t="-180493" b="-180493"/>
              </a:stretch>
            </a:blipFill>
          </p:spPr>
        </p:sp>
        <p:sp>
          <p:nvSpPr>
            <p:cNvPr id="51" name="TextBox 51"/>
            <p:cNvSpPr txBox="1"/>
            <p:nvPr/>
          </p:nvSpPr>
          <p:spPr>
            <a:xfrm>
              <a:off x="0" y="-47625"/>
              <a:ext cx="8869680" cy="797433"/>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Membuat narasi infografis.</a:t>
              </a:r>
            </a:p>
          </p:txBody>
        </p:sp>
      </p:grpSp>
      <p:grpSp>
        <p:nvGrpSpPr>
          <p:cNvPr id="52" name="Group 52"/>
          <p:cNvGrpSpPr/>
          <p:nvPr/>
        </p:nvGrpSpPr>
        <p:grpSpPr>
          <a:xfrm>
            <a:off x="9824847" y="6409563"/>
            <a:ext cx="183642" cy="183642"/>
            <a:chOff x="0" y="0"/>
            <a:chExt cx="244856" cy="244856"/>
          </a:xfrm>
        </p:grpSpPr>
        <p:sp>
          <p:nvSpPr>
            <p:cNvPr id="53" name="Freeform 53"/>
            <p:cNvSpPr/>
            <p:nvPr/>
          </p:nvSpPr>
          <p:spPr>
            <a:xfrm>
              <a:off x="0" y="0"/>
              <a:ext cx="244856" cy="244856"/>
            </a:xfrm>
            <a:custGeom>
              <a:avLst/>
              <a:gdLst/>
              <a:ahLst/>
              <a:cxnLst/>
              <a:rect l="l" t="t" r="r" b="b"/>
              <a:pathLst>
                <a:path w="244856" h="244856">
                  <a:moveTo>
                    <a:pt x="0" y="122428"/>
                  </a:moveTo>
                  <a:cubicBezTo>
                    <a:pt x="0" y="54864"/>
                    <a:pt x="54864" y="0"/>
                    <a:pt x="122428" y="0"/>
                  </a:cubicBezTo>
                  <a:cubicBezTo>
                    <a:pt x="189992" y="0"/>
                    <a:pt x="244856" y="54864"/>
                    <a:pt x="244856" y="122428"/>
                  </a:cubicBezTo>
                  <a:cubicBezTo>
                    <a:pt x="244856" y="189992"/>
                    <a:pt x="189992" y="244856"/>
                    <a:pt x="122428" y="244856"/>
                  </a:cubicBezTo>
                  <a:cubicBezTo>
                    <a:pt x="54864" y="244856"/>
                    <a:pt x="0" y="189992"/>
                    <a:pt x="0" y="122428"/>
                  </a:cubicBezTo>
                  <a:close/>
                </a:path>
              </a:pathLst>
            </a:custGeom>
            <a:solidFill>
              <a:srgbClr val="E86A6A"/>
            </a:solidFill>
            <a:ln w="19050" cap="sq">
              <a:solidFill>
                <a:srgbClr val="333333"/>
              </a:solidFill>
              <a:prstDash val="solid"/>
              <a:miter/>
            </a:ln>
          </p:spPr>
        </p:sp>
      </p:grpSp>
      <p:grpSp>
        <p:nvGrpSpPr>
          <p:cNvPr id="54" name="Group 54"/>
          <p:cNvGrpSpPr/>
          <p:nvPr/>
        </p:nvGrpSpPr>
        <p:grpSpPr>
          <a:xfrm>
            <a:off x="10218420" y="6185916"/>
            <a:ext cx="6652260" cy="562356"/>
            <a:chOff x="0" y="0"/>
            <a:chExt cx="8869680" cy="749808"/>
          </a:xfrm>
        </p:grpSpPr>
        <p:sp>
          <p:nvSpPr>
            <p:cNvPr id="55" name="Freeform 55"/>
            <p:cNvSpPr/>
            <p:nvPr/>
          </p:nvSpPr>
          <p:spPr>
            <a:xfrm>
              <a:off x="0" y="0"/>
              <a:ext cx="8869680" cy="749808"/>
            </a:xfrm>
            <a:custGeom>
              <a:avLst/>
              <a:gdLst/>
              <a:ahLst/>
              <a:cxnLst/>
              <a:rect l="l" t="t" r="r" b="b"/>
              <a:pathLst>
                <a:path w="8869680" h="749808">
                  <a:moveTo>
                    <a:pt x="0" y="0"/>
                  </a:moveTo>
                  <a:lnTo>
                    <a:pt x="8869680" y="0"/>
                  </a:lnTo>
                  <a:lnTo>
                    <a:pt x="8869680" y="749808"/>
                  </a:lnTo>
                  <a:lnTo>
                    <a:pt x="0" y="749808"/>
                  </a:lnTo>
                  <a:close/>
                </a:path>
              </a:pathLst>
            </a:custGeom>
            <a:blipFill>
              <a:blip r:embed="rId4">
                <a:alphaModFix amt="0"/>
              </a:blip>
              <a:stretch>
                <a:fillRect t="-180493" b="-180493"/>
              </a:stretch>
            </a:blipFill>
          </p:spPr>
        </p:sp>
        <p:sp>
          <p:nvSpPr>
            <p:cNvPr id="56" name="TextBox 56"/>
            <p:cNvSpPr txBox="1"/>
            <p:nvPr/>
          </p:nvSpPr>
          <p:spPr>
            <a:xfrm>
              <a:off x="0" y="-47625"/>
              <a:ext cx="8869680" cy="797433"/>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Menyalin-tempel hasil AI secara mentah ke dalam karya.</a:t>
              </a:r>
            </a:p>
          </p:txBody>
        </p:sp>
      </p:grpSp>
      <p:grpSp>
        <p:nvGrpSpPr>
          <p:cNvPr id="57" name="Group 57"/>
          <p:cNvGrpSpPr/>
          <p:nvPr/>
        </p:nvGrpSpPr>
        <p:grpSpPr>
          <a:xfrm>
            <a:off x="950595" y="7836027"/>
            <a:ext cx="16382238" cy="1322070"/>
            <a:chOff x="0" y="0"/>
            <a:chExt cx="21842984" cy="1762760"/>
          </a:xfrm>
        </p:grpSpPr>
        <p:sp>
          <p:nvSpPr>
            <p:cNvPr id="58" name="Freeform 58"/>
            <p:cNvSpPr/>
            <p:nvPr/>
          </p:nvSpPr>
          <p:spPr>
            <a:xfrm>
              <a:off x="0" y="0"/>
              <a:ext cx="21842985" cy="1762760"/>
            </a:xfrm>
            <a:custGeom>
              <a:avLst/>
              <a:gdLst/>
              <a:ahLst/>
              <a:cxnLst/>
              <a:rect l="l" t="t" r="r" b="b"/>
              <a:pathLst>
                <a:path w="21842985" h="1762760">
                  <a:moveTo>
                    <a:pt x="0" y="111379"/>
                  </a:moveTo>
                  <a:cubicBezTo>
                    <a:pt x="0" y="49784"/>
                    <a:pt x="49784" y="0"/>
                    <a:pt x="111379" y="0"/>
                  </a:cubicBezTo>
                  <a:lnTo>
                    <a:pt x="21731605" y="0"/>
                  </a:lnTo>
                  <a:cubicBezTo>
                    <a:pt x="21793073" y="0"/>
                    <a:pt x="21842985" y="49784"/>
                    <a:pt x="21842985" y="111379"/>
                  </a:cubicBezTo>
                  <a:lnTo>
                    <a:pt x="21842985" y="1651381"/>
                  </a:lnTo>
                  <a:cubicBezTo>
                    <a:pt x="21842985" y="1712849"/>
                    <a:pt x="21793200" y="1762760"/>
                    <a:pt x="21731605" y="1762760"/>
                  </a:cubicBezTo>
                  <a:lnTo>
                    <a:pt x="111379" y="1762760"/>
                  </a:lnTo>
                  <a:cubicBezTo>
                    <a:pt x="49911" y="1762760"/>
                    <a:pt x="0" y="1712976"/>
                    <a:pt x="0" y="1651381"/>
                  </a:cubicBezTo>
                  <a:close/>
                </a:path>
              </a:pathLst>
            </a:custGeom>
            <a:solidFill>
              <a:srgbClr val="1A1206">
                <a:alpha val="20000"/>
              </a:srgbClr>
            </a:solidFill>
            <a:ln w="19050" cap="sq">
              <a:solidFill>
                <a:srgbClr val="8A6420"/>
              </a:solidFill>
              <a:prstDash val="solid"/>
              <a:miter/>
            </a:ln>
          </p:spPr>
        </p:sp>
      </p:grpSp>
      <p:grpSp>
        <p:nvGrpSpPr>
          <p:cNvPr id="59" name="Group 59"/>
          <p:cNvGrpSpPr/>
          <p:nvPr/>
        </p:nvGrpSpPr>
        <p:grpSpPr>
          <a:xfrm>
            <a:off x="1371600" y="7845552"/>
            <a:ext cx="15636240" cy="1303020"/>
            <a:chOff x="0" y="0"/>
            <a:chExt cx="20848320" cy="1737360"/>
          </a:xfrm>
        </p:grpSpPr>
        <p:sp>
          <p:nvSpPr>
            <p:cNvPr id="60" name="Freeform 60"/>
            <p:cNvSpPr/>
            <p:nvPr/>
          </p:nvSpPr>
          <p:spPr>
            <a:xfrm>
              <a:off x="0" y="0"/>
              <a:ext cx="20848320" cy="1737360"/>
            </a:xfrm>
            <a:custGeom>
              <a:avLst/>
              <a:gdLst/>
              <a:ahLst/>
              <a:cxnLst/>
              <a:rect l="l" t="t" r="r" b="b"/>
              <a:pathLst>
                <a:path w="20848320" h="1737360">
                  <a:moveTo>
                    <a:pt x="0" y="0"/>
                  </a:moveTo>
                  <a:lnTo>
                    <a:pt x="20848320" y="0"/>
                  </a:lnTo>
                  <a:lnTo>
                    <a:pt x="20848320" y="1737360"/>
                  </a:lnTo>
                  <a:lnTo>
                    <a:pt x="0" y="1737360"/>
                  </a:lnTo>
                  <a:close/>
                </a:path>
              </a:pathLst>
            </a:custGeom>
            <a:blipFill>
              <a:blip r:embed="rId4">
                <a:alphaModFix amt="0"/>
              </a:blip>
              <a:stretch>
                <a:fillRect t="-183820" b="-183820"/>
              </a:stretch>
            </a:blipFill>
          </p:spPr>
        </p:sp>
        <p:sp>
          <p:nvSpPr>
            <p:cNvPr id="61" name="TextBox 61"/>
            <p:cNvSpPr txBox="1"/>
            <p:nvPr/>
          </p:nvSpPr>
          <p:spPr>
            <a:xfrm>
              <a:off x="0" y="-47625"/>
              <a:ext cx="20848320" cy="1784985"/>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Uji sederhana: jika Anda tidak bisa menjelaskan dari mana sebuah angka, kalimat, atau elemen visual berasal, karya itu belum layak dikumpulkan.</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950595" y="786003"/>
            <a:ext cx="1791291" cy="1582674"/>
            <a:chOff x="0" y="0"/>
            <a:chExt cx="2388387" cy="2110232"/>
          </a:xfrm>
        </p:grpSpPr>
        <p:sp>
          <p:nvSpPr>
            <p:cNvPr id="4" name="Freeform 4"/>
            <p:cNvSpPr/>
            <p:nvPr/>
          </p:nvSpPr>
          <p:spPr>
            <a:xfrm>
              <a:off x="0" y="0"/>
              <a:ext cx="2388362" cy="2110232"/>
            </a:xfrm>
            <a:custGeom>
              <a:avLst/>
              <a:gdLst/>
              <a:ahLst/>
              <a:cxnLst/>
              <a:rect l="l" t="t" r="r" b="b"/>
              <a:pathLst>
                <a:path w="2388362" h="2110232">
                  <a:moveTo>
                    <a:pt x="0" y="92583"/>
                  </a:moveTo>
                  <a:cubicBezTo>
                    <a:pt x="0" y="41402"/>
                    <a:pt x="41402" y="0"/>
                    <a:pt x="92583" y="0"/>
                  </a:cubicBezTo>
                  <a:lnTo>
                    <a:pt x="2295779" y="0"/>
                  </a:lnTo>
                  <a:cubicBezTo>
                    <a:pt x="2346833" y="0"/>
                    <a:pt x="2388362" y="41402"/>
                    <a:pt x="2388362" y="92583"/>
                  </a:cubicBezTo>
                  <a:lnTo>
                    <a:pt x="2388362" y="2017649"/>
                  </a:lnTo>
                  <a:cubicBezTo>
                    <a:pt x="2388362" y="2068703"/>
                    <a:pt x="2346960" y="2110232"/>
                    <a:pt x="2295779" y="2110232"/>
                  </a:cubicBezTo>
                  <a:lnTo>
                    <a:pt x="92583" y="2110232"/>
                  </a:lnTo>
                  <a:cubicBezTo>
                    <a:pt x="41529" y="2110232"/>
                    <a:pt x="0" y="2068830"/>
                    <a:pt x="0" y="2017649"/>
                  </a:cubicBezTo>
                  <a:close/>
                </a:path>
              </a:pathLst>
            </a:custGeom>
            <a:solidFill>
              <a:srgbClr val="122042"/>
            </a:solidFill>
            <a:ln w="19050" cap="sq">
              <a:solidFill>
                <a:srgbClr val="24406F"/>
              </a:solidFill>
              <a:prstDash val="solid"/>
              <a:miter/>
            </a:ln>
          </p:spPr>
        </p:sp>
      </p:grpSp>
      <p:grpSp>
        <p:nvGrpSpPr>
          <p:cNvPr id="5" name="Group 5"/>
          <p:cNvGrpSpPr/>
          <p:nvPr/>
        </p:nvGrpSpPr>
        <p:grpSpPr>
          <a:xfrm>
            <a:off x="1124712" y="960120"/>
            <a:ext cx="1443057" cy="1234440"/>
            <a:chOff x="0" y="0"/>
            <a:chExt cx="1924075" cy="1645920"/>
          </a:xfrm>
        </p:grpSpPr>
        <p:sp>
          <p:nvSpPr>
            <p:cNvPr id="6" name="Freeform 6" descr="assets/logo.png"/>
            <p:cNvSpPr/>
            <p:nvPr/>
          </p:nvSpPr>
          <p:spPr>
            <a:xfrm>
              <a:off x="0" y="0"/>
              <a:ext cx="1924050" cy="1645920"/>
            </a:xfrm>
            <a:custGeom>
              <a:avLst/>
              <a:gdLst/>
              <a:ahLst/>
              <a:cxnLst/>
              <a:rect l="l" t="t" r="r" b="b"/>
              <a:pathLst>
                <a:path w="1924050" h="1645920">
                  <a:moveTo>
                    <a:pt x="0" y="0"/>
                  </a:moveTo>
                  <a:lnTo>
                    <a:pt x="1924050" y="0"/>
                  </a:lnTo>
                  <a:lnTo>
                    <a:pt x="1924050" y="1645920"/>
                  </a:lnTo>
                  <a:lnTo>
                    <a:pt x="0" y="1645920"/>
                  </a:lnTo>
                  <a:lnTo>
                    <a:pt x="0" y="0"/>
                  </a:lnTo>
                  <a:close/>
                </a:path>
              </a:pathLst>
            </a:custGeom>
            <a:blipFill>
              <a:blip r:embed="rId4"/>
              <a:stretch>
                <a:fillRect l="-21" r="-22"/>
              </a:stretch>
            </a:blipFill>
          </p:spPr>
        </p:sp>
      </p:grpSp>
      <p:grpSp>
        <p:nvGrpSpPr>
          <p:cNvPr id="7" name="Group 7"/>
          <p:cNvGrpSpPr/>
          <p:nvPr/>
        </p:nvGrpSpPr>
        <p:grpSpPr>
          <a:xfrm>
            <a:off x="987552" y="2715768"/>
            <a:ext cx="16322040" cy="438912"/>
            <a:chOff x="0" y="0"/>
            <a:chExt cx="21762720" cy="585216"/>
          </a:xfrm>
        </p:grpSpPr>
        <p:sp>
          <p:nvSpPr>
            <p:cNvPr id="8" name="Freeform 8"/>
            <p:cNvSpPr/>
            <p:nvPr/>
          </p:nvSpPr>
          <p:spPr>
            <a:xfrm>
              <a:off x="0" y="0"/>
              <a:ext cx="21762720" cy="585216"/>
            </a:xfrm>
            <a:custGeom>
              <a:avLst/>
              <a:gdLst/>
              <a:ahLst/>
              <a:cxnLst/>
              <a:rect l="l" t="t" r="r" b="b"/>
              <a:pathLst>
                <a:path w="21762720" h="585216">
                  <a:moveTo>
                    <a:pt x="0" y="0"/>
                  </a:moveTo>
                  <a:lnTo>
                    <a:pt x="21762720" y="0"/>
                  </a:lnTo>
                  <a:lnTo>
                    <a:pt x="21762720" y="585216"/>
                  </a:lnTo>
                  <a:lnTo>
                    <a:pt x="0" y="585216"/>
                  </a:lnTo>
                  <a:close/>
                </a:path>
              </a:pathLst>
            </a:custGeom>
            <a:blipFill>
              <a:blip r:embed="rId5">
                <a:alphaModFix amt="0"/>
              </a:blip>
              <a:stretch>
                <a:fillRect t="-674599" b="-674599"/>
              </a:stretch>
            </a:blipFill>
          </p:spPr>
        </p:sp>
        <p:sp>
          <p:nvSpPr>
            <p:cNvPr id="9" name="TextBox 9"/>
            <p:cNvSpPr txBox="1"/>
            <p:nvPr/>
          </p:nvSpPr>
          <p:spPr>
            <a:xfrm>
              <a:off x="0" y="-19050"/>
              <a:ext cx="21762720" cy="604266"/>
            </a:xfrm>
            <a:prstGeom prst="rect">
              <a:avLst/>
            </a:prstGeom>
          </p:spPr>
          <p:txBody>
            <a:bodyPr lIns="0" tIns="0" rIns="0" bIns="0" rtlCol="0" anchor="ctr"/>
            <a:lstStyle/>
            <a:p>
              <a:pPr algn="l">
                <a:lnSpc>
                  <a:spcPts val="1980"/>
                </a:lnSpc>
              </a:pPr>
              <a:r>
                <a:rPr lang="en-US" sz="1650" b="1" spc="360">
                  <a:solidFill>
                    <a:srgbClr val="E9A944"/>
                  </a:solidFill>
                  <a:latin typeface="Arial Bold"/>
                  <a:ea typeface="Arial Bold"/>
                  <a:cs typeface="Arial Bold"/>
                  <a:sym typeface="Arial Bold"/>
                </a:rPr>
                <a:t>TANYA JAWAB</a:t>
              </a:r>
            </a:p>
          </p:txBody>
        </p:sp>
      </p:grpSp>
      <p:grpSp>
        <p:nvGrpSpPr>
          <p:cNvPr id="10" name="Group 10"/>
          <p:cNvGrpSpPr/>
          <p:nvPr/>
        </p:nvGrpSpPr>
        <p:grpSpPr>
          <a:xfrm>
            <a:off x="932688" y="3195828"/>
            <a:ext cx="16322040" cy="1303020"/>
            <a:chOff x="0" y="0"/>
            <a:chExt cx="21762720" cy="1737360"/>
          </a:xfrm>
        </p:grpSpPr>
        <p:sp>
          <p:nvSpPr>
            <p:cNvPr id="11" name="Freeform 11"/>
            <p:cNvSpPr/>
            <p:nvPr/>
          </p:nvSpPr>
          <p:spPr>
            <a:xfrm>
              <a:off x="0" y="0"/>
              <a:ext cx="21762720" cy="1737360"/>
            </a:xfrm>
            <a:custGeom>
              <a:avLst/>
              <a:gdLst/>
              <a:ahLst/>
              <a:cxnLst/>
              <a:rect l="l" t="t" r="r" b="b"/>
              <a:pathLst>
                <a:path w="21762720" h="1737360">
                  <a:moveTo>
                    <a:pt x="0" y="0"/>
                  </a:moveTo>
                  <a:lnTo>
                    <a:pt x="21762720" y="0"/>
                  </a:lnTo>
                  <a:lnTo>
                    <a:pt x="21762720" y="1737360"/>
                  </a:lnTo>
                  <a:lnTo>
                    <a:pt x="0" y="1737360"/>
                  </a:lnTo>
                  <a:close/>
                </a:path>
              </a:pathLst>
            </a:custGeom>
            <a:blipFill>
              <a:blip r:embed="rId5">
                <a:alphaModFix amt="0"/>
              </a:blip>
              <a:stretch>
                <a:fillRect t="-194075" b="-194075"/>
              </a:stretch>
            </a:blipFill>
          </p:spPr>
        </p:sp>
        <p:sp>
          <p:nvSpPr>
            <p:cNvPr id="12" name="TextBox 12"/>
            <p:cNvSpPr txBox="1"/>
            <p:nvPr/>
          </p:nvSpPr>
          <p:spPr>
            <a:xfrm>
              <a:off x="0" y="-38100"/>
              <a:ext cx="21762720" cy="1775460"/>
            </a:xfrm>
            <a:prstGeom prst="rect">
              <a:avLst/>
            </a:prstGeom>
          </p:spPr>
          <p:txBody>
            <a:bodyPr lIns="0" tIns="0" rIns="0" bIns="0" rtlCol="0" anchor="ctr"/>
            <a:lstStyle/>
            <a:p>
              <a:pPr algn="l">
                <a:lnSpc>
                  <a:spcPts val="9360"/>
                </a:lnSpc>
              </a:pPr>
              <a:r>
                <a:rPr lang="en-US" sz="7800" b="1">
                  <a:solidFill>
                    <a:srgbClr val="FFFFFF"/>
                  </a:solidFill>
                  <a:latin typeface="Arial Bold"/>
                  <a:ea typeface="Arial Bold"/>
                  <a:cs typeface="Arial Bold"/>
                  <a:sym typeface="Arial Bold"/>
                </a:rPr>
                <a:t>Terima Kasih</a:t>
              </a:r>
            </a:p>
          </p:txBody>
        </p:sp>
      </p:grpSp>
      <p:grpSp>
        <p:nvGrpSpPr>
          <p:cNvPr id="13" name="Group 13"/>
          <p:cNvGrpSpPr/>
          <p:nvPr/>
        </p:nvGrpSpPr>
        <p:grpSpPr>
          <a:xfrm>
            <a:off x="987552" y="4608576"/>
            <a:ext cx="16322040" cy="548640"/>
            <a:chOff x="0" y="0"/>
            <a:chExt cx="21762720" cy="731520"/>
          </a:xfrm>
        </p:grpSpPr>
        <p:sp>
          <p:nvSpPr>
            <p:cNvPr id="14" name="Freeform 14"/>
            <p:cNvSpPr/>
            <p:nvPr/>
          </p:nvSpPr>
          <p:spPr>
            <a:xfrm>
              <a:off x="0" y="0"/>
              <a:ext cx="21762720" cy="731520"/>
            </a:xfrm>
            <a:custGeom>
              <a:avLst/>
              <a:gdLst/>
              <a:ahLst/>
              <a:cxnLst/>
              <a:rect l="l" t="t" r="r" b="b"/>
              <a:pathLst>
                <a:path w="21762720" h="731520">
                  <a:moveTo>
                    <a:pt x="0" y="0"/>
                  </a:moveTo>
                  <a:lnTo>
                    <a:pt x="21762720" y="0"/>
                  </a:lnTo>
                  <a:lnTo>
                    <a:pt x="21762720" y="731520"/>
                  </a:lnTo>
                  <a:lnTo>
                    <a:pt x="0" y="731520"/>
                  </a:lnTo>
                  <a:close/>
                </a:path>
              </a:pathLst>
            </a:custGeom>
            <a:blipFill>
              <a:blip r:embed="rId5">
                <a:alphaModFix amt="0"/>
              </a:blip>
              <a:stretch>
                <a:fillRect t="-529679" b="-529679"/>
              </a:stretch>
            </a:blipFill>
          </p:spPr>
        </p:sp>
        <p:sp>
          <p:nvSpPr>
            <p:cNvPr id="15" name="TextBox 15"/>
            <p:cNvSpPr txBox="1"/>
            <p:nvPr/>
          </p:nvSpPr>
          <p:spPr>
            <a:xfrm>
              <a:off x="0" y="-38100"/>
              <a:ext cx="21762720" cy="769620"/>
            </a:xfrm>
            <a:prstGeom prst="rect">
              <a:avLst/>
            </a:prstGeom>
          </p:spPr>
          <p:txBody>
            <a:bodyPr lIns="0" tIns="0" rIns="0" bIns="0" rtlCol="0" anchor="ctr"/>
            <a:lstStyle/>
            <a:p>
              <a:pPr algn="l">
                <a:lnSpc>
                  <a:spcPts val="2879"/>
                </a:lnSpc>
              </a:pPr>
              <a:r>
                <a:rPr lang="en-US" sz="2400">
                  <a:solidFill>
                    <a:srgbClr val="9FB0CE"/>
                  </a:solidFill>
                  <a:latin typeface="Calibri (MS)"/>
                  <a:ea typeface="Calibri (MS)"/>
                  <a:cs typeface="Calibri (MS)"/>
                  <a:sym typeface="Calibri (MS)"/>
                </a:rPr>
                <a:t>Selamat berkarya — dataset dan secret brief dirilis 28 Oktober 2026 pukul 07.00 WIB.</a:t>
              </a:r>
            </a:p>
          </p:txBody>
        </p:sp>
      </p:grpSp>
      <p:grpSp>
        <p:nvGrpSpPr>
          <p:cNvPr id="16" name="Group 16"/>
          <p:cNvGrpSpPr/>
          <p:nvPr/>
        </p:nvGrpSpPr>
        <p:grpSpPr>
          <a:xfrm>
            <a:off x="950595" y="5956935"/>
            <a:ext cx="5162550" cy="1733550"/>
            <a:chOff x="0" y="0"/>
            <a:chExt cx="6883400" cy="2311400"/>
          </a:xfrm>
        </p:grpSpPr>
        <p:sp>
          <p:nvSpPr>
            <p:cNvPr id="17" name="Freeform 17"/>
            <p:cNvSpPr/>
            <p:nvPr/>
          </p:nvSpPr>
          <p:spPr>
            <a:xfrm>
              <a:off x="0" y="0"/>
              <a:ext cx="6883400" cy="2311400"/>
            </a:xfrm>
            <a:custGeom>
              <a:avLst/>
              <a:gdLst/>
              <a:ahLst/>
              <a:cxnLst/>
              <a:rect l="l" t="t" r="r" b="b"/>
              <a:pathLst>
                <a:path w="6883400" h="2311400">
                  <a:moveTo>
                    <a:pt x="0" y="110998"/>
                  </a:moveTo>
                  <a:cubicBezTo>
                    <a:pt x="0" y="49657"/>
                    <a:pt x="49657" y="0"/>
                    <a:pt x="110998" y="0"/>
                  </a:cubicBezTo>
                  <a:lnTo>
                    <a:pt x="6772402" y="0"/>
                  </a:lnTo>
                  <a:cubicBezTo>
                    <a:pt x="6833743" y="0"/>
                    <a:pt x="6883400" y="49657"/>
                    <a:pt x="6883400" y="110998"/>
                  </a:cubicBezTo>
                  <a:lnTo>
                    <a:pt x="6883400" y="2200402"/>
                  </a:lnTo>
                  <a:cubicBezTo>
                    <a:pt x="6883400" y="2261616"/>
                    <a:pt x="6833743" y="2311400"/>
                    <a:pt x="6772402" y="2311400"/>
                  </a:cubicBezTo>
                  <a:lnTo>
                    <a:pt x="110998" y="2311400"/>
                  </a:lnTo>
                  <a:cubicBezTo>
                    <a:pt x="49657" y="2311400"/>
                    <a:pt x="0" y="2261743"/>
                    <a:pt x="0" y="2200402"/>
                  </a:cubicBezTo>
                  <a:close/>
                </a:path>
              </a:pathLst>
            </a:custGeom>
            <a:solidFill>
              <a:srgbClr val="0D1632">
                <a:alpha val="77255"/>
              </a:srgbClr>
            </a:solidFill>
            <a:ln w="19050" cap="sq">
              <a:solidFill>
                <a:srgbClr val="24406F"/>
              </a:solidFill>
              <a:prstDash val="solid"/>
              <a:miter/>
            </a:ln>
          </p:spPr>
        </p:sp>
      </p:grpSp>
      <p:grpSp>
        <p:nvGrpSpPr>
          <p:cNvPr id="18" name="Group 18"/>
          <p:cNvGrpSpPr/>
          <p:nvPr/>
        </p:nvGrpSpPr>
        <p:grpSpPr>
          <a:xfrm>
            <a:off x="1303020" y="6240780"/>
            <a:ext cx="4457700" cy="329184"/>
            <a:chOff x="0" y="0"/>
            <a:chExt cx="5943600" cy="438912"/>
          </a:xfrm>
        </p:grpSpPr>
        <p:sp>
          <p:nvSpPr>
            <p:cNvPr id="19" name="Freeform 19"/>
            <p:cNvSpPr/>
            <p:nvPr/>
          </p:nvSpPr>
          <p:spPr>
            <a:xfrm>
              <a:off x="0" y="0"/>
              <a:ext cx="5943600" cy="438912"/>
            </a:xfrm>
            <a:custGeom>
              <a:avLst/>
              <a:gdLst/>
              <a:ahLst/>
              <a:cxnLst/>
              <a:rect l="l" t="t" r="r" b="b"/>
              <a:pathLst>
                <a:path w="5943600" h="438912">
                  <a:moveTo>
                    <a:pt x="0" y="0"/>
                  </a:moveTo>
                  <a:lnTo>
                    <a:pt x="5943600" y="0"/>
                  </a:lnTo>
                  <a:lnTo>
                    <a:pt x="5943600" y="438912"/>
                  </a:lnTo>
                  <a:lnTo>
                    <a:pt x="0" y="438912"/>
                  </a:lnTo>
                  <a:close/>
                </a:path>
              </a:pathLst>
            </a:custGeom>
            <a:blipFill>
              <a:blip r:embed="rId5">
                <a:alphaModFix amt="0"/>
              </a:blip>
              <a:stretch>
                <a:fillRect t="-213859" b="-213859"/>
              </a:stretch>
            </a:blipFill>
          </p:spPr>
        </p:sp>
        <p:sp>
          <p:nvSpPr>
            <p:cNvPr id="20" name="TextBox 20"/>
            <p:cNvSpPr txBox="1"/>
            <p:nvPr/>
          </p:nvSpPr>
          <p:spPr>
            <a:xfrm>
              <a:off x="0" y="-19050"/>
              <a:ext cx="5943600" cy="457962"/>
            </a:xfrm>
            <a:prstGeom prst="rect">
              <a:avLst/>
            </a:prstGeom>
          </p:spPr>
          <p:txBody>
            <a:bodyPr lIns="0" tIns="0" rIns="0" bIns="0" rtlCol="0" anchor="ctr"/>
            <a:lstStyle/>
            <a:p>
              <a:pPr algn="l">
                <a:lnSpc>
                  <a:spcPts val="1620"/>
                </a:lnSpc>
              </a:pPr>
              <a:r>
                <a:rPr lang="en-US" sz="1350" b="1" spc="240">
                  <a:solidFill>
                    <a:srgbClr val="E9A944"/>
                  </a:solidFill>
                  <a:latin typeface="Arial Bold"/>
                  <a:ea typeface="Arial Bold"/>
                  <a:cs typeface="Arial Bold"/>
                  <a:sym typeface="Arial Bold"/>
                </a:rPr>
                <a:t>BANTUAN TEKNIS</a:t>
              </a:r>
            </a:p>
          </p:txBody>
        </p:sp>
      </p:grpSp>
      <p:grpSp>
        <p:nvGrpSpPr>
          <p:cNvPr id="21" name="Group 21"/>
          <p:cNvGrpSpPr/>
          <p:nvPr/>
        </p:nvGrpSpPr>
        <p:grpSpPr>
          <a:xfrm>
            <a:off x="1303020" y="6624828"/>
            <a:ext cx="4457700" cy="822960"/>
            <a:chOff x="0" y="0"/>
            <a:chExt cx="5943600" cy="1097280"/>
          </a:xfrm>
        </p:grpSpPr>
        <p:sp>
          <p:nvSpPr>
            <p:cNvPr id="22" name="Freeform 22"/>
            <p:cNvSpPr/>
            <p:nvPr/>
          </p:nvSpPr>
          <p:spPr>
            <a:xfrm>
              <a:off x="0" y="0"/>
              <a:ext cx="5943600" cy="1097280"/>
            </a:xfrm>
            <a:custGeom>
              <a:avLst/>
              <a:gdLst/>
              <a:ahLst/>
              <a:cxnLst/>
              <a:rect l="l" t="t" r="r" b="b"/>
              <a:pathLst>
                <a:path w="5943600" h="1097280">
                  <a:moveTo>
                    <a:pt x="0" y="0"/>
                  </a:moveTo>
                  <a:lnTo>
                    <a:pt x="5943600" y="0"/>
                  </a:lnTo>
                  <a:lnTo>
                    <a:pt x="5943600" y="1097280"/>
                  </a:lnTo>
                  <a:lnTo>
                    <a:pt x="0" y="1097280"/>
                  </a:lnTo>
                  <a:close/>
                </a:path>
              </a:pathLst>
            </a:custGeom>
            <a:blipFill>
              <a:blip r:embed="rId5">
                <a:alphaModFix amt="0"/>
              </a:blip>
              <a:stretch>
                <a:fillRect t="-55543" b="-55543"/>
              </a:stretch>
            </a:blipFill>
          </p:spPr>
        </p:sp>
        <p:sp>
          <p:nvSpPr>
            <p:cNvPr id="23" name="TextBox 23"/>
            <p:cNvSpPr txBox="1"/>
            <p:nvPr/>
          </p:nvSpPr>
          <p:spPr>
            <a:xfrm>
              <a:off x="0" y="-38100"/>
              <a:ext cx="5943600" cy="1135380"/>
            </a:xfrm>
            <a:prstGeom prst="rect">
              <a:avLst/>
            </a:prstGeom>
          </p:spPr>
          <p:txBody>
            <a:bodyPr lIns="0" tIns="0" rIns="0" bIns="0" rtlCol="0" anchor="ctr"/>
            <a:lstStyle/>
            <a:p>
              <a:pPr algn="l">
                <a:lnSpc>
                  <a:spcPts val="2250"/>
                </a:lnSpc>
              </a:pPr>
              <a:r>
                <a:rPr lang="en-US" sz="1875">
                  <a:solidFill>
                    <a:srgbClr val="FFFFFF"/>
                  </a:solidFill>
                  <a:latin typeface="Calibri (MS)"/>
                  <a:ea typeface="Calibri (MS)"/>
                  <a:cs typeface="Calibri (MS)"/>
                  <a:sym typeface="Calibri (MS)"/>
                </a:rPr>
                <a:t>Panel Need Help pada sidebar portal</a:t>
              </a:r>
            </a:p>
          </p:txBody>
        </p:sp>
      </p:grpSp>
      <p:grpSp>
        <p:nvGrpSpPr>
          <p:cNvPr id="24" name="Group 24"/>
          <p:cNvGrpSpPr/>
          <p:nvPr/>
        </p:nvGrpSpPr>
        <p:grpSpPr>
          <a:xfrm>
            <a:off x="6560439" y="5956935"/>
            <a:ext cx="5162550" cy="1733550"/>
            <a:chOff x="0" y="0"/>
            <a:chExt cx="6883400" cy="2311400"/>
          </a:xfrm>
        </p:grpSpPr>
        <p:sp>
          <p:nvSpPr>
            <p:cNvPr id="25" name="Freeform 25"/>
            <p:cNvSpPr/>
            <p:nvPr/>
          </p:nvSpPr>
          <p:spPr>
            <a:xfrm>
              <a:off x="0" y="0"/>
              <a:ext cx="6883400" cy="2311400"/>
            </a:xfrm>
            <a:custGeom>
              <a:avLst/>
              <a:gdLst/>
              <a:ahLst/>
              <a:cxnLst/>
              <a:rect l="l" t="t" r="r" b="b"/>
              <a:pathLst>
                <a:path w="6883400" h="2311400">
                  <a:moveTo>
                    <a:pt x="0" y="110998"/>
                  </a:moveTo>
                  <a:cubicBezTo>
                    <a:pt x="0" y="49657"/>
                    <a:pt x="49657" y="0"/>
                    <a:pt x="110998" y="0"/>
                  </a:cubicBezTo>
                  <a:lnTo>
                    <a:pt x="6772402" y="0"/>
                  </a:lnTo>
                  <a:cubicBezTo>
                    <a:pt x="6833743" y="0"/>
                    <a:pt x="6883400" y="49657"/>
                    <a:pt x="6883400" y="110998"/>
                  </a:cubicBezTo>
                  <a:lnTo>
                    <a:pt x="6883400" y="2200402"/>
                  </a:lnTo>
                  <a:cubicBezTo>
                    <a:pt x="6883400" y="2261616"/>
                    <a:pt x="6833743" y="2311400"/>
                    <a:pt x="6772402" y="2311400"/>
                  </a:cubicBezTo>
                  <a:lnTo>
                    <a:pt x="110998" y="2311400"/>
                  </a:lnTo>
                  <a:cubicBezTo>
                    <a:pt x="49657" y="2311400"/>
                    <a:pt x="0" y="2261743"/>
                    <a:pt x="0" y="2200402"/>
                  </a:cubicBezTo>
                  <a:close/>
                </a:path>
              </a:pathLst>
            </a:custGeom>
            <a:solidFill>
              <a:srgbClr val="0D1632">
                <a:alpha val="77255"/>
              </a:srgbClr>
            </a:solidFill>
            <a:ln w="19050" cap="sq">
              <a:solidFill>
                <a:srgbClr val="24406F"/>
              </a:solidFill>
              <a:prstDash val="solid"/>
              <a:miter/>
            </a:ln>
          </p:spPr>
        </p:sp>
      </p:grpSp>
      <p:grpSp>
        <p:nvGrpSpPr>
          <p:cNvPr id="26" name="Group 26"/>
          <p:cNvGrpSpPr/>
          <p:nvPr/>
        </p:nvGrpSpPr>
        <p:grpSpPr>
          <a:xfrm>
            <a:off x="6912864" y="6240780"/>
            <a:ext cx="4457700" cy="329184"/>
            <a:chOff x="0" y="0"/>
            <a:chExt cx="5943600" cy="438912"/>
          </a:xfrm>
        </p:grpSpPr>
        <p:sp>
          <p:nvSpPr>
            <p:cNvPr id="27" name="Freeform 27"/>
            <p:cNvSpPr/>
            <p:nvPr/>
          </p:nvSpPr>
          <p:spPr>
            <a:xfrm>
              <a:off x="0" y="0"/>
              <a:ext cx="5943600" cy="438912"/>
            </a:xfrm>
            <a:custGeom>
              <a:avLst/>
              <a:gdLst/>
              <a:ahLst/>
              <a:cxnLst/>
              <a:rect l="l" t="t" r="r" b="b"/>
              <a:pathLst>
                <a:path w="5943600" h="438912">
                  <a:moveTo>
                    <a:pt x="0" y="0"/>
                  </a:moveTo>
                  <a:lnTo>
                    <a:pt x="5943600" y="0"/>
                  </a:lnTo>
                  <a:lnTo>
                    <a:pt x="5943600" y="438912"/>
                  </a:lnTo>
                  <a:lnTo>
                    <a:pt x="0" y="438912"/>
                  </a:lnTo>
                  <a:close/>
                </a:path>
              </a:pathLst>
            </a:custGeom>
            <a:blipFill>
              <a:blip r:embed="rId5">
                <a:alphaModFix amt="0"/>
              </a:blip>
              <a:stretch>
                <a:fillRect t="-213859" b="-213859"/>
              </a:stretch>
            </a:blipFill>
          </p:spPr>
        </p:sp>
        <p:sp>
          <p:nvSpPr>
            <p:cNvPr id="28" name="TextBox 28"/>
            <p:cNvSpPr txBox="1"/>
            <p:nvPr/>
          </p:nvSpPr>
          <p:spPr>
            <a:xfrm>
              <a:off x="0" y="-19050"/>
              <a:ext cx="5943600" cy="457962"/>
            </a:xfrm>
            <a:prstGeom prst="rect">
              <a:avLst/>
            </a:prstGeom>
          </p:spPr>
          <p:txBody>
            <a:bodyPr lIns="0" tIns="0" rIns="0" bIns="0" rtlCol="0" anchor="ctr"/>
            <a:lstStyle/>
            <a:p>
              <a:pPr algn="l">
                <a:lnSpc>
                  <a:spcPts val="1620"/>
                </a:lnSpc>
              </a:pPr>
              <a:r>
                <a:rPr lang="en-US" sz="1350" b="1" spc="240">
                  <a:solidFill>
                    <a:srgbClr val="E9A944"/>
                  </a:solidFill>
                  <a:latin typeface="Arial Bold"/>
                  <a:ea typeface="Arial Bold"/>
                  <a:cs typeface="Arial Bold"/>
                  <a:sym typeface="Arial Bold"/>
                </a:rPr>
                <a:t>EMAIL</a:t>
              </a:r>
            </a:p>
          </p:txBody>
        </p:sp>
      </p:grpSp>
      <p:grpSp>
        <p:nvGrpSpPr>
          <p:cNvPr id="29" name="Group 29"/>
          <p:cNvGrpSpPr/>
          <p:nvPr/>
        </p:nvGrpSpPr>
        <p:grpSpPr>
          <a:xfrm>
            <a:off x="6912864" y="6624828"/>
            <a:ext cx="4457700" cy="822960"/>
            <a:chOff x="0" y="0"/>
            <a:chExt cx="5943600" cy="1097280"/>
          </a:xfrm>
        </p:grpSpPr>
        <p:sp>
          <p:nvSpPr>
            <p:cNvPr id="30" name="Freeform 30"/>
            <p:cNvSpPr/>
            <p:nvPr/>
          </p:nvSpPr>
          <p:spPr>
            <a:xfrm>
              <a:off x="0" y="0"/>
              <a:ext cx="5943600" cy="1097280"/>
            </a:xfrm>
            <a:custGeom>
              <a:avLst/>
              <a:gdLst/>
              <a:ahLst/>
              <a:cxnLst/>
              <a:rect l="l" t="t" r="r" b="b"/>
              <a:pathLst>
                <a:path w="5943600" h="1097280">
                  <a:moveTo>
                    <a:pt x="0" y="0"/>
                  </a:moveTo>
                  <a:lnTo>
                    <a:pt x="5943600" y="0"/>
                  </a:lnTo>
                  <a:lnTo>
                    <a:pt x="5943600" y="1097280"/>
                  </a:lnTo>
                  <a:lnTo>
                    <a:pt x="0" y="1097280"/>
                  </a:lnTo>
                  <a:close/>
                </a:path>
              </a:pathLst>
            </a:custGeom>
            <a:blipFill>
              <a:blip r:embed="rId5">
                <a:alphaModFix amt="0"/>
              </a:blip>
              <a:stretch>
                <a:fillRect t="-55543" b="-55543"/>
              </a:stretch>
            </a:blipFill>
          </p:spPr>
        </p:sp>
        <p:sp>
          <p:nvSpPr>
            <p:cNvPr id="31" name="TextBox 31"/>
            <p:cNvSpPr txBox="1"/>
            <p:nvPr/>
          </p:nvSpPr>
          <p:spPr>
            <a:xfrm>
              <a:off x="0" y="-38100"/>
              <a:ext cx="5943600" cy="1135380"/>
            </a:xfrm>
            <a:prstGeom prst="rect">
              <a:avLst/>
            </a:prstGeom>
          </p:spPr>
          <p:txBody>
            <a:bodyPr lIns="0" tIns="0" rIns="0" bIns="0" rtlCol="0" anchor="ctr"/>
            <a:lstStyle/>
            <a:p>
              <a:pPr algn="l">
                <a:lnSpc>
                  <a:spcPts val="2250"/>
                </a:lnSpc>
              </a:pPr>
              <a:r>
                <a:rPr lang="en-US" sz="1875">
                  <a:solidFill>
                    <a:srgbClr val="FFFFFF"/>
                  </a:solidFill>
                  <a:latin typeface="Calibri (MS)"/>
                  <a:ea typeface="Calibri (MS)"/>
                  <a:cs typeface="Calibri (MS)"/>
                  <a:sym typeface="Calibri (MS)"/>
                </a:rPr>
                <a:t>pusaka@mail.unair.ac.id</a:t>
              </a:r>
            </a:p>
          </p:txBody>
        </p:sp>
      </p:grpSp>
      <p:grpSp>
        <p:nvGrpSpPr>
          <p:cNvPr id="32" name="Group 32"/>
          <p:cNvGrpSpPr/>
          <p:nvPr/>
        </p:nvGrpSpPr>
        <p:grpSpPr>
          <a:xfrm>
            <a:off x="12156567" y="5956935"/>
            <a:ext cx="5162550" cy="1733550"/>
            <a:chOff x="0" y="0"/>
            <a:chExt cx="6883400" cy="2311400"/>
          </a:xfrm>
        </p:grpSpPr>
        <p:sp>
          <p:nvSpPr>
            <p:cNvPr id="33" name="Freeform 33"/>
            <p:cNvSpPr/>
            <p:nvPr/>
          </p:nvSpPr>
          <p:spPr>
            <a:xfrm>
              <a:off x="0" y="0"/>
              <a:ext cx="6883400" cy="2311400"/>
            </a:xfrm>
            <a:custGeom>
              <a:avLst/>
              <a:gdLst/>
              <a:ahLst/>
              <a:cxnLst/>
              <a:rect l="l" t="t" r="r" b="b"/>
              <a:pathLst>
                <a:path w="6883400" h="2311400">
                  <a:moveTo>
                    <a:pt x="0" y="110998"/>
                  </a:moveTo>
                  <a:cubicBezTo>
                    <a:pt x="0" y="49657"/>
                    <a:pt x="49657" y="0"/>
                    <a:pt x="110998" y="0"/>
                  </a:cubicBezTo>
                  <a:lnTo>
                    <a:pt x="6772402" y="0"/>
                  </a:lnTo>
                  <a:cubicBezTo>
                    <a:pt x="6833743" y="0"/>
                    <a:pt x="6883400" y="49657"/>
                    <a:pt x="6883400" y="110998"/>
                  </a:cubicBezTo>
                  <a:lnTo>
                    <a:pt x="6883400" y="2200402"/>
                  </a:lnTo>
                  <a:cubicBezTo>
                    <a:pt x="6883400" y="2261616"/>
                    <a:pt x="6833743" y="2311400"/>
                    <a:pt x="6772402" y="2311400"/>
                  </a:cubicBezTo>
                  <a:lnTo>
                    <a:pt x="110998" y="2311400"/>
                  </a:lnTo>
                  <a:cubicBezTo>
                    <a:pt x="49657" y="2311400"/>
                    <a:pt x="0" y="2261743"/>
                    <a:pt x="0" y="2200402"/>
                  </a:cubicBezTo>
                  <a:close/>
                </a:path>
              </a:pathLst>
            </a:custGeom>
            <a:solidFill>
              <a:srgbClr val="0D1632">
                <a:alpha val="77255"/>
              </a:srgbClr>
            </a:solidFill>
            <a:ln w="19050" cap="sq">
              <a:solidFill>
                <a:srgbClr val="24406F"/>
              </a:solidFill>
              <a:prstDash val="solid"/>
              <a:miter/>
            </a:ln>
          </p:spPr>
        </p:sp>
      </p:grpSp>
      <p:grpSp>
        <p:nvGrpSpPr>
          <p:cNvPr id="34" name="Group 34"/>
          <p:cNvGrpSpPr/>
          <p:nvPr/>
        </p:nvGrpSpPr>
        <p:grpSpPr>
          <a:xfrm>
            <a:off x="12522708" y="6240780"/>
            <a:ext cx="4457700" cy="329184"/>
            <a:chOff x="0" y="0"/>
            <a:chExt cx="5943600" cy="438912"/>
          </a:xfrm>
        </p:grpSpPr>
        <p:sp>
          <p:nvSpPr>
            <p:cNvPr id="35" name="Freeform 35"/>
            <p:cNvSpPr/>
            <p:nvPr/>
          </p:nvSpPr>
          <p:spPr>
            <a:xfrm>
              <a:off x="0" y="0"/>
              <a:ext cx="5943600" cy="438912"/>
            </a:xfrm>
            <a:custGeom>
              <a:avLst/>
              <a:gdLst/>
              <a:ahLst/>
              <a:cxnLst/>
              <a:rect l="l" t="t" r="r" b="b"/>
              <a:pathLst>
                <a:path w="5943600" h="438912">
                  <a:moveTo>
                    <a:pt x="0" y="0"/>
                  </a:moveTo>
                  <a:lnTo>
                    <a:pt x="5943600" y="0"/>
                  </a:lnTo>
                  <a:lnTo>
                    <a:pt x="5943600" y="438912"/>
                  </a:lnTo>
                  <a:lnTo>
                    <a:pt x="0" y="438912"/>
                  </a:lnTo>
                  <a:close/>
                </a:path>
              </a:pathLst>
            </a:custGeom>
            <a:blipFill>
              <a:blip r:embed="rId5">
                <a:alphaModFix amt="0"/>
              </a:blip>
              <a:stretch>
                <a:fillRect t="-213859" b="-213859"/>
              </a:stretch>
            </a:blipFill>
          </p:spPr>
        </p:sp>
        <p:sp>
          <p:nvSpPr>
            <p:cNvPr id="36" name="TextBox 36"/>
            <p:cNvSpPr txBox="1"/>
            <p:nvPr/>
          </p:nvSpPr>
          <p:spPr>
            <a:xfrm>
              <a:off x="0" y="-19050"/>
              <a:ext cx="5943600" cy="457962"/>
            </a:xfrm>
            <a:prstGeom prst="rect">
              <a:avLst/>
            </a:prstGeom>
          </p:spPr>
          <p:txBody>
            <a:bodyPr lIns="0" tIns="0" rIns="0" bIns="0" rtlCol="0" anchor="ctr"/>
            <a:lstStyle/>
            <a:p>
              <a:pPr algn="l">
                <a:lnSpc>
                  <a:spcPts val="1620"/>
                </a:lnSpc>
              </a:pPr>
              <a:r>
                <a:rPr lang="en-US" sz="1350" b="1" spc="240">
                  <a:solidFill>
                    <a:srgbClr val="E9A944"/>
                  </a:solidFill>
                  <a:latin typeface="Arial Bold"/>
                  <a:ea typeface="Arial Bold"/>
                  <a:cs typeface="Arial Bold"/>
                  <a:sym typeface="Arial Bold"/>
                </a:rPr>
                <a:t>KANAL PENGUMUMAN</a:t>
              </a:r>
            </a:p>
          </p:txBody>
        </p:sp>
      </p:grpSp>
      <p:grpSp>
        <p:nvGrpSpPr>
          <p:cNvPr id="37" name="Group 37"/>
          <p:cNvGrpSpPr/>
          <p:nvPr/>
        </p:nvGrpSpPr>
        <p:grpSpPr>
          <a:xfrm>
            <a:off x="12522708" y="6624828"/>
            <a:ext cx="4457700" cy="822960"/>
            <a:chOff x="0" y="0"/>
            <a:chExt cx="5943600" cy="1097280"/>
          </a:xfrm>
        </p:grpSpPr>
        <p:sp>
          <p:nvSpPr>
            <p:cNvPr id="38" name="Freeform 38"/>
            <p:cNvSpPr/>
            <p:nvPr/>
          </p:nvSpPr>
          <p:spPr>
            <a:xfrm>
              <a:off x="0" y="0"/>
              <a:ext cx="5943600" cy="1097280"/>
            </a:xfrm>
            <a:custGeom>
              <a:avLst/>
              <a:gdLst/>
              <a:ahLst/>
              <a:cxnLst/>
              <a:rect l="l" t="t" r="r" b="b"/>
              <a:pathLst>
                <a:path w="5943600" h="1097280">
                  <a:moveTo>
                    <a:pt x="0" y="0"/>
                  </a:moveTo>
                  <a:lnTo>
                    <a:pt x="5943600" y="0"/>
                  </a:lnTo>
                  <a:lnTo>
                    <a:pt x="5943600" y="1097280"/>
                  </a:lnTo>
                  <a:lnTo>
                    <a:pt x="0" y="1097280"/>
                  </a:lnTo>
                  <a:close/>
                </a:path>
              </a:pathLst>
            </a:custGeom>
            <a:blipFill>
              <a:blip r:embed="rId5">
                <a:alphaModFix amt="0"/>
              </a:blip>
              <a:stretch>
                <a:fillRect t="-55543" b="-55543"/>
              </a:stretch>
            </a:blipFill>
          </p:spPr>
        </p:sp>
        <p:sp>
          <p:nvSpPr>
            <p:cNvPr id="39" name="TextBox 39"/>
            <p:cNvSpPr txBox="1"/>
            <p:nvPr/>
          </p:nvSpPr>
          <p:spPr>
            <a:xfrm>
              <a:off x="0" y="-38100"/>
              <a:ext cx="5943600" cy="1135380"/>
            </a:xfrm>
            <a:prstGeom prst="rect">
              <a:avLst/>
            </a:prstGeom>
          </p:spPr>
          <p:txBody>
            <a:bodyPr lIns="0" tIns="0" rIns="0" bIns="0" rtlCol="0" anchor="ctr"/>
            <a:lstStyle/>
            <a:p>
              <a:pPr algn="l">
                <a:lnSpc>
                  <a:spcPts val="2250"/>
                </a:lnSpc>
              </a:pPr>
              <a:r>
                <a:rPr lang="en-US" sz="1875">
                  <a:solidFill>
                    <a:srgbClr val="FFFFFF"/>
                  </a:solidFill>
                  <a:latin typeface="Calibri (MS)"/>
                  <a:ea typeface="Calibri (MS)"/>
                  <a:cs typeface="Calibri (MS)"/>
                  <a:sym typeface="Calibri (MS)"/>
                </a:rPr>
                <a:t>Grup WhatsApp resmi peserta</a:t>
              </a:r>
            </a:p>
          </p:txBody>
        </p:sp>
      </p:grpSp>
      <p:grpSp>
        <p:nvGrpSpPr>
          <p:cNvPr id="40" name="Group 40"/>
          <p:cNvGrpSpPr/>
          <p:nvPr/>
        </p:nvGrpSpPr>
        <p:grpSpPr>
          <a:xfrm>
            <a:off x="960120" y="9491472"/>
            <a:ext cx="13990320" cy="384048"/>
            <a:chOff x="0" y="0"/>
            <a:chExt cx="18653760" cy="512064"/>
          </a:xfrm>
        </p:grpSpPr>
        <p:sp>
          <p:nvSpPr>
            <p:cNvPr id="41" name="Freeform 41"/>
            <p:cNvSpPr/>
            <p:nvPr/>
          </p:nvSpPr>
          <p:spPr>
            <a:xfrm>
              <a:off x="0" y="0"/>
              <a:ext cx="18653761" cy="512064"/>
            </a:xfrm>
            <a:custGeom>
              <a:avLst/>
              <a:gdLst/>
              <a:ahLst/>
              <a:cxnLst/>
              <a:rect l="l" t="t" r="r" b="b"/>
              <a:pathLst>
                <a:path w="18653761" h="512064">
                  <a:moveTo>
                    <a:pt x="0" y="0"/>
                  </a:moveTo>
                  <a:lnTo>
                    <a:pt x="18653761" y="0"/>
                  </a:lnTo>
                  <a:lnTo>
                    <a:pt x="18653761" y="512064"/>
                  </a:lnTo>
                  <a:lnTo>
                    <a:pt x="0" y="512064"/>
                  </a:lnTo>
                  <a:close/>
                </a:path>
              </a:pathLst>
            </a:custGeom>
            <a:blipFill>
              <a:blip r:embed="rId5">
                <a:alphaModFix amt="0"/>
              </a:blip>
              <a:stretch>
                <a:fillRect t="-659812" b="-659812"/>
              </a:stretch>
            </a:blipFill>
          </p:spPr>
        </p:sp>
        <p:sp>
          <p:nvSpPr>
            <p:cNvPr id="42" name="TextBox 42"/>
            <p:cNvSpPr txBox="1"/>
            <p:nvPr/>
          </p:nvSpPr>
          <p:spPr>
            <a:xfrm>
              <a:off x="0" y="-19050"/>
              <a:ext cx="18653760" cy="531114"/>
            </a:xfrm>
            <a:prstGeom prst="rect">
              <a:avLst/>
            </a:prstGeom>
          </p:spPr>
          <p:txBody>
            <a:bodyPr lIns="0" tIns="0" rIns="0" bIns="0" rtlCol="0" anchor="ctr"/>
            <a:lstStyle/>
            <a:p>
              <a:pPr algn="l">
                <a:lnSpc>
                  <a:spcPts val="1530"/>
                </a:lnSpc>
              </a:pPr>
              <a:r>
                <a:rPr lang="en-US" sz="1275" spc="210">
                  <a:solidFill>
                    <a:srgbClr val="6E7FA0"/>
                  </a:solidFill>
                  <a:latin typeface="Arial"/>
                  <a:ea typeface="Arial"/>
                  <a:cs typeface="Arial"/>
                  <a:sym typeface="Arial"/>
                </a:rPr>
                <a:t>TECHNICAL MEETING  ·  INFOGRAPHIC COMPETITION  ·  CAMPUS DATA WEEK 2026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TotalTime>
  <Words>1478</Words>
  <Application>Microsoft Office PowerPoint</Application>
  <PresentationFormat>Custom</PresentationFormat>
  <Paragraphs>237</Paragraphs>
  <Slides>11</Slides>
  <Notes>11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0" baseType="lpstr">
      <vt:lpstr>Arial Bold</vt:lpstr>
      <vt:lpstr>Calibri (MS) Bold</vt:lpstr>
      <vt:lpstr>Calibri (MS)</vt:lpstr>
      <vt:lpstr>Calibri (MS) Italics</vt:lpstr>
      <vt:lpstr>Calibri</vt:lpstr>
      <vt:lpstr>Courier New Bold</vt:lpstr>
      <vt:lpstr>Arial</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TM Final Infographic Competition CDW2026</dc:title>
  <cp:lastModifiedBy>La Ode Syahriman</cp:lastModifiedBy>
  <cp:revision>1</cp:revision>
  <dcterms:created xsi:type="dcterms:W3CDTF">2006-08-16T00:00:00Z</dcterms:created>
  <dcterms:modified xsi:type="dcterms:W3CDTF">2026-10-27T12:10:15Z</dcterms:modified>
  <dc:identifier>DAHZGzKzC7E</dc:identifier>
</cp:coreProperties>
</file>
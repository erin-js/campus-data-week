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654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sambutan, perkenalan panitia, dan tujuan TM — memastikan seluruh tim paham ketentuan karya sebelum dataset dirilis besok, 20 Agustus pukul 19.00 WIB.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agenda dalam satu menit. Ingatkan peserta bahwa slide dan rekaman TM akan dibagikan setelah sesi.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Jarak rilis dataset ke batas pengumpulan sekitar tujuh minggu. Sarankan peserta menyelesaikan analisis di dua minggu pertama agar sisa waktu dipakai untuk desain dan revisi.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kata statis: bukan animasi, bukan video, bukan dashboard interaktif. Satu halaman utuh, bukan seri carousel. Ingatkan juga bahwa tim terdiri atas tepat 3 orang sesuai pendaftaran.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penting: kamus data sudah sangat menjelaskan, jadi pertanyaan teknis soal isi kolom dikembalikan pada eksplorasi peserta. Panitia turun tangan hanya bila ada kekeliruan data. Tegaskan juga larangan menyebut nama universitas mana pun.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peserta mengecek ulang tiga hal yang paling sering salah: orientasi portrait, satu halaman, dan ukuran berkas di bawah 20 MB. Sampaikan bahwa karya yang tidak memenuhi ketentuan teknis dapat gugur pada pemeriksaan administratif, dan atribusi sumber ikon/font/foto bersifat wajib.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penutup slide ini adalah pesan utamanya: bobot terbesar ada di akurasi dan kedalaman insight, bukan pada estetika.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poin-poin ini pelan-pelan. Dua yang paling sering dilanggar: atribusi sumber ikon/font/foto, dan penggunaan AI generatif untuk membuat visual atau narasi — batasannya dijelaskan di slide berikutnya.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ini paling sering ditanyakan. Rumusannya: AI boleh membantu Anda memahami data, tidak boleh menggantikan Anda dalam membuat karya.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tiga pengingat: dataset resmi satu-satunya sumber, satu halaman A3 portrait, dan batas unggah 8 Oktober 2026.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57200"/>
            <a:ext cx="1202875" cy="1060704"/>
          </a:xfrm>
          <a:prstGeom prst="roundRect">
            <a:avLst>
              <a:gd name="adj" fmla="val 4310"/>
            </a:avLst>
          </a:prstGeom>
          <a:solidFill>
            <a:srgbClr val="122042"/>
          </a:solidFill>
          <a:ln w="12700">
            <a:solidFill>
              <a:srgbClr val="24406F"/>
            </a:solidFill>
            <a:prstDash val="solid"/>
          </a:ln>
        </p:spPr>
        <p:txBody>
          <a:bodyPr/>
          <a:lstStyle/>
          <a:p>
            <a:endParaRPr lang="en-US"/>
          </a:p>
        </p:txBody>
      </p:sp>
      <p:pic>
        <p:nvPicPr>
          <p:cNvPr id="3" name="Image 0" descr="assets/logo.png"/>
          <p:cNvPicPr>
            <a:picLocks noChangeAspect="1"/>
          </p:cNvPicPr>
          <p:nvPr/>
        </p:nvPicPr>
        <p:blipFill>
          <a:blip r:embed="rId4"/>
          <a:stretch>
            <a:fillRect/>
          </a:stretch>
        </p:blipFill>
        <p:spPr>
          <a:xfrm>
            <a:off x="749808" y="566928"/>
            <a:ext cx="983419" cy="841248"/>
          </a:xfrm>
          <a:prstGeom prst="rect">
            <a:avLst/>
          </a:prstGeom>
        </p:spPr>
      </p:pic>
      <p:sp>
        <p:nvSpPr>
          <p:cNvPr id="4" name="Text 1"/>
          <p:cNvSpPr/>
          <p:nvPr/>
        </p:nvSpPr>
        <p:spPr>
          <a:xfrm>
            <a:off x="658368" y="1783080"/>
            <a:ext cx="10881360" cy="274320"/>
          </a:xfrm>
          <a:prstGeom prst="rect">
            <a:avLst/>
          </a:prstGeom>
          <a:noFill/>
          <a:ln/>
        </p:spPr>
        <p:txBody>
          <a:bodyPr wrap="square" lIns="0" tIns="0" rIns="0" bIns="0" rtlCol="0" anchor="ctr"/>
          <a:lstStyle/>
          <a:p>
            <a:pPr marL="0" indent="0">
              <a:buNone/>
            </a:pPr>
            <a:r>
              <a:rPr lang="en-US" sz="1100" b="1" kern="0" spc="240" dirty="0">
                <a:solidFill>
                  <a:srgbClr val="E9A944"/>
                </a:solidFill>
                <a:latin typeface="Arial" pitchFamily="34" charset="0"/>
                <a:ea typeface="Arial" pitchFamily="34" charset="-122"/>
                <a:cs typeface="Arial" pitchFamily="34" charset="-120"/>
              </a:rPr>
              <a:t>PUSAT SATU DATA DAN KECERDASAN DIGITAL  ·  UNIVERSITAS AIRLANGGA</a:t>
            </a:r>
            <a:endParaRPr lang="en-US" sz="1100" dirty="0"/>
          </a:p>
        </p:txBody>
      </p:sp>
      <p:sp>
        <p:nvSpPr>
          <p:cNvPr id="5" name="Text 2"/>
          <p:cNvSpPr/>
          <p:nvPr/>
        </p:nvSpPr>
        <p:spPr>
          <a:xfrm>
            <a:off x="640080" y="2103120"/>
            <a:ext cx="10881360" cy="457200"/>
          </a:xfrm>
          <a:prstGeom prst="rect">
            <a:avLst/>
          </a:prstGeom>
          <a:noFill/>
          <a:ln/>
        </p:spPr>
        <p:txBody>
          <a:bodyPr wrap="square" lIns="0" tIns="0" rIns="0" bIns="0" rtlCol="0" anchor="ctr"/>
          <a:lstStyle/>
          <a:p>
            <a:pPr marL="0" indent="0">
              <a:buNone/>
            </a:pPr>
            <a:r>
              <a:rPr lang="en-US" sz="2800" b="1" kern="0" spc="500" dirty="0">
                <a:solidFill>
                  <a:srgbClr val="FFFFFF"/>
                </a:solidFill>
                <a:latin typeface="Arial" pitchFamily="34" charset="0"/>
                <a:ea typeface="Arial" pitchFamily="34" charset="-122"/>
                <a:cs typeface="Arial" pitchFamily="34" charset="-120"/>
              </a:rPr>
              <a:t>TECHNICAL MEETING</a:t>
            </a:r>
            <a:endParaRPr lang="en-US" sz="2800" dirty="0"/>
          </a:p>
        </p:txBody>
      </p:sp>
      <p:sp>
        <p:nvSpPr>
          <p:cNvPr id="6" name="Text 3"/>
          <p:cNvSpPr/>
          <p:nvPr/>
        </p:nvSpPr>
        <p:spPr>
          <a:xfrm>
            <a:off x="603504" y="2542032"/>
            <a:ext cx="10881360" cy="868680"/>
          </a:xfrm>
          <a:prstGeom prst="rect">
            <a:avLst/>
          </a:prstGeom>
          <a:noFill/>
          <a:ln/>
        </p:spPr>
        <p:txBody>
          <a:bodyPr wrap="square" lIns="0" tIns="0" rIns="0" bIns="0" rtlCol="0" anchor="ctr"/>
          <a:lstStyle/>
          <a:p>
            <a:pPr marL="0" indent="0">
              <a:buNone/>
            </a:pPr>
            <a:r>
              <a:rPr lang="en-US" sz="5200" b="1" kern="0" spc="150" dirty="0">
                <a:solidFill>
                  <a:srgbClr val="E9A944"/>
                </a:solidFill>
                <a:latin typeface="Arial" pitchFamily="34" charset="0"/>
                <a:ea typeface="Arial" pitchFamily="34" charset="-122"/>
                <a:cs typeface="Arial" pitchFamily="34" charset="-120"/>
              </a:rPr>
              <a:t>INFOGRAPHIC</a:t>
            </a:r>
            <a:endParaRPr lang="en-US" sz="5200" dirty="0"/>
          </a:p>
        </p:txBody>
      </p:sp>
      <p:sp>
        <p:nvSpPr>
          <p:cNvPr id="7" name="Text 4"/>
          <p:cNvSpPr/>
          <p:nvPr/>
        </p:nvSpPr>
        <p:spPr>
          <a:xfrm>
            <a:off x="603504" y="3273552"/>
            <a:ext cx="10881360" cy="868680"/>
          </a:xfrm>
          <a:prstGeom prst="rect">
            <a:avLst/>
          </a:prstGeom>
          <a:noFill/>
          <a:ln/>
        </p:spPr>
        <p:txBody>
          <a:bodyPr wrap="square" lIns="0" tIns="0" rIns="0" bIns="0" rtlCol="0" anchor="ctr"/>
          <a:lstStyle/>
          <a:p>
            <a:pPr marL="0" indent="0">
              <a:buNone/>
            </a:pPr>
            <a:r>
              <a:rPr lang="en-US" sz="5200" b="1" kern="0" spc="150" dirty="0">
                <a:solidFill>
                  <a:srgbClr val="E9A944"/>
                </a:solidFill>
                <a:latin typeface="Arial" pitchFamily="34" charset="0"/>
                <a:ea typeface="Arial" pitchFamily="34" charset="-122"/>
                <a:cs typeface="Arial" pitchFamily="34" charset="-120"/>
              </a:rPr>
              <a:t>COMPETITION</a:t>
            </a:r>
            <a:endParaRPr lang="en-US" sz="5200" dirty="0"/>
          </a:p>
        </p:txBody>
      </p:sp>
      <p:sp>
        <p:nvSpPr>
          <p:cNvPr id="8" name="Text 5"/>
          <p:cNvSpPr/>
          <p:nvPr/>
        </p:nvSpPr>
        <p:spPr>
          <a:xfrm>
            <a:off x="658368" y="4160520"/>
            <a:ext cx="10881360" cy="365760"/>
          </a:xfrm>
          <a:prstGeom prst="rect">
            <a:avLst/>
          </a:prstGeom>
          <a:noFill/>
          <a:ln/>
        </p:spPr>
        <p:txBody>
          <a:bodyPr wrap="square" lIns="0" tIns="0" rIns="0" bIns="0" rtlCol="0" anchor="ctr"/>
          <a:lstStyle/>
          <a:p>
            <a:pPr marL="0" indent="0">
              <a:buNone/>
            </a:pPr>
            <a:r>
              <a:rPr lang="en-US" sz="1700" dirty="0">
                <a:solidFill>
                  <a:srgbClr val="9FB0CE"/>
                </a:solidFill>
                <a:latin typeface="Calibri" pitchFamily="34" charset="0"/>
                <a:ea typeface="Calibri" pitchFamily="34" charset="-122"/>
                <a:cs typeface="Calibri" pitchFamily="34" charset="-120"/>
              </a:rPr>
              <a:t>Babak Penyisihan — Campus Data Week 2026</a:t>
            </a:r>
            <a:endParaRPr lang="en-US" sz="1700" dirty="0"/>
          </a:p>
        </p:txBody>
      </p:sp>
      <p:sp>
        <p:nvSpPr>
          <p:cNvPr id="9" name="Shape 6"/>
          <p:cNvSpPr/>
          <p:nvPr/>
        </p:nvSpPr>
        <p:spPr>
          <a:xfrm>
            <a:off x="640080" y="4892040"/>
            <a:ext cx="3429000" cy="1005840"/>
          </a:xfrm>
          <a:prstGeom prst="roundRect">
            <a:avLst>
              <a:gd name="adj" fmla="val 5455"/>
            </a:avLst>
          </a:prstGeom>
          <a:solidFill>
            <a:srgbClr val="0D1632">
              <a:alpha val="88000"/>
            </a:srgbClr>
          </a:solidFill>
          <a:ln w="12700">
            <a:solidFill>
              <a:srgbClr val="24406F"/>
            </a:solidFill>
            <a:prstDash val="solid"/>
          </a:ln>
        </p:spPr>
        <p:txBody>
          <a:bodyPr/>
          <a:lstStyle/>
          <a:p>
            <a:endParaRPr lang="en-US"/>
          </a:p>
        </p:txBody>
      </p:sp>
      <p:sp>
        <p:nvSpPr>
          <p:cNvPr id="10" name="Text 7"/>
          <p:cNvSpPr/>
          <p:nvPr/>
        </p:nvSpPr>
        <p:spPr>
          <a:xfrm>
            <a:off x="868680" y="5047488"/>
            <a:ext cx="3063240" cy="219456"/>
          </a:xfrm>
          <a:prstGeom prst="rect">
            <a:avLst/>
          </a:prstGeom>
          <a:noFill/>
          <a:ln/>
        </p:spPr>
        <p:txBody>
          <a:bodyPr wrap="square" lIns="0" tIns="0" rIns="0" bIns="0" rtlCol="0" anchor="ctr"/>
          <a:lstStyle/>
          <a:p>
            <a:pPr marL="0" indent="0">
              <a:buNone/>
            </a:pPr>
            <a:r>
              <a:rPr lang="en-US" sz="900" b="1" kern="0" spc="160" dirty="0">
                <a:solidFill>
                  <a:srgbClr val="E9A944"/>
                </a:solidFill>
                <a:latin typeface="Arial" pitchFamily="34" charset="0"/>
                <a:ea typeface="Arial" pitchFamily="34" charset="-122"/>
                <a:cs typeface="Arial" pitchFamily="34" charset="-120"/>
              </a:rPr>
              <a:t>TANGGAL</a:t>
            </a:r>
            <a:endParaRPr lang="en-US" sz="900" dirty="0"/>
          </a:p>
        </p:txBody>
      </p:sp>
      <p:sp>
        <p:nvSpPr>
          <p:cNvPr id="11" name="Text 8"/>
          <p:cNvSpPr/>
          <p:nvPr/>
        </p:nvSpPr>
        <p:spPr>
          <a:xfrm>
            <a:off x="868680" y="5285232"/>
            <a:ext cx="306324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Rabu, 19 Agustus 2026</a:t>
            </a:r>
            <a:endParaRPr lang="en-US" sz="1250" dirty="0"/>
          </a:p>
        </p:txBody>
      </p:sp>
      <p:sp>
        <p:nvSpPr>
          <p:cNvPr id="12" name="Shape 9"/>
          <p:cNvSpPr/>
          <p:nvPr/>
        </p:nvSpPr>
        <p:spPr>
          <a:xfrm>
            <a:off x="4379976" y="4892040"/>
            <a:ext cx="3429000" cy="1005840"/>
          </a:xfrm>
          <a:prstGeom prst="roundRect">
            <a:avLst>
              <a:gd name="adj" fmla="val 5455"/>
            </a:avLst>
          </a:prstGeom>
          <a:solidFill>
            <a:srgbClr val="0D1632">
              <a:alpha val="88000"/>
            </a:srgbClr>
          </a:solidFill>
          <a:ln w="12700">
            <a:solidFill>
              <a:srgbClr val="24406F"/>
            </a:solidFill>
            <a:prstDash val="solid"/>
          </a:ln>
        </p:spPr>
        <p:txBody>
          <a:bodyPr/>
          <a:lstStyle/>
          <a:p>
            <a:endParaRPr lang="en-US"/>
          </a:p>
        </p:txBody>
      </p:sp>
      <p:sp>
        <p:nvSpPr>
          <p:cNvPr id="13" name="Text 10"/>
          <p:cNvSpPr/>
          <p:nvPr/>
        </p:nvSpPr>
        <p:spPr>
          <a:xfrm>
            <a:off x="4608576" y="5047488"/>
            <a:ext cx="3063240" cy="219456"/>
          </a:xfrm>
          <a:prstGeom prst="rect">
            <a:avLst/>
          </a:prstGeom>
          <a:noFill/>
          <a:ln/>
        </p:spPr>
        <p:txBody>
          <a:bodyPr wrap="square" lIns="0" tIns="0" rIns="0" bIns="0" rtlCol="0" anchor="ctr"/>
          <a:lstStyle/>
          <a:p>
            <a:pPr marL="0" indent="0">
              <a:buNone/>
            </a:pPr>
            <a:r>
              <a:rPr lang="en-US" sz="900" b="1" kern="0" spc="160" dirty="0">
                <a:solidFill>
                  <a:srgbClr val="E9A944"/>
                </a:solidFill>
                <a:latin typeface="Arial" pitchFamily="34" charset="0"/>
                <a:ea typeface="Arial" pitchFamily="34" charset="-122"/>
                <a:cs typeface="Arial" pitchFamily="34" charset="-120"/>
              </a:rPr>
              <a:t>AGENDA</a:t>
            </a:r>
            <a:endParaRPr lang="en-US" sz="900" dirty="0"/>
          </a:p>
        </p:txBody>
      </p:sp>
      <p:sp>
        <p:nvSpPr>
          <p:cNvPr id="14" name="Text 11"/>
          <p:cNvSpPr/>
          <p:nvPr/>
        </p:nvSpPr>
        <p:spPr>
          <a:xfrm>
            <a:off x="4608576" y="5285232"/>
            <a:ext cx="306324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Teknis Babak Penyisihan</a:t>
            </a:r>
            <a:endParaRPr lang="en-US" sz="1250" dirty="0"/>
          </a:p>
        </p:txBody>
      </p:sp>
      <p:sp>
        <p:nvSpPr>
          <p:cNvPr id="15" name="Shape 12"/>
          <p:cNvSpPr/>
          <p:nvPr/>
        </p:nvSpPr>
        <p:spPr>
          <a:xfrm>
            <a:off x="8119872" y="4892040"/>
            <a:ext cx="3429000" cy="1005840"/>
          </a:xfrm>
          <a:prstGeom prst="roundRect">
            <a:avLst>
              <a:gd name="adj" fmla="val 5455"/>
            </a:avLst>
          </a:prstGeom>
          <a:solidFill>
            <a:srgbClr val="0D1632">
              <a:alpha val="88000"/>
            </a:srgbClr>
          </a:solidFill>
          <a:ln w="12700">
            <a:solidFill>
              <a:srgbClr val="24406F"/>
            </a:solidFill>
            <a:prstDash val="solid"/>
          </a:ln>
        </p:spPr>
        <p:txBody>
          <a:bodyPr/>
          <a:lstStyle/>
          <a:p>
            <a:endParaRPr lang="en-US"/>
          </a:p>
        </p:txBody>
      </p:sp>
      <p:sp>
        <p:nvSpPr>
          <p:cNvPr id="16" name="Text 13"/>
          <p:cNvSpPr/>
          <p:nvPr/>
        </p:nvSpPr>
        <p:spPr>
          <a:xfrm>
            <a:off x="8348472" y="5047488"/>
            <a:ext cx="3063240" cy="219456"/>
          </a:xfrm>
          <a:prstGeom prst="rect">
            <a:avLst/>
          </a:prstGeom>
          <a:noFill/>
          <a:ln/>
        </p:spPr>
        <p:txBody>
          <a:bodyPr wrap="square" lIns="0" tIns="0" rIns="0" bIns="0" rtlCol="0" anchor="ctr"/>
          <a:lstStyle/>
          <a:p>
            <a:pPr marL="0" indent="0">
              <a:buNone/>
            </a:pPr>
            <a:r>
              <a:rPr lang="en-US" sz="900" b="1" kern="0" spc="160" dirty="0">
                <a:solidFill>
                  <a:srgbClr val="E9A944"/>
                </a:solidFill>
                <a:latin typeface="Arial" pitchFamily="34" charset="0"/>
                <a:ea typeface="Arial" pitchFamily="34" charset="-122"/>
                <a:cs typeface="Arial" pitchFamily="34" charset="-120"/>
              </a:rPr>
              <a:t>PLATFORM</a:t>
            </a:r>
            <a:endParaRPr lang="en-US" sz="900" dirty="0"/>
          </a:p>
        </p:txBody>
      </p:sp>
      <p:sp>
        <p:nvSpPr>
          <p:cNvPr id="17" name="Text 14"/>
          <p:cNvSpPr/>
          <p:nvPr/>
        </p:nvSpPr>
        <p:spPr>
          <a:xfrm>
            <a:off x="8348472" y="5285232"/>
            <a:ext cx="306324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campusdataweek.satudata.unair.ac.id</a:t>
            </a:r>
            <a:endParaRPr lang="en-US" sz="1250" dirty="0"/>
          </a:p>
        </p:txBody>
      </p:sp>
      <p:sp>
        <p:nvSpPr>
          <p:cNvPr id="18" name="Text 15"/>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PEMBUKA</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Agenda Technical Meeting</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02</a:t>
            </a:r>
            <a:endParaRPr lang="en-US" sz="1100" dirty="0"/>
          </a:p>
        </p:txBody>
      </p:sp>
      <p:sp>
        <p:nvSpPr>
          <p:cNvPr id="6" name="Shape 4"/>
          <p:cNvSpPr/>
          <p:nvPr/>
        </p:nvSpPr>
        <p:spPr>
          <a:xfrm>
            <a:off x="640080" y="1600200"/>
            <a:ext cx="5303520" cy="1207008"/>
          </a:xfrm>
          <a:prstGeom prst="roundRect">
            <a:avLst>
              <a:gd name="adj" fmla="val 4545"/>
            </a:avLst>
          </a:prstGeom>
          <a:solidFill>
            <a:srgbClr val="0D1632">
              <a:alpha val="88000"/>
            </a:srgbClr>
          </a:solidFill>
          <a:ln w="12700">
            <a:solidFill>
              <a:srgbClr val="24406F"/>
            </a:solidFill>
            <a:prstDash val="solid"/>
          </a:ln>
        </p:spPr>
        <p:txBody>
          <a:bodyPr/>
          <a:lstStyle/>
          <a:p>
            <a:endParaRPr lang="en-US"/>
          </a:p>
        </p:txBody>
      </p:sp>
      <p:sp>
        <p:nvSpPr>
          <p:cNvPr id="7" name="Shape 5"/>
          <p:cNvSpPr/>
          <p:nvPr/>
        </p:nvSpPr>
        <p:spPr>
          <a:xfrm>
            <a:off x="914400" y="1874520"/>
            <a:ext cx="420624" cy="420624"/>
          </a:xfrm>
          <a:prstGeom prst="roundRect">
            <a:avLst>
              <a:gd name="adj" fmla="val 10870"/>
            </a:avLst>
          </a:prstGeom>
          <a:solidFill>
            <a:srgbClr val="1A1206"/>
          </a:solidFill>
          <a:ln w="12700">
            <a:solidFill>
              <a:srgbClr val="E9A944"/>
            </a:solidFill>
            <a:prstDash val="solid"/>
          </a:ln>
        </p:spPr>
        <p:txBody>
          <a:bodyPr/>
          <a:lstStyle/>
          <a:p>
            <a:endParaRPr lang="en-US"/>
          </a:p>
        </p:txBody>
      </p:sp>
      <p:sp>
        <p:nvSpPr>
          <p:cNvPr id="8" name="Text 6"/>
          <p:cNvSpPr/>
          <p:nvPr/>
        </p:nvSpPr>
        <p:spPr>
          <a:xfrm>
            <a:off x="914400" y="1874520"/>
            <a:ext cx="420624" cy="420624"/>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01</a:t>
            </a:r>
            <a:endParaRPr lang="en-US" sz="1200" dirty="0"/>
          </a:p>
        </p:txBody>
      </p:sp>
      <p:sp>
        <p:nvSpPr>
          <p:cNvPr id="9" name="Text 7"/>
          <p:cNvSpPr/>
          <p:nvPr/>
        </p:nvSpPr>
        <p:spPr>
          <a:xfrm>
            <a:off x="1508760" y="1837944"/>
            <a:ext cx="4160520" cy="310896"/>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Timeline</a:t>
            </a:r>
            <a:endParaRPr lang="en-US" sz="1550" dirty="0"/>
          </a:p>
        </p:txBody>
      </p:sp>
      <p:sp>
        <p:nvSpPr>
          <p:cNvPr id="10" name="Text 8"/>
          <p:cNvSpPr/>
          <p:nvPr/>
        </p:nvSpPr>
        <p:spPr>
          <a:xfrm>
            <a:off x="1508760" y="2176272"/>
            <a:ext cx="4160520" cy="45720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Dari rilis dataset sampai final &amp; awarding</a:t>
            </a:r>
            <a:endParaRPr lang="en-US" sz="1200" dirty="0"/>
          </a:p>
        </p:txBody>
      </p:sp>
      <p:sp>
        <p:nvSpPr>
          <p:cNvPr id="11" name="Shape 9"/>
          <p:cNvSpPr/>
          <p:nvPr/>
        </p:nvSpPr>
        <p:spPr>
          <a:xfrm>
            <a:off x="6245352" y="1600200"/>
            <a:ext cx="5303520" cy="1207008"/>
          </a:xfrm>
          <a:prstGeom prst="roundRect">
            <a:avLst>
              <a:gd name="adj" fmla="val 4545"/>
            </a:avLst>
          </a:prstGeom>
          <a:solidFill>
            <a:srgbClr val="0D1632">
              <a:alpha val="88000"/>
            </a:srgbClr>
          </a:solidFill>
          <a:ln w="12700">
            <a:solidFill>
              <a:srgbClr val="24406F"/>
            </a:solidFill>
            <a:prstDash val="solid"/>
          </a:ln>
        </p:spPr>
        <p:txBody>
          <a:bodyPr/>
          <a:lstStyle/>
          <a:p>
            <a:endParaRPr lang="en-US"/>
          </a:p>
        </p:txBody>
      </p:sp>
      <p:sp>
        <p:nvSpPr>
          <p:cNvPr id="12" name="Shape 10"/>
          <p:cNvSpPr/>
          <p:nvPr/>
        </p:nvSpPr>
        <p:spPr>
          <a:xfrm>
            <a:off x="6519672" y="1874520"/>
            <a:ext cx="420624" cy="420624"/>
          </a:xfrm>
          <a:prstGeom prst="roundRect">
            <a:avLst>
              <a:gd name="adj" fmla="val 10870"/>
            </a:avLst>
          </a:prstGeom>
          <a:solidFill>
            <a:srgbClr val="1A1206"/>
          </a:solidFill>
          <a:ln w="12700">
            <a:solidFill>
              <a:srgbClr val="E9A944"/>
            </a:solidFill>
            <a:prstDash val="solid"/>
          </a:ln>
        </p:spPr>
        <p:txBody>
          <a:bodyPr/>
          <a:lstStyle/>
          <a:p>
            <a:endParaRPr lang="en-US"/>
          </a:p>
        </p:txBody>
      </p:sp>
      <p:sp>
        <p:nvSpPr>
          <p:cNvPr id="13" name="Text 11"/>
          <p:cNvSpPr/>
          <p:nvPr/>
        </p:nvSpPr>
        <p:spPr>
          <a:xfrm>
            <a:off x="6519672" y="1874520"/>
            <a:ext cx="420624" cy="420624"/>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02</a:t>
            </a:r>
            <a:endParaRPr lang="en-US" sz="1200" dirty="0"/>
          </a:p>
        </p:txBody>
      </p:sp>
      <p:sp>
        <p:nvSpPr>
          <p:cNvPr id="14" name="Text 12"/>
          <p:cNvSpPr/>
          <p:nvPr/>
        </p:nvSpPr>
        <p:spPr>
          <a:xfrm>
            <a:off x="7114032" y="1837944"/>
            <a:ext cx="4160520" cy="310896"/>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Brief &amp; Dataset</a:t>
            </a:r>
            <a:endParaRPr lang="en-US" sz="1550" dirty="0"/>
          </a:p>
        </p:txBody>
      </p:sp>
      <p:sp>
        <p:nvSpPr>
          <p:cNvPr id="15" name="Text 13"/>
          <p:cNvSpPr/>
          <p:nvPr/>
        </p:nvSpPr>
        <p:spPr>
          <a:xfrm>
            <a:off x="7114032" y="2176272"/>
            <a:ext cx="4160520" cy="45720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Tugas peserta dan karakter dataset yang dipakai</a:t>
            </a:r>
            <a:endParaRPr lang="en-US" sz="1200" dirty="0"/>
          </a:p>
        </p:txBody>
      </p:sp>
      <p:sp>
        <p:nvSpPr>
          <p:cNvPr id="16" name="Shape 14"/>
          <p:cNvSpPr/>
          <p:nvPr/>
        </p:nvSpPr>
        <p:spPr>
          <a:xfrm>
            <a:off x="640080" y="3090672"/>
            <a:ext cx="5303520" cy="1207008"/>
          </a:xfrm>
          <a:prstGeom prst="roundRect">
            <a:avLst>
              <a:gd name="adj" fmla="val 4545"/>
            </a:avLst>
          </a:prstGeom>
          <a:solidFill>
            <a:srgbClr val="0D1632">
              <a:alpha val="88000"/>
            </a:srgbClr>
          </a:solidFill>
          <a:ln w="12700">
            <a:solidFill>
              <a:srgbClr val="24406F"/>
            </a:solidFill>
            <a:prstDash val="solid"/>
          </a:ln>
        </p:spPr>
        <p:txBody>
          <a:bodyPr/>
          <a:lstStyle/>
          <a:p>
            <a:endParaRPr lang="en-US"/>
          </a:p>
        </p:txBody>
      </p:sp>
      <p:sp>
        <p:nvSpPr>
          <p:cNvPr id="17" name="Shape 15"/>
          <p:cNvSpPr/>
          <p:nvPr/>
        </p:nvSpPr>
        <p:spPr>
          <a:xfrm>
            <a:off x="914400" y="3364992"/>
            <a:ext cx="420624" cy="420624"/>
          </a:xfrm>
          <a:prstGeom prst="roundRect">
            <a:avLst>
              <a:gd name="adj" fmla="val 10870"/>
            </a:avLst>
          </a:prstGeom>
          <a:solidFill>
            <a:srgbClr val="1A1206"/>
          </a:solidFill>
          <a:ln w="12700">
            <a:solidFill>
              <a:srgbClr val="E9A944"/>
            </a:solidFill>
            <a:prstDash val="solid"/>
          </a:ln>
        </p:spPr>
        <p:txBody>
          <a:bodyPr/>
          <a:lstStyle/>
          <a:p>
            <a:endParaRPr lang="en-US"/>
          </a:p>
        </p:txBody>
      </p:sp>
      <p:sp>
        <p:nvSpPr>
          <p:cNvPr id="18" name="Text 16"/>
          <p:cNvSpPr/>
          <p:nvPr/>
        </p:nvSpPr>
        <p:spPr>
          <a:xfrm>
            <a:off x="914400" y="3364992"/>
            <a:ext cx="420624" cy="420624"/>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03</a:t>
            </a:r>
            <a:endParaRPr lang="en-US" sz="1200" dirty="0"/>
          </a:p>
        </p:txBody>
      </p:sp>
      <p:sp>
        <p:nvSpPr>
          <p:cNvPr id="19" name="Text 17"/>
          <p:cNvSpPr/>
          <p:nvPr/>
        </p:nvSpPr>
        <p:spPr>
          <a:xfrm>
            <a:off x="1508760" y="3328416"/>
            <a:ext cx="4160520" cy="310896"/>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Ketentuan Teknis Karya</a:t>
            </a:r>
            <a:endParaRPr lang="en-US" sz="1550" dirty="0"/>
          </a:p>
        </p:txBody>
      </p:sp>
      <p:sp>
        <p:nvSpPr>
          <p:cNvPr id="20" name="Text 18"/>
          <p:cNvSpPr/>
          <p:nvPr/>
        </p:nvSpPr>
        <p:spPr>
          <a:xfrm>
            <a:off x="1508760" y="3666744"/>
            <a:ext cx="4160520" cy="45720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Format, ukuran, tools, bahasa, atribusi</a:t>
            </a:r>
            <a:endParaRPr lang="en-US" sz="1200" dirty="0"/>
          </a:p>
        </p:txBody>
      </p:sp>
      <p:sp>
        <p:nvSpPr>
          <p:cNvPr id="21" name="Shape 19"/>
          <p:cNvSpPr/>
          <p:nvPr/>
        </p:nvSpPr>
        <p:spPr>
          <a:xfrm>
            <a:off x="6245352" y="3090672"/>
            <a:ext cx="5303520" cy="1207008"/>
          </a:xfrm>
          <a:prstGeom prst="roundRect">
            <a:avLst>
              <a:gd name="adj" fmla="val 4545"/>
            </a:avLst>
          </a:prstGeom>
          <a:solidFill>
            <a:srgbClr val="0D1632">
              <a:alpha val="88000"/>
            </a:srgbClr>
          </a:solidFill>
          <a:ln w="12700">
            <a:solidFill>
              <a:srgbClr val="24406F"/>
            </a:solidFill>
            <a:prstDash val="solid"/>
          </a:ln>
        </p:spPr>
        <p:txBody>
          <a:bodyPr/>
          <a:lstStyle/>
          <a:p>
            <a:endParaRPr lang="en-US"/>
          </a:p>
        </p:txBody>
      </p:sp>
      <p:sp>
        <p:nvSpPr>
          <p:cNvPr id="22" name="Shape 20"/>
          <p:cNvSpPr/>
          <p:nvPr/>
        </p:nvSpPr>
        <p:spPr>
          <a:xfrm>
            <a:off x="6519672" y="3364992"/>
            <a:ext cx="420624" cy="420624"/>
          </a:xfrm>
          <a:prstGeom prst="roundRect">
            <a:avLst>
              <a:gd name="adj" fmla="val 10870"/>
            </a:avLst>
          </a:prstGeom>
          <a:solidFill>
            <a:srgbClr val="1A1206"/>
          </a:solidFill>
          <a:ln w="12700">
            <a:solidFill>
              <a:srgbClr val="E9A944"/>
            </a:solidFill>
            <a:prstDash val="solid"/>
          </a:ln>
        </p:spPr>
        <p:txBody>
          <a:bodyPr/>
          <a:lstStyle/>
          <a:p>
            <a:endParaRPr lang="en-US"/>
          </a:p>
        </p:txBody>
      </p:sp>
      <p:sp>
        <p:nvSpPr>
          <p:cNvPr id="23" name="Text 21"/>
          <p:cNvSpPr/>
          <p:nvPr/>
        </p:nvSpPr>
        <p:spPr>
          <a:xfrm>
            <a:off x="6519672" y="3364992"/>
            <a:ext cx="420624" cy="420624"/>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04</a:t>
            </a:r>
            <a:endParaRPr lang="en-US" sz="1200" dirty="0"/>
          </a:p>
        </p:txBody>
      </p:sp>
      <p:sp>
        <p:nvSpPr>
          <p:cNvPr id="24" name="Text 22"/>
          <p:cNvSpPr/>
          <p:nvPr/>
        </p:nvSpPr>
        <p:spPr>
          <a:xfrm>
            <a:off x="7114032" y="3328416"/>
            <a:ext cx="4160520" cy="310896"/>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Kriteria Penilaian</a:t>
            </a:r>
            <a:endParaRPr lang="en-US" sz="1550" dirty="0"/>
          </a:p>
        </p:txBody>
      </p:sp>
      <p:sp>
        <p:nvSpPr>
          <p:cNvPr id="25" name="Text 23"/>
          <p:cNvSpPr/>
          <p:nvPr/>
        </p:nvSpPr>
        <p:spPr>
          <a:xfrm>
            <a:off x="7114032" y="3666744"/>
            <a:ext cx="4160520" cy="45720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Empat aspek beserta bobotnya</a:t>
            </a:r>
            <a:endParaRPr lang="en-US" sz="1200" dirty="0"/>
          </a:p>
        </p:txBody>
      </p:sp>
      <p:sp>
        <p:nvSpPr>
          <p:cNvPr id="26" name="Shape 24"/>
          <p:cNvSpPr/>
          <p:nvPr/>
        </p:nvSpPr>
        <p:spPr>
          <a:xfrm>
            <a:off x="640080" y="4581144"/>
            <a:ext cx="5303520" cy="1207008"/>
          </a:xfrm>
          <a:prstGeom prst="roundRect">
            <a:avLst>
              <a:gd name="adj" fmla="val 4545"/>
            </a:avLst>
          </a:prstGeom>
          <a:solidFill>
            <a:srgbClr val="0D1632">
              <a:alpha val="88000"/>
            </a:srgbClr>
          </a:solidFill>
          <a:ln w="12700">
            <a:solidFill>
              <a:srgbClr val="24406F"/>
            </a:solidFill>
            <a:prstDash val="solid"/>
          </a:ln>
        </p:spPr>
        <p:txBody>
          <a:bodyPr/>
          <a:lstStyle/>
          <a:p>
            <a:endParaRPr lang="en-US"/>
          </a:p>
        </p:txBody>
      </p:sp>
      <p:sp>
        <p:nvSpPr>
          <p:cNvPr id="27" name="Shape 25"/>
          <p:cNvSpPr/>
          <p:nvPr/>
        </p:nvSpPr>
        <p:spPr>
          <a:xfrm>
            <a:off x="914400" y="4855464"/>
            <a:ext cx="420624" cy="420624"/>
          </a:xfrm>
          <a:prstGeom prst="roundRect">
            <a:avLst>
              <a:gd name="adj" fmla="val 10870"/>
            </a:avLst>
          </a:prstGeom>
          <a:solidFill>
            <a:srgbClr val="1A1206"/>
          </a:solidFill>
          <a:ln w="12700">
            <a:solidFill>
              <a:srgbClr val="E9A944"/>
            </a:solidFill>
            <a:prstDash val="solid"/>
          </a:ln>
        </p:spPr>
        <p:txBody>
          <a:bodyPr/>
          <a:lstStyle/>
          <a:p>
            <a:endParaRPr lang="en-US"/>
          </a:p>
        </p:txBody>
      </p:sp>
      <p:sp>
        <p:nvSpPr>
          <p:cNvPr id="28" name="Text 26"/>
          <p:cNvSpPr/>
          <p:nvPr/>
        </p:nvSpPr>
        <p:spPr>
          <a:xfrm>
            <a:off x="914400" y="4855464"/>
            <a:ext cx="420624" cy="420624"/>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05</a:t>
            </a:r>
            <a:endParaRPr lang="en-US" sz="1200" dirty="0"/>
          </a:p>
        </p:txBody>
      </p:sp>
      <p:sp>
        <p:nvSpPr>
          <p:cNvPr id="29" name="Text 27"/>
          <p:cNvSpPr/>
          <p:nvPr/>
        </p:nvSpPr>
        <p:spPr>
          <a:xfrm>
            <a:off x="1508760" y="4818888"/>
            <a:ext cx="4160520" cy="310896"/>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Larangan &amp; Batasan AI</a:t>
            </a:r>
            <a:endParaRPr lang="en-US" sz="1550" dirty="0"/>
          </a:p>
        </p:txBody>
      </p:sp>
      <p:sp>
        <p:nvSpPr>
          <p:cNvPr id="30" name="Text 28"/>
          <p:cNvSpPr/>
          <p:nvPr/>
        </p:nvSpPr>
        <p:spPr>
          <a:xfrm>
            <a:off x="1508760" y="5157216"/>
            <a:ext cx="4160520" cy="45720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Termasuk sanksi diskualifikasi</a:t>
            </a:r>
            <a:endParaRPr lang="en-US" sz="1200" dirty="0"/>
          </a:p>
        </p:txBody>
      </p:sp>
      <p:sp>
        <p:nvSpPr>
          <p:cNvPr id="31" name="Shape 29"/>
          <p:cNvSpPr/>
          <p:nvPr/>
        </p:nvSpPr>
        <p:spPr>
          <a:xfrm>
            <a:off x="6245352" y="4581144"/>
            <a:ext cx="5303520" cy="1207008"/>
          </a:xfrm>
          <a:prstGeom prst="roundRect">
            <a:avLst>
              <a:gd name="adj" fmla="val 4545"/>
            </a:avLst>
          </a:prstGeom>
          <a:solidFill>
            <a:srgbClr val="0D1632">
              <a:alpha val="88000"/>
            </a:srgbClr>
          </a:solidFill>
          <a:ln w="12700">
            <a:solidFill>
              <a:srgbClr val="24406F"/>
            </a:solidFill>
            <a:prstDash val="solid"/>
          </a:ln>
        </p:spPr>
        <p:txBody>
          <a:bodyPr/>
          <a:lstStyle/>
          <a:p>
            <a:endParaRPr lang="en-US"/>
          </a:p>
        </p:txBody>
      </p:sp>
      <p:sp>
        <p:nvSpPr>
          <p:cNvPr id="32" name="Shape 30"/>
          <p:cNvSpPr/>
          <p:nvPr/>
        </p:nvSpPr>
        <p:spPr>
          <a:xfrm>
            <a:off x="6519672" y="4855464"/>
            <a:ext cx="420624" cy="420624"/>
          </a:xfrm>
          <a:prstGeom prst="roundRect">
            <a:avLst>
              <a:gd name="adj" fmla="val 10870"/>
            </a:avLst>
          </a:prstGeom>
          <a:solidFill>
            <a:srgbClr val="1A1206"/>
          </a:solidFill>
          <a:ln w="12700">
            <a:solidFill>
              <a:srgbClr val="E9A944"/>
            </a:solidFill>
            <a:prstDash val="solid"/>
          </a:ln>
        </p:spPr>
        <p:txBody>
          <a:bodyPr/>
          <a:lstStyle/>
          <a:p>
            <a:endParaRPr lang="en-US"/>
          </a:p>
        </p:txBody>
      </p:sp>
      <p:sp>
        <p:nvSpPr>
          <p:cNvPr id="33" name="Text 31"/>
          <p:cNvSpPr/>
          <p:nvPr/>
        </p:nvSpPr>
        <p:spPr>
          <a:xfrm>
            <a:off x="6519672" y="4855464"/>
            <a:ext cx="420624" cy="420624"/>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06</a:t>
            </a:r>
            <a:endParaRPr lang="en-US" sz="1200" dirty="0"/>
          </a:p>
        </p:txBody>
      </p:sp>
      <p:sp>
        <p:nvSpPr>
          <p:cNvPr id="34" name="Text 32"/>
          <p:cNvSpPr/>
          <p:nvPr/>
        </p:nvSpPr>
        <p:spPr>
          <a:xfrm>
            <a:off x="7114032" y="4818888"/>
            <a:ext cx="4160520" cy="310896"/>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Tanya Jawab</a:t>
            </a:r>
            <a:endParaRPr lang="en-US" sz="1550" dirty="0"/>
          </a:p>
        </p:txBody>
      </p:sp>
      <p:sp>
        <p:nvSpPr>
          <p:cNvPr id="35" name="Text 33"/>
          <p:cNvSpPr/>
          <p:nvPr/>
        </p:nvSpPr>
        <p:spPr>
          <a:xfrm>
            <a:off x="7114032" y="5157216"/>
            <a:ext cx="4160520" cy="45720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Diskusi terbuka dan kanal bantuan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01</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Timeline Perlombaan</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03</a:t>
            </a:r>
            <a:endParaRPr lang="en-US" sz="1100" dirty="0"/>
          </a:p>
        </p:txBody>
      </p:sp>
      <p:sp>
        <p:nvSpPr>
          <p:cNvPr id="6" name="Shape 4"/>
          <p:cNvSpPr/>
          <p:nvPr/>
        </p:nvSpPr>
        <p:spPr>
          <a:xfrm>
            <a:off x="640080" y="1572768"/>
            <a:ext cx="7315200" cy="3474720"/>
          </a:xfrm>
          <a:prstGeom prst="roundRect">
            <a:avLst>
              <a:gd name="adj" fmla="val 1579"/>
            </a:avLst>
          </a:prstGeom>
          <a:solidFill>
            <a:srgbClr val="0D1632">
              <a:alpha val="88000"/>
            </a:srgbClr>
          </a:solidFill>
          <a:ln w="12700">
            <a:solidFill>
              <a:srgbClr val="24406F"/>
            </a:solidFill>
            <a:prstDash val="solid"/>
          </a:ln>
        </p:spPr>
        <p:txBody>
          <a:bodyPr/>
          <a:lstStyle/>
          <a:p>
            <a:endParaRPr lang="en-US"/>
          </a:p>
        </p:txBody>
      </p:sp>
      <p:sp>
        <p:nvSpPr>
          <p:cNvPr id="7" name="Text 5"/>
          <p:cNvSpPr/>
          <p:nvPr/>
        </p:nvSpPr>
        <p:spPr>
          <a:xfrm>
            <a:off x="914400" y="1828800"/>
            <a:ext cx="6766560" cy="274320"/>
          </a:xfrm>
          <a:prstGeom prst="rect">
            <a:avLst/>
          </a:prstGeom>
          <a:noFill/>
          <a:ln/>
        </p:spPr>
        <p:txBody>
          <a:bodyPr wrap="square" lIns="0" tIns="0" rIns="0" bIns="0" rtlCol="0" anchor="ctr"/>
          <a:lstStyle/>
          <a:p>
            <a:pPr marL="0" indent="0">
              <a:buNone/>
            </a:pPr>
            <a:r>
              <a:rPr lang="en-US" sz="1350" b="1" kern="0" spc="120" dirty="0">
                <a:solidFill>
                  <a:srgbClr val="E9A944"/>
                </a:solidFill>
                <a:latin typeface="Arial" pitchFamily="34" charset="0"/>
                <a:ea typeface="Arial" pitchFamily="34" charset="-122"/>
                <a:cs typeface="Arial" pitchFamily="34" charset="-120"/>
              </a:rPr>
              <a:t>BABAK PENYISIHAN</a:t>
            </a:r>
            <a:endParaRPr lang="en-US" sz="1350" dirty="0"/>
          </a:p>
        </p:txBody>
      </p:sp>
      <p:sp>
        <p:nvSpPr>
          <p:cNvPr id="8" name="Text 6"/>
          <p:cNvSpPr/>
          <p:nvPr/>
        </p:nvSpPr>
        <p:spPr>
          <a:xfrm>
            <a:off x="914400" y="2121408"/>
            <a:ext cx="6766560" cy="219456"/>
          </a:xfrm>
          <a:prstGeom prst="rect">
            <a:avLst/>
          </a:prstGeom>
          <a:noFill/>
          <a:ln/>
        </p:spPr>
        <p:txBody>
          <a:bodyPr wrap="square" lIns="0" tIns="0" rIns="0" bIns="0" rtlCol="0" anchor="ctr"/>
          <a:lstStyle/>
          <a:p>
            <a:pPr marL="0" indent="0">
              <a:buNone/>
            </a:pPr>
            <a:r>
              <a:rPr lang="en-US" sz="850" kern="0" spc="120" dirty="0">
                <a:solidFill>
                  <a:srgbClr val="6E7FA0"/>
                </a:solidFill>
                <a:latin typeface="Arial" pitchFamily="34" charset="0"/>
                <a:ea typeface="Arial" pitchFamily="34" charset="-122"/>
                <a:cs typeface="Arial" pitchFamily="34" charset="-120"/>
              </a:rPr>
              <a:t>ONLINE</a:t>
            </a:r>
            <a:endParaRPr lang="en-US" sz="850" dirty="0"/>
          </a:p>
        </p:txBody>
      </p:sp>
      <p:sp>
        <p:nvSpPr>
          <p:cNvPr id="9" name="Shape 7"/>
          <p:cNvSpPr/>
          <p:nvPr/>
        </p:nvSpPr>
        <p:spPr>
          <a:xfrm>
            <a:off x="1490472" y="3296412"/>
            <a:ext cx="5385816" cy="27432"/>
          </a:xfrm>
          <a:prstGeom prst="rect">
            <a:avLst/>
          </a:prstGeom>
          <a:solidFill>
            <a:srgbClr val="24406F"/>
          </a:solidFill>
          <a:ln w="12700">
            <a:solidFill>
              <a:srgbClr val="333333"/>
            </a:solidFill>
            <a:prstDash val="solid"/>
          </a:ln>
        </p:spPr>
        <p:txBody>
          <a:bodyPr/>
          <a:lstStyle/>
          <a:p>
            <a:endParaRPr lang="en-US"/>
          </a:p>
        </p:txBody>
      </p:sp>
      <p:sp>
        <p:nvSpPr>
          <p:cNvPr id="10" name="Shape 8"/>
          <p:cNvSpPr/>
          <p:nvPr/>
        </p:nvSpPr>
        <p:spPr>
          <a:xfrm>
            <a:off x="1389888" y="3191256"/>
            <a:ext cx="237744" cy="237744"/>
          </a:xfrm>
          <a:prstGeom prst="ellipse">
            <a:avLst/>
          </a:prstGeom>
          <a:solidFill>
            <a:srgbClr val="4ADE80"/>
          </a:solidFill>
          <a:ln w="15875">
            <a:solidFill>
              <a:srgbClr val="060B1C"/>
            </a:solidFill>
            <a:prstDash val="solid"/>
          </a:ln>
        </p:spPr>
        <p:txBody>
          <a:bodyPr/>
          <a:lstStyle/>
          <a:p>
            <a:endParaRPr lang="en-US"/>
          </a:p>
        </p:txBody>
      </p:sp>
      <p:sp>
        <p:nvSpPr>
          <p:cNvPr id="11" name="Text 9"/>
          <p:cNvSpPr/>
          <p:nvPr/>
        </p:nvSpPr>
        <p:spPr>
          <a:xfrm>
            <a:off x="649224" y="2651760"/>
            <a:ext cx="1719072" cy="457200"/>
          </a:xfrm>
          <a:prstGeom prst="rect">
            <a:avLst/>
          </a:prstGeom>
          <a:noFill/>
          <a:ln/>
        </p:spPr>
        <p:txBody>
          <a:bodyPr wrap="square" lIns="0" tIns="0" rIns="0" bIns="0" rtlCol="0" anchor="b"/>
          <a:lstStyle/>
          <a:p>
            <a:pPr marL="0" indent="0" algn="ctr">
              <a:buNone/>
            </a:pPr>
            <a:r>
              <a:rPr lang="en-US" sz="1050" b="1" dirty="0">
                <a:solidFill>
                  <a:srgbClr val="4ADE80"/>
                </a:solidFill>
                <a:latin typeface="Courier New" pitchFamily="34" charset="0"/>
                <a:ea typeface="Courier New" pitchFamily="34" charset="-122"/>
                <a:cs typeface="Courier New" pitchFamily="34" charset="-120"/>
              </a:rPr>
              <a:t>19 Agu 2026</a:t>
            </a:r>
            <a:endParaRPr lang="en-US" sz="1050" dirty="0"/>
          </a:p>
        </p:txBody>
      </p:sp>
      <p:sp>
        <p:nvSpPr>
          <p:cNvPr id="12" name="Text 10"/>
          <p:cNvSpPr/>
          <p:nvPr/>
        </p:nvSpPr>
        <p:spPr>
          <a:xfrm>
            <a:off x="649224" y="3566160"/>
            <a:ext cx="1719072" cy="7772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Technical Meeting Penyisihan</a:t>
            </a:r>
            <a:endParaRPr lang="en-US" sz="1200" dirty="0"/>
          </a:p>
        </p:txBody>
      </p:sp>
      <p:sp>
        <p:nvSpPr>
          <p:cNvPr id="13" name="Shape 11"/>
          <p:cNvSpPr/>
          <p:nvPr/>
        </p:nvSpPr>
        <p:spPr>
          <a:xfrm>
            <a:off x="1069848" y="4389120"/>
            <a:ext cx="877824" cy="237744"/>
          </a:xfrm>
          <a:prstGeom prst="roundRect">
            <a:avLst>
              <a:gd name="adj" fmla="val 15385"/>
            </a:avLst>
          </a:prstGeom>
          <a:solidFill>
            <a:srgbClr val="0E2A1C"/>
          </a:solidFill>
          <a:ln w="9525">
            <a:solidFill>
              <a:srgbClr val="4ADE80"/>
            </a:solidFill>
            <a:prstDash val="solid"/>
          </a:ln>
        </p:spPr>
        <p:txBody>
          <a:bodyPr/>
          <a:lstStyle/>
          <a:p>
            <a:endParaRPr lang="en-US"/>
          </a:p>
        </p:txBody>
      </p:sp>
      <p:sp>
        <p:nvSpPr>
          <p:cNvPr id="14" name="Text 12"/>
          <p:cNvSpPr/>
          <p:nvPr/>
        </p:nvSpPr>
        <p:spPr>
          <a:xfrm>
            <a:off x="1069848" y="4389120"/>
            <a:ext cx="877824" cy="237744"/>
          </a:xfrm>
          <a:prstGeom prst="rect">
            <a:avLst/>
          </a:prstGeom>
          <a:noFill/>
          <a:ln/>
        </p:spPr>
        <p:txBody>
          <a:bodyPr wrap="square" lIns="0" tIns="0" rIns="0" bIns="0" rtlCol="0" anchor="ctr"/>
          <a:lstStyle/>
          <a:p>
            <a:pPr marL="0" indent="0" algn="ctr">
              <a:buNone/>
            </a:pPr>
            <a:r>
              <a:rPr lang="en-US" sz="800" b="1" kern="0" spc="100" dirty="0">
                <a:solidFill>
                  <a:srgbClr val="4ADE80"/>
                </a:solidFill>
                <a:latin typeface="Arial" pitchFamily="34" charset="0"/>
                <a:ea typeface="Arial" pitchFamily="34" charset="-122"/>
                <a:cs typeface="Arial" pitchFamily="34" charset="-120"/>
              </a:rPr>
              <a:t>HARI INI</a:t>
            </a:r>
            <a:endParaRPr lang="en-US" sz="800" dirty="0"/>
          </a:p>
        </p:txBody>
      </p:sp>
      <p:sp>
        <p:nvSpPr>
          <p:cNvPr id="15" name="Shape 13"/>
          <p:cNvSpPr/>
          <p:nvPr/>
        </p:nvSpPr>
        <p:spPr>
          <a:xfrm>
            <a:off x="3209544" y="3227832"/>
            <a:ext cx="164592" cy="164592"/>
          </a:xfrm>
          <a:prstGeom prst="ellipse">
            <a:avLst/>
          </a:prstGeom>
          <a:solidFill>
            <a:srgbClr val="E9A944"/>
          </a:solidFill>
          <a:ln w="15875">
            <a:solidFill>
              <a:srgbClr val="060B1C"/>
            </a:solidFill>
            <a:prstDash val="solid"/>
          </a:ln>
        </p:spPr>
        <p:txBody>
          <a:bodyPr/>
          <a:lstStyle/>
          <a:p>
            <a:endParaRPr lang="en-US"/>
          </a:p>
        </p:txBody>
      </p:sp>
      <p:sp>
        <p:nvSpPr>
          <p:cNvPr id="16" name="Text 14"/>
          <p:cNvSpPr/>
          <p:nvPr/>
        </p:nvSpPr>
        <p:spPr>
          <a:xfrm>
            <a:off x="2432304" y="2651760"/>
            <a:ext cx="1719072" cy="457200"/>
          </a:xfrm>
          <a:prstGeom prst="rect">
            <a:avLst/>
          </a:prstGeom>
          <a:noFill/>
          <a:ln/>
        </p:spPr>
        <p:txBody>
          <a:bodyPr wrap="square" lIns="0" tIns="0" rIns="0" bIns="0" rtlCol="0" anchor="b"/>
          <a:lstStyle/>
          <a:p>
            <a:pPr marL="0" indent="0" algn="ctr">
              <a:buNone/>
            </a:pPr>
            <a:r>
              <a:rPr lang="en-US" sz="1050" b="1" dirty="0">
                <a:solidFill>
                  <a:srgbClr val="9FB0CE"/>
                </a:solidFill>
                <a:latin typeface="Courier New" pitchFamily="34" charset="0"/>
                <a:ea typeface="Courier New" pitchFamily="34" charset="-122"/>
                <a:cs typeface="Courier New" pitchFamily="34" charset="-120"/>
              </a:rPr>
              <a:t>20 Agu · 19.00</a:t>
            </a:r>
            <a:endParaRPr lang="en-US" sz="1050" dirty="0"/>
          </a:p>
        </p:txBody>
      </p:sp>
      <p:sp>
        <p:nvSpPr>
          <p:cNvPr id="17" name="Text 15"/>
          <p:cNvSpPr/>
          <p:nvPr/>
        </p:nvSpPr>
        <p:spPr>
          <a:xfrm>
            <a:off x="2432304" y="3566160"/>
            <a:ext cx="1719072" cy="7772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Rilis dataset resmi</a:t>
            </a:r>
            <a:endParaRPr lang="en-US" sz="1200" dirty="0"/>
          </a:p>
        </p:txBody>
      </p:sp>
      <p:sp>
        <p:nvSpPr>
          <p:cNvPr id="18" name="Shape 16"/>
          <p:cNvSpPr/>
          <p:nvPr/>
        </p:nvSpPr>
        <p:spPr>
          <a:xfrm>
            <a:off x="4992624" y="3227832"/>
            <a:ext cx="164592" cy="164592"/>
          </a:xfrm>
          <a:prstGeom prst="ellipse">
            <a:avLst/>
          </a:prstGeom>
          <a:solidFill>
            <a:srgbClr val="E9A944"/>
          </a:solidFill>
          <a:ln w="15875">
            <a:solidFill>
              <a:srgbClr val="060B1C"/>
            </a:solidFill>
            <a:prstDash val="solid"/>
          </a:ln>
        </p:spPr>
        <p:txBody>
          <a:bodyPr/>
          <a:lstStyle/>
          <a:p>
            <a:endParaRPr lang="en-US"/>
          </a:p>
        </p:txBody>
      </p:sp>
      <p:sp>
        <p:nvSpPr>
          <p:cNvPr id="19" name="Text 17"/>
          <p:cNvSpPr/>
          <p:nvPr/>
        </p:nvSpPr>
        <p:spPr>
          <a:xfrm>
            <a:off x="4215384" y="2651760"/>
            <a:ext cx="1719072" cy="457200"/>
          </a:xfrm>
          <a:prstGeom prst="rect">
            <a:avLst/>
          </a:prstGeom>
          <a:noFill/>
          <a:ln/>
        </p:spPr>
        <p:txBody>
          <a:bodyPr wrap="square" lIns="0" tIns="0" rIns="0" bIns="0" rtlCol="0" anchor="b"/>
          <a:lstStyle/>
          <a:p>
            <a:pPr marL="0" indent="0" algn="ctr">
              <a:buNone/>
            </a:pPr>
            <a:r>
              <a:rPr lang="en-US" sz="1050" b="1" dirty="0">
                <a:solidFill>
                  <a:srgbClr val="9FB0CE"/>
                </a:solidFill>
                <a:latin typeface="Courier New" pitchFamily="34" charset="0"/>
                <a:ea typeface="Courier New" pitchFamily="34" charset="-122"/>
                <a:cs typeface="Courier New" pitchFamily="34" charset="-120"/>
              </a:rPr>
              <a:t>8 Okt 2026</a:t>
            </a:r>
            <a:endParaRPr lang="en-US" sz="1050" dirty="0"/>
          </a:p>
        </p:txBody>
      </p:sp>
      <p:sp>
        <p:nvSpPr>
          <p:cNvPr id="20" name="Text 18"/>
          <p:cNvSpPr/>
          <p:nvPr/>
        </p:nvSpPr>
        <p:spPr>
          <a:xfrm>
            <a:off x="4215384" y="3566160"/>
            <a:ext cx="1719072" cy="7772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Batas pengumpulan infografis</a:t>
            </a:r>
            <a:endParaRPr lang="en-US" sz="1200" dirty="0"/>
          </a:p>
        </p:txBody>
      </p:sp>
      <p:sp>
        <p:nvSpPr>
          <p:cNvPr id="21" name="Shape 19"/>
          <p:cNvSpPr/>
          <p:nvPr/>
        </p:nvSpPr>
        <p:spPr>
          <a:xfrm>
            <a:off x="6775704" y="3227832"/>
            <a:ext cx="164592" cy="164592"/>
          </a:xfrm>
          <a:prstGeom prst="ellipse">
            <a:avLst/>
          </a:prstGeom>
          <a:solidFill>
            <a:srgbClr val="E9A944"/>
          </a:solidFill>
          <a:ln w="15875">
            <a:solidFill>
              <a:srgbClr val="060B1C"/>
            </a:solidFill>
            <a:prstDash val="solid"/>
          </a:ln>
        </p:spPr>
        <p:txBody>
          <a:bodyPr/>
          <a:lstStyle/>
          <a:p>
            <a:endParaRPr lang="en-US"/>
          </a:p>
        </p:txBody>
      </p:sp>
      <p:sp>
        <p:nvSpPr>
          <p:cNvPr id="22" name="Text 20"/>
          <p:cNvSpPr/>
          <p:nvPr/>
        </p:nvSpPr>
        <p:spPr>
          <a:xfrm>
            <a:off x="5998464" y="2651760"/>
            <a:ext cx="1719072" cy="457200"/>
          </a:xfrm>
          <a:prstGeom prst="rect">
            <a:avLst/>
          </a:prstGeom>
          <a:noFill/>
          <a:ln/>
        </p:spPr>
        <p:txBody>
          <a:bodyPr wrap="square" lIns="0" tIns="0" rIns="0" bIns="0" rtlCol="0" anchor="b"/>
          <a:lstStyle/>
          <a:p>
            <a:pPr marL="0" indent="0" algn="ctr">
              <a:buNone/>
            </a:pPr>
            <a:r>
              <a:rPr lang="en-US" sz="1050" b="1" dirty="0">
                <a:solidFill>
                  <a:srgbClr val="9FB0CE"/>
                </a:solidFill>
                <a:latin typeface="Courier New" pitchFamily="34" charset="0"/>
                <a:ea typeface="Courier New" pitchFamily="34" charset="-122"/>
                <a:cs typeface="Courier New" pitchFamily="34" charset="-120"/>
              </a:rPr>
              <a:t>16 Okt 2026</a:t>
            </a:r>
            <a:endParaRPr lang="en-US" sz="1050" dirty="0"/>
          </a:p>
        </p:txBody>
      </p:sp>
      <p:sp>
        <p:nvSpPr>
          <p:cNvPr id="23" name="Text 21"/>
          <p:cNvSpPr/>
          <p:nvPr/>
        </p:nvSpPr>
        <p:spPr>
          <a:xfrm>
            <a:off x="5998464" y="3566160"/>
            <a:ext cx="1719072" cy="7772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Pengumuman Finalis (Top 10)</a:t>
            </a:r>
            <a:endParaRPr lang="en-US" sz="1200" dirty="0"/>
          </a:p>
        </p:txBody>
      </p:sp>
      <p:sp>
        <p:nvSpPr>
          <p:cNvPr id="24" name="Shape 22"/>
          <p:cNvSpPr/>
          <p:nvPr/>
        </p:nvSpPr>
        <p:spPr>
          <a:xfrm>
            <a:off x="8165592" y="1572768"/>
            <a:ext cx="3383280" cy="3474720"/>
          </a:xfrm>
          <a:prstGeom prst="roundRect">
            <a:avLst>
              <a:gd name="adj" fmla="val 1622"/>
            </a:avLst>
          </a:prstGeom>
          <a:solidFill>
            <a:srgbClr val="0D1632">
              <a:alpha val="88000"/>
            </a:srgbClr>
          </a:solidFill>
          <a:ln w="12700">
            <a:solidFill>
              <a:srgbClr val="24406F"/>
            </a:solidFill>
            <a:prstDash val="solid"/>
          </a:ln>
        </p:spPr>
        <p:txBody>
          <a:bodyPr/>
          <a:lstStyle/>
          <a:p>
            <a:endParaRPr lang="en-US"/>
          </a:p>
        </p:txBody>
      </p:sp>
      <p:sp>
        <p:nvSpPr>
          <p:cNvPr id="25" name="Text 23"/>
          <p:cNvSpPr/>
          <p:nvPr/>
        </p:nvSpPr>
        <p:spPr>
          <a:xfrm>
            <a:off x="8439912" y="1828800"/>
            <a:ext cx="2834640" cy="274320"/>
          </a:xfrm>
          <a:prstGeom prst="rect">
            <a:avLst/>
          </a:prstGeom>
          <a:noFill/>
          <a:ln/>
        </p:spPr>
        <p:txBody>
          <a:bodyPr wrap="square" lIns="0" tIns="0" rIns="0" bIns="0" rtlCol="0" anchor="ctr"/>
          <a:lstStyle/>
          <a:p>
            <a:pPr marL="0" indent="0">
              <a:buNone/>
            </a:pPr>
            <a:r>
              <a:rPr lang="en-US" sz="1350" b="1" kern="0" spc="120" dirty="0">
                <a:solidFill>
                  <a:srgbClr val="E9A944"/>
                </a:solidFill>
                <a:latin typeface="Arial" pitchFamily="34" charset="0"/>
                <a:ea typeface="Arial" pitchFamily="34" charset="-122"/>
                <a:cs typeface="Arial" pitchFamily="34" charset="-120"/>
              </a:rPr>
              <a:t>FINAL</a:t>
            </a:r>
            <a:endParaRPr lang="en-US" sz="1350" dirty="0"/>
          </a:p>
        </p:txBody>
      </p:sp>
      <p:sp>
        <p:nvSpPr>
          <p:cNvPr id="26" name="Text 24"/>
          <p:cNvSpPr/>
          <p:nvPr/>
        </p:nvSpPr>
        <p:spPr>
          <a:xfrm>
            <a:off x="8439912" y="2121408"/>
            <a:ext cx="2834640" cy="219456"/>
          </a:xfrm>
          <a:prstGeom prst="rect">
            <a:avLst/>
          </a:prstGeom>
          <a:noFill/>
          <a:ln/>
        </p:spPr>
        <p:txBody>
          <a:bodyPr wrap="square" lIns="0" tIns="0" rIns="0" bIns="0" rtlCol="0" anchor="ctr"/>
          <a:lstStyle/>
          <a:p>
            <a:pPr marL="0" indent="0">
              <a:buNone/>
            </a:pPr>
            <a:r>
              <a:rPr lang="en-US" sz="850" kern="0" spc="120" dirty="0">
                <a:solidFill>
                  <a:srgbClr val="6E7FA0"/>
                </a:solidFill>
                <a:latin typeface="Arial" pitchFamily="34" charset="0"/>
                <a:ea typeface="Arial" pitchFamily="34" charset="-122"/>
                <a:cs typeface="Arial" pitchFamily="34" charset="-120"/>
              </a:rPr>
              <a:t>OFFLINE · UNAIR</a:t>
            </a:r>
            <a:endParaRPr lang="en-US" sz="850" dirty="0"/>
          </a:p>
        </p:txBody>
      </p:sp>
      <p:sp>
        <p:nvSpPr>
          <p:cNvPr id="27" name="Shape 25"/>
          <p:cNvSpPr/>
          <p:nvPr/>
        </p:nvSpPr>
        <p:spPr>
          <a:xfrm>
            <a:off x="9015984" y="3296412"/>
            <a:ext cx="1682496" cy="27432"/>
          </a:xfrm>
          <a:prstGeom prst="rect">
            <a:avLst/>
          </a:prstGeom>
          <a:solidFill>
            <a:srgbClr val="24406F"/>
          </a:solidFill>
          <a:ln w="12700">
            <a:solidFill>
              <a:srgbClr val="333333"/>
            </a:solidFill>
            <a:prstDash val="solid"/>
          </a:ln>
        </p:spPr>
        <p:txBody>
          <a:bodyPr/>
          <a:lstStyle/>
          <a:p>
            <a:endParaRPr lang="en-US"/>
          </a:p>
        </p:txBody>
      </p:sp>
      <p:sp>
        <p:nvSpPr>
          <p:cNvPr id="28" name="Shape 26"/>
          <p:cNvSpPr/>
          <p:nvPr/>
        </p:nvSpPr>
        <p:spPr>
          <a:xfrm>
            <a:off x="8951976" y="3227832"/>
            <a:ext cx="164592" cy="164592"/>
          </a:xfrm>
          <a:prstGeom prst="ellipse">
            <a:avLst/>
          </a:prstGeom>
          <a:solidFill>
            <a:srgbClr val="E9A944"/>
          </a:solidFill>
          <a:ln w="15875">
            <a:solidFill>
              <a:srgbClr val="060B1C"/>
            </a:solidFill>
            <a:prstDash val="solid"/>
          </a:ln>
        </p:spPr>
        <p:txBody>
          <a:bodyPr/>
          <a:lstStyle/>
          <a:p>
            <a:endParaRPr lang="en-US"/>
          </a:p>
        </p:txBody>
      </p:sp>
      <p:sp>
        <p:nvSpPr>
          <p:cNvPr id="29" name="Text 27"/>
          <p:cNvSpPr/>
          <p:nvPr/>
        </p:nvSpPr>
        <p:spPr>
          <a:xfrm>
            <a:off x="8247888" y="2651760"/>
            <a:ext cx="1572768" cy="457200"/>
          </a:xfrm>
          <a:prstGeom prst="rect">
            <a:avLst/>
          </a:prstGeom>
          <a:noFill/>
          <a:ln/>
        </p:spPr>
        <p:txBody>
          <a:bodyPr wrap="square" lIns="0" tIns="0" rIns="0" bIns="0" rtlCol="0" anchor="b"/>
          <a:lstStyle/>
          <a:p>
            <a:pPr marL="0" indent="0" algn="ctr">
              <a:buNone/>
            </a:pPr>
            <a:r>
              <a:rPr lang="en-US" sz="1050" b="1" dirty="0">
                <a:solidFill>
                  <a:srgbClr val="9FB0CE"/>
                </a:solidFill>
                <a:latin typeface="Courier New" pitchFamily="34" charset="0"/>
                <a:ea typeface="Courier New" pitchFamily="34" charset="-122"/>
                <a:cs typeface="Courier New" pitchFamily="34" charset="-120"/>
              </a:rPr>
              <a:t>27 Okt 2026</a:t>
            </a:r>
            <a:endParaRPr lang="en-US" sz="1050" dirty="0"/>
          </a:p>
        </p:txBody>
      </p:sp>
      <p:sp>
        <p:nvSpPr>
          <p:cNvPr id="30" name="Text 28"/>
          <p:cNvSpPr/>
          <p:nvPr/>
        </p:nvSpPr>
        <p:spPr>
          <a:xfrm>
            <a:off x="8247888" y="3566160"/>
            <a:ext cx="1572768" cy="7772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Technical Meeting Final</a:t>
            </a:r>
            <a:endParaRPr lang="en-US" sz="1200" dirty="0"/>
          </a:p>
        </p:txBody>
      </p:sp>
      <p:sp>
        <p:nvSpPr>
          <p:cNvPr id="31" name="Shape 29"/>
          <p:cNvSpPr/>
          <p:nvPr/>
        </p:nvSpPr>
        <p:spPr>
          <a:xfrm>
            <a:off x="10597896" y="3227832"/>
            <a:ext cx="164592" cy="164592"/>
          </a:xfrm>
          <a:prstGeom prst="ellipse">
            <a:avLst/>
          </a:prstGeom>
          <a:solidFill>
            <a:srgbClr val="E9A944"/>
          </a:solidFill>
          <a:ln w="15875">
            <a:solidFill>
              <a:srgbClr val="060B1C"/>
            </a:solidFill>
            <a:prstDash val="solid"/>
          </a:ln>
        </p:spPr>
        <p:txBody>
          <a:bodyPr/>
          <a:lstStyle/>
          <a:p>
            <a:endParaRPr lang="en-US"/>
          </a:p>
        </p:txBody>
      </p:sp>
      <p:sp>
        <p:nvSpPr>
          <p:cNvPr id="32" name="Text 30"/>
          <p:cNvSpPr/>
          <p:nvPr/>
        </p:nvSpPr>
        <p:spPr>
          <a:xfrm>
            <a:off x="9893808" y="2651760"/>
            <a:ext cx="1572768" cy="457200"/>
          </a:xfrm>
          <a:prstGeom prst="rect">
            <a:avLst/>
          </a:prstGeom>
          <a:noFill/>
          <a:ln/>
        </p:spPr>
        <p:txBody>
          <a:bodyPr wrap="square" lIns="0" tIns="0" rIns="0" bIns="0" rtlCol="0" anchor="b"/>
          <a:lstStyle/>
          <a:p>
            <a:pPr marL="0" indent="0" algn="ctr">
              <a:buNone/>
            </a:pPr>
            <a:r>
              <a:rPr lang="en-US" sz="1050" b="1" dirty="0">
                <a:solidFill>
                  <a:srgbClr val="9FB0CE"/>
                </a:solidFill>
                <a:latin typeface="Courier New" pitchFamily="34" charset="0"/>
                <a:ea typeface="Courier New" pitchFamily="34" charset="-122"/>
                <a:cs typeface="Courier New" pitchFamily="34" charset="-120"/>
              </a:rPr>
              <a:t>28 Okt 2026</a:t>
            </a:r>
            <a:endParaRPr lang="en-US" sz="1050" dirty="0"/>
          </a:p>
        </p:txBody>
      </p:sp>
      <p:sp>
        <p:nvSpPr>
          <p:cNvPr id="33" name="Text 31"/>
          <p:cNvSpPr/>
          <p:nvPr/>
        </p:nvSpPr>
        <p:spPr>
          <a:xfrm>
            <a:off x="9893808" y="3566160"/>
            <a:ext cx="1572768" cy="7772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Final &amp; Awarding</a:t>
            </a:r>
            <a:endParaRPr lang="en-US" sz="1200" dirty="0"/>
          </a:p>
        </p:txBody>
      </p:sp>
      <p:sp>
        <p:nvSpPr>
          <p:cNvPr id="34" name="Text 32"/>
          <p:cNvSpPr/>
          <p:nvPr/>
        </p:nvSpPr>
        <p:spPr>
          <a:xfrm>
            <a:off x="8439912" y="3977640"/>
            <a:ext cx="2834640" cy="822960"/>
          </a:xfrm>
          <a:prstGeom prst="rect">
            <a:avLst/>
          </a:prstGeom>
          <a:noFill/>
          <a:ln/>
        </p:spPr>
        <p:txBody>
          <a:bodyPr wrap="square" lIns="0" tIns="0" rIns="0" bIns="0" rtlCol="0" anchor="ctr"/>
          <a:lstStyle/>
          <a:p>
            <a:pPr marL="0" indent="0">
              <a:buNone/>
            </a:pPr>
            <a:r>
              <a:rPr lang="en-US" sz="1150" i="1" dirty="0">
                <a:solidFill>
                  <a:srgbClr val="6E7FA0"/>
                </a:solidFill>
                <a:latin typeface="Calibri" pitchFamily="34" charset="0"/>
                <a:ea typeface="Calibri" pitchFamily="34" charset="-122"/>
                <a:cs typeface="Calibri" pitchFamily="34" charset="-120"/>
              </a:rPr>
              <a:t>Digelar luring di UNAIR, bagian dari rangkaian Campus Data Week 27–29 Oktober 2026.</a:t>
            </a:r>
            <a:endParaRPr lang="en-US" sz="1150" dirty="0"/>
          </a:p>
        </p:txBody>
      </p:sp>
      <p:sp>
        <p:nvSpPr>
          <p:cNvPr id="35" name="Shape 33"/>
          <p:cNvSpPr/>
          <p:nvPr/>
        </p:nvSpPr>
        <p:spPr>
          <a:xfrm>
            <a:off x="640080" y="5321808"/>
            <a:ext cx="10908792" cy="640080"/>
          </a:xfrm>
          <a:prstGeom prst="roundRect">
            <a:avLst>
              <a:gd name="adj" fmla="val 8571"/>
            </a:avLst>
          </a:prstGeom>
          <a:solidFill>
            <a:srgbClr val="1A1206">
              <a:alpha val="45000"/>
            </a:srgbClr>
          </a:solidFill>
          <a:ln w="12700">
            <a:solidFill>
              <a:srgbClr val="8A6420"/>
            </a:solidFill>
            <a:prstDash val="solid"/>
          </a:ln>
        </p:spPr>
        <p:txBody>
          <a:bodyPr/>
          <a:lstStyle/>
          <a:p>
            <a:endParaRPr lang="en-US"/>
          </a:p>
        </p:txBody>
      </p:sp>
      <p:sp>
        <p:nvSpPr>
          <p:cNvPr id="36" name="Text 34"/>
          <p:cNvSpPr/>
          <p:nvPr/>
        </p:nvSpPr>
        <p:spPr>
          <a:xfrm>
            <a:off x="914400" y="5321808"/>
            <a:ext cx="10424160" cy="640080"/>
          </a:xfrm>
          <a:prstGeom prst="rect">
            <a:avLst/>
          </a:prstGeom>
          <a:noFill/>
          <a:ln/>
        </p:spPr>
        <p:txBody>
          <a:bodyPr wrap="square" lIns="0" tIns="0" rIns="0" bIns="0" rtlCol="0" anchor="ctr"/>
          <a:lstStyle/>
          <a:p>
            <a:pPr marL="0" indent="0">
              <a:buNone/>
            </a:pPr>
            <a:r>
              <a:rPr lang="en-US" sz="1250" dirty="0">
                <a:solidFill>
                  <a:srgbClr val="9FB0CE"/>
                </a:solidFill>
                <a:latin typeface="Calibri" pitchFamily="34" charset="0"/>
                <a:ea typeface="Calibri" pitchFamily="34" charset="-122"/>
                <a:cs typeface="Calibri" pitchFamily="34" charset="-120"/>
              </a:rPr>
              <a:t>Catat dua tenggat kunci:  </a:t>
            </a:r>
            <a:r>
              <a:rPr lang="en-US" sz="1250" b="1" dirty="0">
                <a:solidFill>
                  <a:srgbClr val="E9A944"/>
                </a:solidFill>
                <a:latin typeface="Calibri" pitchFamily="34" charset="0"/>
                <a:ea typeface="Calibri" pitchFamily="34" charset="-122"/>
                <a:cs typeface="Calibri" pitchFamily="34" charset="-120"/>
              </a:rPr>
              <a:t>rilis dataset 20 Agustus 19.00 WIB</a:t>
            </a:r>
            <a:r>
              <a:rPr lang="en-US" sz="1250" dirty="0">
                <a:solidFill>
                  <a:srgbClr val="9FB0CE"/>
                </a:solidFill>
                <a:latin typeface="Calibri" pitchFamily="34" charset="0"/>
                <a:ea typeface="Calibri" pitchFamily="34" charset="-122"/>
                <a:cs typeface="Calibri" pitchFamily="34" charset="-120"/>
              </a:rPr>
              <a:t>  dan  </a:t>
            </a:r>
            <a:r>
              <a:rPr lang="en-US" sz="1250" b="1" dirty="0">
                <a:solidFill>
                  <a:srgbClr val="E9A944"/>
                </a:solidFill>
                <a:latin typeface="Calibri" pitchFamily="34" charset="0"/>
                <a:ea typeface="Calibri" pitchFamily="34" charset="-122"/>
                <a:cs typeface="Calibri" pitchFamily="34" charset="-120"/>
              </a:rPr>
              <a:t>batas unggah karya 8 Oktober 2026</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02</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Brief Babak Penyisihan</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04</a:t>
            </a:r>
            <a:endParaRPr lang="en-US" sz="1100" dirty="0"/>
          </a:p>
        </p:txBody>
      </p:sp>
      <p:sp>
        <p:nvSpPr>
          <p:cNvPr id="6" name="Shape 4"/>
          <p:cNvSpPr/>
          <p:nvPr/>
        </p:nvSpPr>
        <p:spPr>
          <a:xfrm>
            <a:off x="640080" y="1572768"/>
            <a:ext cx="10908792" cy="1920240"/>
          </a:xfrm>
          <a:prstGeom prst="roundRect">
            <a:avLst>
              <a:gd name="adj" fmla="val 2857"/>
            </a:avLst>
          </a:prstGeom>
          <a:solidFill>
            <a:srgbClr val="1A1206">
              <a:alpha val="45000"/>
            </a:srgbClr>
          </a:solidFill>
          <a:ln w="12700">
            <a:solidFill>
              <a:srgbClr val="8A6420"/>
            </a:solidFill>
            <a:prstDash val="solid"/>
          </a:ln>
        </p:spPr>
        <p:txBody>
          <a:bodyPr/>
          <a:lstStyle/>
          <a:p>
            <a:endParaRPr lang="en-US"/>
          </a:p>
        </p:txBody>
      </p:sp>
      <p:sp>
        <p:nvSpPr>
          <p:cNvPr id="7" name="Text 5"/>
          <p:cNvSpPr/>
          <p:nvPr/>
        </p:nvSpPr>
        <p:spPr>
          <a:xfrm>
            <a:off x="960120" y="1828800"/>
            <a:ext cx="7589520" cy="256032"/>
          </a:xfrm>
          <a:prstGeom prst="rect">
            <a:avLst/>
          </a:prstGeom>
          <a:noFill/>
          <a:ln/>
        </p:spPr>
        <p:txBody>
          <a:bodyPr wrap="square" lIns="0" tIns="0" rIns="0" bIns="0" rtlCol="0" anchor="ctr"/>
          <a:lstStyle/>
          <a:p>
            <a:pPr marL="0" indent="0">
              <a:buNone/>
            </a:pPr>
            <a:r>
              <a:rPr lang="en-US" sz="1000" b="1" kern="0" spc="160" dirty="0">
                <a:solidFill>
                  <a:srgbClr val="E9A944"/>
                </a:solidFill>
                <a:latin typeface="Arial" pitchFamily="34" charset="0"/>
                <a:ea typeface="Arial" pitchFamily="34" charset="-122"/>
                <a:cs typeface="Arial" pitchFamily="34" charset="-120"/>
              </a:rPr>
              <a:t>TUGAS PESERTA</a:t>
            </a:r>
            <a:endParaRPr lang="en-US" sz="1000" dirty="0"/>
          </a:p>
        </p:txBody>
      </p:sp>
      <p:sp>
        <p:nvSpPr>
          <p:cNvPr id="8" name="Text 6"/>
          <p:cNvSpPr/>
          <p:nvPr/>
        </p:nvSpPr>
        <p:spPr>
          <a:xfrm>
            <a:off x="960120" y="2148840"/>
            <a:ext cx="7863840" cy="50292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Menyusun </a:t>
            </a:r>
            <a:r>
              <a:rPr lang="en-US" sz="2300" b="1" dirty="0">
                <a:solidFill>
                  <a:srgbClr val="E9A944"/>
                </a:solidFill>
                <a:latin typeface="Arial" pitchFamily="34" charset="0"/>
                <a:ea typeface="Arial" pitchFamily="34" charset="-122"/>
                <a:cs typeface="Arial" pitchFamily="34" charset="-120"/>
              </a:rPr>
              <a:t>1 infografis statis</a:t>
            </a:r>
            <a:r>
              <a:rPr lang="en-US" sz="2300" b="1" dirty="0">
                <a:solidFill>
                  <a:srgbClr val="FFFFFF"/>
                </a:solidFill>
                <a:latin typeface="Arial" pitchFamily="34" charset="0"/>
                <a:ea typeface="Arial" pitchFamily="34" charset="-122"/>
                <a:cs typeface="Arial" pitchFamily="34" charset="-120"/>
              </a:rPr>
              <a:t> dari dataset resmi</a:t>
            </a:r>
            <a:endParaRPr lang="en-US" sz="2300" dirty="0"/>
          </a:p>
        </p:txBody>
      </p:sp>
      <p:sp>
        <p:nvSpPr>
          <p:cNvPr id="9" name="Text 7"/>
          <p:cNvSpPr/>
          <p:nvPr/>
        </p:nvSpPr>
        <p:spPr>
          <a:xfrm>
            <a:off x="960120" y="2724912"/>
            <a:ext cx="7772400" cy="548640"/>
          </a:xfrm>
          <a:prstGeom prst="rect">
            <a:avLst/>
          </a:prstGeom>
          <a:noFill/>
          <a:ln/>
        </p:spPr>
        <p:txBody>
          <a:bodyPr wrap="square" lIns="0" tIns="0" rIns="0" bIns="0" rtlCol="0" anchor="ctr"/>
          <a:lstStyle/>
          <a:p>
            <a:pPr marL="0" indent="0">
              <a:buNone/>
            </a:pPr>
            <a:r>
              <a:rPr lang="en-US" sz="1300" dirty="0">
                <a:solidFill>
                  <a:srgbClr val="9FB0CE"/>
                </a:solidFill>
                <a:latin typeface="Calibri" pitchFamily="34" charset="0"/>
                <a:ea typeface="Calibri" pitchFamily="34" charset="-122"/>
                <a:cs typeface="Calibri" pitchFamily="34" charset="-120"/>
              </a:rPr>
              <a:t>Seluruh angka, temuan, dan narasi dalam karya harus dapat ditelusuri ke dataset yang dirilis panitia pada 20 Agustus 2026.</a:t>
            </a:r>
            <a:endParaRPr lang="en-US" sz="1300" dirty="0"/>
          </a:p>
        </p:txBody>
      </p:sp>
      <p:sp>
        <p:nvSpPr>
          <p:cNvPr id="10" name="Shape 8"/>
          <p:cNvSpPr/>
          <p:nvPr/>
        </p:nvSpPr>
        <p:spPr>
          <a:xfrm>
            <a:off x="9006840" y="1874520"/>
            <a:ext cx="10973" cy="1325880"/>
          </a:xfrm>
          <a:prstGeom prst="rect">
            <a:avLst/>
          </a:prstGeom>
          <a:solidFill>
            <a:srgbClr val="8A6420"/>
          </a:solidFill>
          <a:ln w="12700">
            <a:solidFill>
              <a:srgbClr val="333333"/>
            </a:solidFill>
            <a:prstDash val="solid"/>
          </a:ln>
        </p:spPr>
        <p:txBody>
          <a:bodyPr/>
          <a:lstStyle/>
          <a:p>
            <a:endParaRPr lang="en-US"/>
          </a:p>
        </p:txBody>
      </p:sp>
      <p:sp>
        <p:nvSpPr>
          <p:cNvPr id="11" name="Text 9"/>
          <p:cNvSpPr/>
          <p:nvPr/>
        </p:nvSpPr>
        <p:spPr>
          <a:xfrm>
            <a:off x="9326880" y="1874520"/>
            <a:ext cx="2011680" cy="256032"/>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KOMPOSISI TIM</a:t>
            </a:r>
            <a:endParaRPr lang="en-US" sz="950" dirty="0"/>
          </a:p>
        </p:txBody>
      </p:sp>
      <p:sp>
        <p:nvSpPr>
          <p:cNvPr id="12" name="Text 10"/>
          <p:cNvSpPr/>
          <p:nvPr/>
        </p:nvSpPr>
        <p:spPr>
          <a:xfrm>
            <a:off x="9326880" y="2176272"/>
            <a:ext cx="2011680" cy="54864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3</a:t>
            </a:r>
            <a:r>
              <a:rPr lang="en-US" sz="1600" dirty="0">
                <a:solidFill>
                  <a:srgbClr val="FFFFFF"/>
                </a:solidFill>
                <a:latin typeface="Calibri" pitchFamily="34" charset="0"/>
                <a:ea typeface="Calibri" pitchFamily="34" charset="-122"/>
                <a:cs typeface="Calibri" pitchFamily="34" charset="-120"/>
              </a:rPr>
              <a:t>  orang</a:t>
            </a:r>
            <a:endParaRPr lang="en-US" sz="3800" dirty="0"/>
          </a:p>
        </p:txBody>
      </p:sp>
      <p:sp>
        <p:nvSpPr>
          <p:cNvPr id="13" name="Text 11"/>
          <p:cNvSpPr/>
          <p:nvPr/>
        </p:nvSpPr>
        <p:spPr>
          <a:xfrm>
            <a:off x="9326880" y="2743200"/>
            <a:ext cx="2103120" cy="548640"/>
          </a:xfrm>
          <a:prstGeom prst="rect">
            <a:avLst/>
          </a:prstGeom>
          <a:noFill/>
          <a:ln/>
        </p:spPr>
        <p:txBody>
          <a:bodyPr wrap="square" lIns="0" tIns="0" rIns="0" bIns="0" rtlCol="0" anchor="ctr"/>
          <a:lstStyle/>
          <a:p>
            <a:pPr marL="0" indent="0">
              <a:buNone/>
            </a:pPr>
            <a:r>
              <a:rPr lang="en-US" sz="1100" dirty="0">
                <a:solidFill>
                  <a:srgbClr val="9FB0CE"/>
                </a:solidFill>
                <a:latin typeface="Calibri" pitchFamily="34" charset="0"/>
                <a:ea typeface="Calibri" pitchFamily="34" charset="-122"/>
                <a:cs typeface="Calibri" pitchFamily="34" charset="-120"/>
              </a:rPr>
              <a:t>Hanya anggota yang terdaftar yang boleh mengerjakan karya.</a:t>
            </a:r>
            <a:endParaRPr lang="en-US" sz="1100" dirty="0"/>
          </a:p>
        </p:txBody>
      </p:sp>
      <p:sp>
        <p:nvSpPr>
          <p:cNvPr id="14" name="Shape 12"/>
          <p:cNvSpPr/>
          <p:nvPr/>
        </p:nvSpPr>
        <p:spPr>
          <a:xfrm>
            <a:off x="640080" y="3703320"/>
            <a:ext cx="3429000" cy="2240280"/>
          </a:xfrm>
          <a:prstGeom prst="roundRect">
            <a:avLst>
              <a:gd name="adj" fmla="val 2449"/>
            </a:avLst>
          </a:prstGeom>
          <a:solidFill>
            <a:srgbClr val="0D1632">
              <a:alpha val="88000"/>
            </a:srgbClr>
          </a:solidFill>
          <a:ln w="12700">
            <a:solidFill>
              <a:srgbClr val="24406F"/>
            </a:solidFill>
            <a:prstDash val="solid"/>
          </a:ln>
        </p:spPr>
        <p:txBody>
          <a:bodyPr/>
          <a:lstStyle/>
          <a:p>
            <a:endParaRPr lang="en-US"/>
          </a:p>
        </p:txBody>
      </p:sp>
      <p:sp>
        <p:nvSpPr>
          <p:cNvPr id="15" name="Shape 13"/>
          <p:cNvSpPr/>
          <p:nvPr/>
        </p:nvSpPr>
        <p:spPr>
          <a:xfrm>
            <a:off x="914400" y="3977640"/>
            <a:ext cx="402336" cy="402336"/>
          </a:xfrm>
          <a:prstGeom prst="roundRect">
            <a:avLst>
              <a:gd name="adj" fmla="val 11364"/>
            </a:avLst>
          </a:prstGeom>
          <a:solidFill>
            <a:srgbClr val="1A1206"/>
          </a:solidFill>
          <a:ln w="12700">
            <a:solidFill>
              <a:srgbClr val="E9A944"/>
            </a:solidFill>
            <a:prstDash val="solid"/>
          </a:ln>
        </p:spPr>
        <p:txBody>
          <a:bodyPr/>
          <a:lstStyle/>
          <a:p>
            <a:endParaRPr lang="en-US"/>
          </a:p>
        </p:txBody>
      </p:sp>
      <p:sp>
        <p:nvSpPr>
          <p:cNvPr id="16" name="Text 14"/>
          <p:cNvSpPr/>
          <p:nvPr/>
        </p:nvSpPr>
        <p:spPr>
          <a:xfrm>
            <a:off x="914400" y="3977640"/>
            <a:ext cx="402336" cy="402336"/>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01</a:t>
            </a:r>
            <a:endParaRPr lang="en-US" sz="1200" dirty="0"/>
          </a:p>
        </p:txBody>
      </p:sp>
      <p:sp>
        <p:nvSpPr>
          <p:cNvPr id="17" name="Text 15"/>
          <p:cNvSpPr/>
          <p:nvPr/>
        </p:nvSpPr>
        <p:spPr>
          <a:xfrm>
            <a:off x="1463040" y="3986784"/>
            <a:ext cx="23317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Ambil dataset</a:t>
            </a:r>
            <a:endParaRPr lang="en-US" sz="1500" dirty="0"/>
          </a:p>
        </p:txBody>
      </p:sp>
      <p:sp>
        <p:nvSpPr>
          <p:cNvPr id="18" name="Text 16"/>
          <p:cNvSpPr/>
          <p:nvPr/>
        </p:nvSpPr>
        <p:spPr>
          <a:xfrm>
            <a:off x="914400" y="4480560"/>
            <a:ext cx="2880360" cy="1280160"/>
          </a:xfrm>
          <a:prstGeom prst="rect">
            <a:avLst/>
          </a:prstGeom>
          <a:noFill/>
          <a:ln/>
        </p:spPr>
        <p:txBody>
          <a:bodyPr wrap="square" lIns="0" tIns="0" rIns="0" bIns="0" rtlCol="0" anchor="ctr"/>
          <a:lstStyle/>
          <a:p>
            <a:pPr marL="0" indent="0">
              <a:buNone/>
            </a:pPr>
            <a:r>
              <a:rPr lang="en-US" sz="1250" dirty="0">
                <a:solidFill>
                  <a:srgbClr val="9FB0CE"/>
                </a:solidFill>
                <a:latin typeface="Calibri" pitchFamily="34" charset="0"/>
                <a:ea typeface="Calibri" pitchFamily="34" charset="-122"/>
                <a:cs typeface="Calibri" pitchFamily="34" charset="-120"/>
              </a:rPr>
              <a:t>Dataset resmi dirilis 20 Agustus 2026 pukul 19.00 WIB melalui portal Campus Data Week.</a:t>
            </a:r>
            <a:endParaRPr lang="en-US" sz="1250" dirty="0"/>
          </a:p>
        </p:txBody>
      </p:sp>
      <p:sp>
        <p:nvSpPr>
          <p:cNvPr id="19" name="Shape 17"/>
          <p:cNvSpPr/>
          <p:nvPr/>
        </p:nvSpPr>
        <p:spPr>
          <a:xfrm>
            <a:off x="4379976" y="3703320"/>
            <a:ext cx="3429000" cy="2240280"/>
          </a:xfrm>
          <a:prstGeom prst="roundRect">
            <a:avLst>
              <a:gd name="adj" fmla="val 2449"/>
            </a:avLst>
          </a:prstGeom>
          <a:solidFill>
            <a:srgbClr val="0D1632">
              <a:alpha val="88000"/>
            </a:srgbClr>
          </a:solidFill>
          <a:ln w="12700">
            <a:solidFill>
              <a:srgbClr val="24406F"/>
            </a:solidFill>
            <a:prstDash val="solid"/>
          </a:ln>
        </p:spPr>
        <p:txBody>
          <a:bodyPr/>
          <a:lstStyle/>
          <a:p>
            <a:endParaRPr lang="en-US"/>
          </a:p>
        </p:txBody>
      </p:sp>
      <p:sp>
        <p:nvSpPr>
          <p:cNvPr id="20" name="Shape 18"/>
          <p:cNvSpPr/>
          <p:nvPr/>
        </p:nvSpPr>
        <p:spPr>
          <a:xfrm>
            <a:off x="4654296" y="3977640"/>
            <a:ext cx="402336" cy="402336"/>
          </a:xfrm>
          <a:prstGeom prst="roundRect">
            <a:avLst>
              <a:gd name="adj" fmla="val 11364"/>
            </a:avLst>
          </a:prstGeom>
          <a:solidFill>
            <a:srgbClr val="1A1206"/>
          </a:solidFill>
          <a:ln w="12700">
            <a:solidFill>
              <a:srgbClr val="E9A944"/>
            </a:solidFill>
            <a:prstDash val="solid"/>
          </a:ln>
        </p:spPr>
        <p:txBody>
          <a:bodyPr/>
          <a:lstStyle/>
          <a:p>
            <a:endParaRPr lang="en-US"/>
          </a:p>
        </p:txBody>
      </p:sp>
      <p:sp>
        <p:nvSpPr>
          <p:cNvPr id="21" name="Text 19"/>
          <p:cNvSpPr/>
          <p:nvPr/>
        </p:nvSpPr>
        <p:spPr>
          <a:xfrm>
            <a:off x="4654296" y="3977640"/>
            <a:ext cx="402336" cy="402336"/>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02</a:t>
            </a:r>
            <a:endParaRPr lang="en-US" sz="1200" dirty="0"/>
          </a:p>
        </p:txBody>
      </p:sp>
      <p:sp>
        <p:nvSpPr>
          <p:cNvPr id="22" name="Text 20"/>
          <p:cNvSpPr/>
          <p:nvPr/>
        </p:nvSpPr>
        <p:spPr>
          <a:xfrm>
            <a:off x="5202936" y="3986784"/>
            <a:ext cx="23317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Susun infografis</a:t>
            </a:r>
            <a:endParaRPr lang="en-US" sz="1500" dirty="0"/>
          </a:p>
        </p:txBody>
      </p:sp>
      <p:sp>
        <p:nvSpPr>
          <p:cNvPr id="23" name="Text 21"/>
          <p:cNvSpPr/>
          <p:nvPr/>
        </p:nvSpPr>
        <p:spPr>
          <a:xfrm>
            <a:off x="4654296" y="4480560"/>
            <a:ext cx="2880360" cy="1280160"/>
          </a:xfrm>
          <a:prstGeom prst="rect">
            <a:avLst/>
          </a:prstGeom>
          <a:noFill/>
          <a:ln/>
        </p:spPr>
        <p:txBody>
          <a:bodyPr wrap="square" lIns="0" tIns="0" rIns="0" bIns="0" rtlCol="0" anchor="ctr"/>
          <a:lstStyle/>
          <a:p>
            <a:pPr marL="0" indent="0">
              <a:buNone/>
            </a:pPr>
            <a:r>
              <a:rPr lang="en-US" sz="1250" dirty="0">
                <a:solidFill>
                  <a:srgbClr val="9FB0CE"/>
                </a:solidFill>
                <a:latin typeface="Calibri" pitchFamily="34" charset="0"/>
                <a:ea typeface="Calibri" pitchFamily="34" charset="-122"/>
                <a:cs typeface="Calibri" pitchFamily="34" charset="-120"/>
              </a:rPr>
              <a:t>Satu karya utuh, statis, satu halaman. Bebas memilih sudut cerita selama bersumber dari dataset resmi.</a:t>
            </a:r>
            <a:endParaRPr lang="en-US" sz="1250" dirty="0"/>
          </a:p>
        </p:txBody>
      </p:sp>
      <p:sp>
        <p:nvSpPr>
          <p:cNvPr id="24" name="Shape 22"/>
          <p:cNvSpPr/>
          <p:nvPr/>
        </p:nvSpPr>
        <p:spPr>
          <a:xfrm>
            <a:off x="8119872" y="3703320"/>
            <a:ext cx="3429000" cy="2240280"/>
          </a:xfrm>
          <a:prstGeom prst="roundRect">
            <a:avLst>
              <a:gd name="adj" fmla="val 2449"/>
            </a:avLst>
          </a:prstGeom>
          <a:solidFill>
            <a:srgbClr val="0D1632">
              <a:alpha val="88000"/>
            </a:srgbClr>
          </a:solidFill>
          <a:ln w="12700">
            <a:solidFill>
              <a:srgbClr val="24406F"/>
            </a:solidFill>
            <a:prstDash val="solid"/>
          </a:ln>
        </p:spPr>
        <p:txBody>
          <a:bodyPr/>
          <a:lstStyle/>
          <a:p>
            <a:endParaRPr lang="en-US"/>
          </a:p>
        </p:txBody>
      </p:sp>
      <p:sp>
        <p:nvSpPr>
          <p:cNvPr id="25" name="Shape 23"/>
          <p:cNvSpPr/>
          <p:nvPr/>
        </p:nvSpPr>
        <p:spPr>
          <a:xfrm>
            <a:off x="8394192" y="3977640"/>
            <a:ext cx="402336" cy="402336"/>
          </a:xfrm>
          <a:prstGeom prst="roundRect">
            <a:avLst>
              <a:gd name="adj" fmla="val 11364"/>
            </a:avLst>
          </a:prstGeom>
          <a:solidFill>
            <a:srgbClr val="1A1206"/>
          </a:solidFill>
          <a:ln w="12700">
            <a:solidFill>
              <a:srgbClr val="E9A944"/>
            </a:solidFill>
            <a:prstDash val="solid"/>
          </a:ln>
        </p:spPr>
        <p:txBody>
          <a:bodyPr/>
          <a:lstStyle/>
          <a:p>
            <a:endParaRPr lang="en-US"/>
          </a:p>
        </p:txBody>
      </p:sp>
      <p:sp>
        <p:nvSpPr>
          <p:cNvPr id="26" name="Text 24"/>
          <p:cNvSpPr/>
          <p:nvPr/>
        </p:nvSpPr>
        <p:spPr>
          <a:xfrm>
            <a:off x="8394192" y="3977640"/>
            <a:ext cx="402336" cy="402336"/>
          </a:xfrm>
          <a:prstGeom prst="rect">
            <a:avLst/>
          </a:prstGeom>
          <a:noFill/>
          <a:ln/>
        </p:spPr>
        <p:txBody>
          <a:bodyPr wrap="square" lIns="0" tIns="0" rIns="0" bIns="0" rtlCol="0" anchor="ctr"/>
          <a:lstStyle/>
          <a:p>
            <a:pPr marL="0" indent="0" algn="ctr">
              <a:buNone/>
            </a:pPr>
            <a:r>
              <a:rPr lang="en-US" sz="1200" b="1" dirty="0">
                <a:solidFill>
                  <a:srgbClr val="E9A944"/>
                </a:solidFill>
                <a:latin typeface="Arial" pitchFamily="34" charset="0"/>
                <a:ea typeface="Arial" pitchFamily="34" charset="-122"/>
                <a:cs typeface="Arial" pitchFamily="34" charset="-120"/>
              </a:rPr>
              <a:t>03</a:t>
            </a:r>
            <a:endParaRPr lang="en-US" sz="1200" dirty="0"/>
          </a:p>
        </p:txBody>
      </p:sp>
      <p:sp>
        <p:nvSpPr>
          <p:cNvPr id="27" name="Text 25"/>
          <p:cNvSpPr/>
          <p:nvPr/>
        </p:nvSpPr>
        <p:spPr>
          <a:xfrm>
            <a:off x="8942832" y="3986784"/>
            <a:ext cx="233172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Unggah ke portal</a:t>
            </a:r>
            <a:endParaRPr lang="en-US" sz="1500" dirty="0"/>
          </a:p>
        </p:txBody>
      </p:sp>
      <p:sp>
        <p:nvSpPr>
          <p:cNvPr id="28" name="Text 26"/>
          <p:cNvSpPr/>
          <p:nvPr/>
        </p:nvSpPr>
        <p:spPr>
          <a:xfrm>
            <a:off x="8394192" y="4480560"/>
            <a:ext cx="2880360" cy="1280160"/>
          </a:xfrm>
          <a:prstGeom prst="rect">
            <a:avLst/>
          </a:prstGeom>
          <a:noFill/>
          <a:ln/>
        </p:spPr>
        <p:txBody>
          <a:bodyPr wrap="square" lIns="0" tIns="0" rIns="0" bIns="0" rtlCol="0" anchor="ctr"/>
          <a:lstStyle/>
          <a:p>
            <a:pPr marL="0" indent="0">
              <a:buNone/>
            </a:pPr>
            <a:r>
              <a:rPr lang="en-US" sz="1250" dirty="0">
                <a:solidFill>
                  <a:srgbClr val="9FB0CE"/>
                </a:solidFill>
                <a:latin typeface="Calibri" pitchFamily="34" charset="0"/>
                <a:ea typeface="Calibri" pitchFamily="34" charset="-122"/>
                <a:cs typeface="Calibri" pitchFamily="34" charset="-120"/>
              </a:rPr>
              <a:t>Pengumpulan hanya melalui portal Campus Data Week, paling lambat 8 Oktober 2026.</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02</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Tentang Dataset</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05</a:t>
            </a:r>
            <a:endParaRPr lang="en-US" sz="1100" dirty="0"/>
          </a:p>
        </p:txBody>
      </p:sp>
      <p:sp>
        <p:nvSpPr>
          <p:cNvPr id="6" name="Shape 4"/>
          <p:cNvSpPr/>
          <p:nvPr/>
        </p:nvSpPr>
        <p:spPr>
          <a:xfrm>
            <a:off x="640080" y="1463040"/>
            <a:ext cx="6675120" cy="1874520"/>
          </a:xfrm>
          <a:prstGeom prst="roundRect">
            <a:avLst>
              <a:gd name="adj" fmla="val 2927"/>
            </a:avLst>
          </a:prstGeom>
          <a:solidFill>
            <a:srgbClr val="0D1632">
              <a:alpha val="88000"/>
            </a:srgbClr>
          </a:solidFill>
          <a:ln w="12700">
            <a:solidFill>
              <a:srgbClr val="24406F"/>
            </a:solidFill>
            <a:prstDash val="solid"/>
          </a:ln>
        </p:spPr>
        <p:txBody>
          <a:bodyPr/>
          <a:lstStyle/>
          <a:p>
            <a:endParaRPr lang="en-US"/>
          </a:p>
        </p:txBody>
      </p:sp>
      <p:sp>
        <p:nvSpPr>
          <p:cNvPr id="7" name="Text 5"/>
          <p:cNvSpPr/>
          <p:nvPr/>
        </p:nvSpPr>
        <p:spPr>
          <a:xfrm>
            <a:off x="914400" y="1691640"/>
            <a:ext cx="612648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TEMA DATASET</a:t>
            </a:r>
            <a:endParaRPr lang="en-US" sz="950" dirty="0"/>
          </a:p>
        </p:txBody>
      </p:sp>
      <p:sp>
        <p:nvSpPr>
          <p:cNvPr id="8" name="Text 6"/>
          <p:cNvSpPr/>
          <p:nvPr/>
        </p:nvSpPr>
        <p:spPr>
          <a:xfrm>
            <a:off x="914400" y="1965960"/>
            <a:ext cx="612648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Data mahasiswa di sebuah universitas</a:t>
            </a:r>
            <a:endParaRPr lang="en-US" sz="2200" dirty="0"/>
          </a:p>
        </p:txBody>
      </p:sp>
      <p:sp>
        <p:nvSpPr>
          <p:cNvPr id="9" name="Text 7"/>
          <p:cNvSpPr/>
          <p:nvPr/>
        </p:nvSpPr>
        <p:spPr>
          <a:xfrm>
            <a:off x="914400" y="2487168"/>
            <a:ext cx="6126480" cy="640080"/>
          </a:xfrm>
          <a:prstGeom prst="rect">
            <a:avLst/>
          </a:prstGeom>
          <a:noFill/>
          <a:ln/>
        </p:spPr>
        <p:txBody>
          <a:bodyPr wrap="square" lIns="0" tIns="0" rIns="0" bIns="0" rtlCol="0" anchor="ctr"/>
          <a:lstStyle/>
          <a:p>
            <a:pPr marL="0" indent="0">
              <a:buNone/>
            </a:pPr>
            <a:r>
              <a:rPr lang="en-US" sz="1250" dirty="0">
                <a:solidFill>
                  <a:srgbClr val="9FB0CE"/>
                </a:solidFill>
                <a:latin typeface="Calibri" pitchFamily="34" charset="0"/>
                <a:ea typeface="Calibri" pitchFamily="34" charset="-122"/>
                <a:cs typeface="Calibri" pitchFamily="34" charset="-120"/>
              </a:rPr>
              <a:t>Satu universitas anonim yang disebut sebagai “Universitas X”. Sudut cerita bebas Anda tentukan dari isi dataset.</a:t>
            </a:r>
            <a:endParaRPr lang="en-US" sz="1250" dirty="0"/>
          </a:p>
        </p:txBody>
      </p:sp>
      <p:sp>
        <p:nvSpPr>
          <p:cNvPr id="10" name="Shape 8"/>
          <p:cNvSpPr/>
          <p:nvPr/>
        </p:nvSpPr>
        <p:spPr>
          <a:xfrm>
            <a:off x="7525512" y="1463040"/>
            <a:ext cx="4023360" cy="1874520"/>
          </a:xfrm>
          <a:prstGeom prst="roundRect">
            <a:avLst>
              <a:gd name="adj" fmla="val 2927"/>
            </a:avLst>
          </a:prstGeom>
          <a:solidFill>
            <a:srgbClr val="0D1632">
              <a:alpha val="88000"/>
            </a:srgbClr>
          </a:solidFill>
          <a:ln w="12700">
            <a:solidFill>
              <a:srgbClr val="24406F"/>
            </a:solidFill>
            <a:prstDash val="solid"/>
          </a:ln>
        </p:spPr>
        <p:txBody>
          <a:bodyPr/>
          <a:lstStyle/>
          <a:p>
            <a:endParaRPr lang="en-US"/>
          </a:p>
        </p:txBody>
      </p:sp>
      <p:sp>
        <p:nvSpPr>
          <p:cNvPr id="11" name="Text 9"/>
          <p:cNvSpPr/>
          <p:nvPr/>
        </p:nvSpPr>
        <p:spPr>
          <a:xfrm>
            <a:off x="7799832" y="1691640"/>
            <a:ext cx="347472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SIFAT DATA</a:t>
            </a:r>
            <a:endParaRPr lang="en-US" sz="950" dirty="0"/>
          </a:p>
        </p:txBody>
      </p:sp>
      <p:sp>
        <p:nvSpPr>
          <p:cNvPr id="12" name="Text 10"/>
          <p:cNvSpPr/>
          <p:nvPr/>
        </p:nvSpPr>
        <p:spPr>
          <a:xfrm>
            <a:off x="7799832" y="1947672"/>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RWFD</a:t>
            </a:r>
            <a:endParaRPr lang="en-US" sz="2200" dirty="0"/>
          </a:p>
        </p:txBody>
      </p:sp>
      <p:sp>
        <p:nvSpPr>
          <p:cNvPr id="13" name="Text 11"/>
          <p:cNvSpPr/>
          <p:nvPr/>
        </p:nvSpPr>
        <p:spPr>
          <a:xfrm>
            <a:off x="7799832" y="2450592"/>
            <a:ext cx="3474720" cy="731520"/>
          </a:xfrm>
          <a:prstGeom prst="rect">
            <a:avLst/>
          </a:prstGeom>
          <a:noFill/>
          <a:ln/>
        </p:spPr>
        <p:txBody>
          <a:bodyPr wrap="square" lIns="0" tIns="0" rIns="0" bIns="0" rtlCol="0" anchor="ctr"/>
          <a:lstStyle/>
          <a:p>
            <a:pPr marL="0" indent="0">
              <a:buNone/>
            </a:pPr>
            <a:r>
              <a:rPr lang="en-US" sz="1200" dirty="0">
                <a:solidFill>
                  <a:srgbClr val="9FB0CE"/>
                </a:solidFill>
                <a:latin typeface="Calibri" pitchFamily="34" charset="0"/>
                <a:ea typeface="Calibri" pitchFamily="34" charset="-122"/>
                <a:cs typeface="Calibri" pitchFamily="34" charset="-120"/>
              </a:rPr>
              <a:t>Real World Fake Data: data buatan yang meniru struktur data nyata, bukan data asli institusi mana pun.</a:t>
            </a:r>
            <a:endParaRPr lang="en-US" sz="1200" dirty="0"/>
          </a:p>
        </p:txBody>
      </p:sp>
      <p:sp>
        <p:nvSpPr>
          <p:cNvPr id="14" name="Shape 12"/>
          <p:cNvSpPr/>
          <p:nvPr/>
        </p:nvSpPr>
        <p:spPr>
          <a:xfrm>
            <a:off x="640080" y="3520440"/>
            <a:ext cx="10908792" cy="960120"/>
          </a:xfrm>
          <a:prstGeom prst="roundRect">
            <a:avLst>
              <a:gd name="adj" fmla="val 5714"/>
            </a:avLst>
          </a:prstGeom>
          <a:solidFill>
            <a:srgbClr val="2A0F0F">
              <a:alpha val="70000"/>
            </a:srgbClr>
          </a:solidFill>
          <a:ln w="12700">
            <a:solidFill>
              <a:srgbClr val="E86A6A"/>
            </a:solidFill>
            <a:prstDash val="solid"/>
          </a:ln>
        </p:spPr>
        <p:txBody>
          <a:bodyPr/>
          <a:lstStyle/>
          <a:p>
            <a:endParaRPr lang="en-US"/>
          </a:p>
        </p:txBody>
      </p:sp>
      <p:sp>
        <p:nvSpPr>
          <p:cNvPr id="15" name="Shape 13"/>
          <p:cNvSpPr/>
          <p:nvPr/>
        </p:nvSpPr>
        <p:spPr>
          <a:xfrm>
            <a:off x="914400" y="3794760"/>
            <a:ext cx="402336" cy="402336"/>
          </a:xfrm>
          <a:prstGeom prst="roundRect">
            <a:avLst>
              <a:gd name="adj" fmla="val 11364"/>
            </a:avLst>
          </a:prstGeom>
          <a:solidFill>
            <a:srgbClr val="2A0F0F"/>
          </a:solidFill>
          <a:ln w="12700">
            <a:solidFill>
              <a:srgbClr val="E86A6A"/>
            </a:solidFill>
            <a:prstDash val="solid"/>
          </a:ln>
        </p:spPr>
        <p:txBody>
          <a:bodyPr/>
          <a:lstStyle/>
          <a:p>
            <a:endParaRPr lang="en-US"/>
          </a:p>
        </p:txBody>
      </p:sp>
      <p:sp>
        <p:nvSpPr>
          <p:cNvPr id="16" name="Text 14"/>
          <p:cNvSpPr/>
          <p:nvPr/>
        </p:nvSpPr>
        <p:spPr>
          <a:xfrm>
            <a:off x="914400" y="3794760"/>
            <a:ext cx="402336" cy="402336"/>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1463040" y="3520440"/>
            <a:ext cx="9784080" cy="96012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Dilarang mencantumkan nama universitas mana pun di dalam </a:t>
            </a:r>
            <a:r>
              <a:rPr lang="en-US" sz="1450" b="1" dirty="0" err="1">
                <a:solidFill>
                  <a:srgbClr val="FFFFFF"/>
                </a:solidFill>
                <a:latin typeface="Arial" pitchFamily="34" charset="0"/>
                <a:ea typeface="Arial" pitchFamily="34" charset="-122"/>
                <a:cs typeface="Arial" pitchFamily="34" charset="-120"/>
              </a:rPr>
              <a:t>karya</a:t>
            </a:r>
            <a:r>
              <a:rPr lang="en-US" sz="1300" dirty="0">
                <a:solidFill>
                  <a:srgbClr val="9FB0CE"/>
                </a:solidFill>
                <a:latin typeface="Calibri" pitchFamily="34" charset="0"/>
                <a:ea typeface="Calibri" pitchFamily="34" charset="-122"/>
                <a:cs typeface="Calibri" pitchFamily="34" charset="-120"/>
              </a:rPr>
              <a:t>  —  termasuk Universitas Airlangga. Data ini bukan milik institusi tertentu, sehingga menyebut nama akan menimbulkan kekeliruan pemahaman.</a:t>
            </a:r>
            <a:endParaRPr lang="en-US" sz="1450" dirty="0"/>
          </a:p>
        </p:txBody>
      </p:sp>
      <p:sp>
        <p:nvSpPr>
          <p:cNvPr id="18" name="Shape 16"/>
          <p:cNvSpPr/>
          <p:nvPr/>
        </p:nvSpPr>
        <p:spPr>
          <a:xfrm>
            <a:off x="640080" y="4663440"/>
            <a:ext cx="5303520" cy="1325880"/>
          </a:xfrm>
          <a:prstGeom prst="roundRect">
            <a:avLst>
              <a:gd name="adj" fmla="val 4138"/>
            </a:avLst>
          </a:prstGeom>
          <a:solidFill>
            <a:srgbClr val="0D1632">
              <a:alpha val="88000"/>
            </a:srgbClr>
          </a:solidFill>
          <a:ln w="12700">
            <a:solidFill>
              <a:srgbClr val="24406F"/>
            </a:solidFill>
            <a:prstDash val="solid"/>
          </a:ln>
        </p:spPr>
        <p:txBody>
          <a:bodyPr/>
          <a:lstStyle/>
          <a:p>
            <a:endParaRPr lang="en-US"/>
          </a:p>
        </p:txBody>
      </p:sp>
      <p:sp>
        <p:nvSpPr>
          <p:cNvPr id="19" name="Text 17"/>
          <p:cNvSpPr/>
          <p:nvPr/>
        </p:nvSpPr>
        <p:spPr>
          <a:xfrm>
            <a:off x="914400" y="4864608"/>
            <a:ext cx="475488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KAMUS DATA</a:t>
            </a:r>
            <a:endParaRPr lang="en-US" sz="950" dirty="0"/>
          </a:p>
        </p:txBody>
      </p:sp>
      <p:sp>
        <p:nvSpPr>
          <p:cNvPr id="20" name="Text 18"/>
          <p:cNvSpPr/>
          <p:nvPr/>
        </p:nvSpPr>
        <p:spPr>
          <a:xfrm>
            <a:off x="914400" y="5166360"/>
            <a:ext cx="4754880" cy="7315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Dataset dirilis lengkap dengan kamus data yang menjelaskan setiap variabel </a:t>
            </a:r>
            <a:r>
              <a:rPr lang="en-US" sz="1250" dirty="0" err="1">
                <a:solidFill>
                  <a:srgbClr val="FFFFFF"/>
                </a:solidFill>
                <a:latin typeface="Calibri" pitchFamily="34" charset="0"/>
                <a:ea typeface="Calibri" pitchFamily="34" charset="-122"/>
                <a:cs typeface="Calibri" pitchFamily="34" charset="-120"/>
              </a:rPr>
              <a:t>secara</a:t>
            </a:r>
            <a:r>
              <a:rPr lang="en-US" sz="1250" dirty="0">
                <a:solidFill>
                  <a:srgbClr val="FFFFFF"/>
                </a:solidFill>
                <a:latin typeface="Calibri" pitchFamily="34" charset="0"/>
                <a:ea typeface="Calibri" pitchFamily="34" charset="-122"/>
                <a:cs typeface="Calibri" pitchFamily="34" charset="-120"/>
              </a:rPr>
              <a:t> </a:t>
            </a:r>
            <a:r>
              <a:rPr lang="en-US" sz="1250" dirty="0" err="1">
                <a:solidFill>
                  <a:srgbClr val="FFFFFF"/>
                </a:solidFill>
                <a:latin typeface="Calibri" pitchFamily="34" charset="0"/>
                <a:ea typeface="Calibri" pitchFamily="34" charset="-122"/>
                <a:cs typeface="Calibri" pitchFamily="34" charset="-120"/>
              </a:rPr>
              <a:t>rinci</a:t>
            </a:r>
            <a:r>
              <a:rPr lang="en-US" sz="1250" dirty="0">
                <a:solidFill>
                  <a:srgbClr val="FFFFFF"/>
                </a:solidFill>
                <a:latin typeface="Calibri" pitchFamily="34" charset="0"/>
                <a:ea typeface="Calibri" pitchFamily="34" charset="-122"/>
                <a:cs typeface="Calibri" pitchFamily="34" charset="-120"/>
              </a:rPr>
              <a:t>. Baca ini lebih dulu sebelum bertanya.</a:t>
            </a:r>
            <a:endParaRPr lang="en-US" sz="1250" dirty="0"/>
          </a:p>
        </p:txBody>
      </p:sp>
      <p:sp>
        <p:nvSpPr>
          <p:cNvPr id="21" name="Shape 19"/>
          <p:cNvSpPr/>
          <p:nvPr/>
        </p:nvSpPr>
        <p:spPr>
          <a:xfrm>
            <a:off x="6245352" y="4663440"/>
            <a:ext cx="5303520" cy="1325880"/>
          </a:xfrm>
          <a:prstGeom prst="roundRect">
            <a:avLst>
              <a:gd name="adj" fmla="val 4138"/>
            </a:avLst>
          </a:prstGeom>
          <a:solidFill>
            <a:srgbClr val="0D1632">
              <a:alpha val="88000"/>
            </a:srgbClr>
          </a:solidFill>
          <a:ln w="12700">
            <a:solidFill>
              <a:srgbClr val="24406F"/>
            </a:solidFill>
            <a:prstDash val="solid"/>
          </a:ln>
        </p:spPr>
        <p:txBody>
          <a:bodyPr/>
          <a:lstStyle/>
          <a:p>
            <a:endParaRPr lang="en-US"/>
          </a:p>
        </p:txBody>
      </p:sp>
      <p:sp>
        <p:nvSpPr>
          <p:cNvPr id="22" name="Text 20"/>
          <p:cNvSpPr/>
          <p:nvPr/>
        </p:nvSpPr>
        <p:spPr>
          <a:xfrm>
            <a:off x="6519672" y="4864608"/>
            <a:ext cx="475488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PERTANYAAN SEPUTAR DATASET</a:t>
            </a:r>
            <a:endParaRPr lang="en-US" sz="950" dirty="0"/>
          </a:p>
        </p:txBody>
      </p:sp>
      <p:sp>
        <p:nvSpPr>
          <p:cNvPr id="23" name="Text 21"/>
          <p:cNvSpPr/>
          <p:nvPr/>
        </p:nvSpPr>
        <p:spPr>
          <a:xfrm>
            <a:off x="6519672" y="5166360"/>
            <a:ext cx="4754880" cy="7315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Setelah kamus data dirilis, eksplorasi dikembalikan kepada peserta. Panitia hanya menjawab bila ada kekeliruan data atau hal penting lain.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03</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Ketentuan Teknis Karya</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06</a:t>
            </a:r>
            <a:endParaRPr lang="en-US" sz="1100" dirty="0"/>
          </a:p>
        </p:txBody>
      </p:sp>
      <p:sp>
        <p:nvSpPr>
          <p:cNvPr id="6" name="Shape 4"/>
          <p:cNvSpPr/>
          <p:nvPr/>
        </p:nvSpPr>
        <p:spPr>
          <a:xfrm>
            <a:off x="640080" y="1517904"/>
            <a:ext cx="3429000" cy="1783080"/>
          </a:xfrm>
          <a:prstGeom prst="roundRect">
            <a:avLst>
              <a:gd name="adj" fmla="val 3077"/>
            </a:avLst>
          </a:prstGeom>
          <a:solidFill>
            <a:srgbClr val="0D1632">
              <a:alpha val="88000"/>
            </a:srgbClr>
          </a:solidFill>
          <a:ln w="12700">
            <a:solidFill>
              <a:srgbClr val="24406F"/>
            </a:solidFill>
            <a:prstDash val="solid"/>
          </a:ln>
        </p:spPr>
        <p:txBody>
          <a:bodyPr/>
          <a:lstStyle/>
          <a:p>
            <a:endParaRPr lang="en-US"/>
          </a:p>
        </p:txBody>
      </p:sp>
      <p:sp>
        <p:nvSpPr>
          <p:cNvPr id="7" name="Text 5"/>
          <p:cNvSpPr/>
          <p:nvPr/>
        </p:nvSpPr>
        <p:spPr>
          <a:xfrm>
            <a:off x="914400" y="1737360"/>
            <a:ext cx="288036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FORMAT FILE</a:t>
            </a:r>
            <a:endParaRPr lang="en-US" sz="950" dirty="0"/>
          </a:p>
        </p:txBody>
      </p:sp>
      <p:sp>
        <p:nvSpPr>
          <p:cNvPr id="8" name="Text 6"/>
          <p:cNvSpPr/>
          <p:nvPr/>
        </p:nvSpPr>
        <p:spPr>
          <a:xfrm>
            <a:off x="914400" y="2048256"/>
            <a:ext cx="2880360" cy="60350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PDF dan/atau PNG/JPG</a:t>
            </a:r>
            <a:endParaRPr lang="en-US" sz="1800" dirty="0"/>
          </a:p>
        </p:txBody>
      </p:sp>
      <p:sp>
        <p:nvSpPr>
          <p:cNvPr id="9" name="Text 7"/>
          <p:cNvSpPr/>
          <p:nvPr/>
        </p:nvSpPr>
        <p:spPr>
          <a:xfrm>
            <a:off x="914400" y="2670048"/>
            <a:ext cx="2880360" cy="548640"/>
          </a:xfrm>
          <a:prstGeom prst="rect">
            <a:avLst/>
          </a:prstGeom>
          <a:noFill/>
          <a:ln/>
        </p:spPr>
        <p:txBody>
          <a:bodyPr wrap="square" lIns="0" tIns="0" rIns="0" bIns="0" rtlCol="0" anchor="ctr"/>
          <a:lstStyle/>
          <a:p>
            <a:pPr marL="0" indent="0">
              <a:buNone/>
            </a:pPr>
            <a:r>
              <a:rPr lang="en-US" sz="1150" dirty="0">
                <a:solidFill>
                  <a:srgbClr val="9FB0CE"/>
                </a:solidFill>
                <a:latin typeface="Calibri" pitchFamily="34" charset="0"/>
                <a:ea typeface="Calibri" pitchFamily="34" charset="-122"/>
                <a:cs typeface="Calibri" pitchFamily="34" charset="-120"/>
              </a:rPr>
              <a:t>Resolusi tinggi, minimal 150 dpi</a:t>
            </a:r>
            <a:endParaRPr lang="en-US" sz="1150" dirty="0"/>
          </a:p>
        </p:txBody>
      </p:sp>
      <p:sp>
        <p:nvSpPr>
          <p:cNvPr id="10" name="Shape 8"/>
          <p:cNvSpPr/>
          <p:nvPr/>
        </p:nvSpPr>
        <p:spPr>
          <a:xfrm>
            <a:off x="4379976" y="1517904"/>
            <a:ext cx="3429000" cy="1783080"/>
          </a:xfrm>
          <a:prstGeom prst="roundRect">
            <a:avLst>
              <a:gd name="adj" fmla="val 3077"/>
            </a:avLst>
          </a:prstGeom>
          <a:solidFill>
            <a:srgbClr val="0D1632">
              <a:alpha val="88000"/>
            </a:srgbClr>
          </a:solidFill>
          <a:ln w="12700">
            <a:solidFill>
              <a:srgbClr val="24406F"/>
            </a:solidFill>
            <a:prstDash val="solid"/>
          </a:ln>
        </p:spPr>
        <p:txBody>
          <a:bodyPr/>
          <a:lstStyle/>
          <a:p>
            <a:endParaRPr lang="en-US"/>
          </a:p>
        </p:txBody>
      </p:sp>
      <p:sp>
        <p:nvSpPr>
          <p:cNvPr id="11" name="Text 9"/>
          <p:cNvSpPr/>
          <p:nvPr/>
        </p:nvSpPr>
        <p:spPr>
          <a:xfrm>
            <a:off x="4654296" y="1737360"/>
            <a:ext cx="288036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UKURAN &amp; ORIENTASI</a:t>
            </a:r>
            <a:endParaRPr lang="en-US" sz="950" dirty="0"/>
          </a:p>
        </p:txBody>
      </p:sp>
      <p:sp>
        <p:nvSpPr>
          <p:cNvPr id="12" name="Text 10"/>
          <p:cNvSpPr/>
          <p:nvPr/>
        </p:nvSpPr>
        <p:spPr>
          <a:xfrm>
            <a:off x="4654296" y="2048256"/>
            <a:ext cx="2880360" cy="60350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A3 · Portrait</a:t>
            </a:r>
            <a:endParaRPr lang="en-US" sz="1800" dirty="0"/>
          </a:p>
        </p:txBody>
      </p:sp>
      <p:sp>
        <p:nvSpPr>
          <p:cNvPr id="13" name="Text 11"/>
          <p:cNvSpPr/>
          <p:nvPr/>
        </p:nvSpPr>
        <p:spPr>
          <a:xfrm>
            <a:off x="4654296" y="2670048"/>
            <a:ext cx="2880360" cy="548640"/>
          </a:xfrm>
          <a:prstGeom prst="rect">
            <a:avLst/>
          </a:prstGeom>
          <a:noFill/>
          <a:ln/>
        </p:spPr>
        <p:txBody>
          <a:bodyPr wrap="square" lIns="0" tIns="0" rIns="0" bIns="0" rtlCol="0" anchor="ctr"/>
          <a:lstStyle/>
          <a:p>
            <a:pPr marL="0" indent="0">
              <a:buNone/>
            </a:pPr>
            <a:r>
              <a:rPr lang="en-US" sz="1150" dirty="0">
                <a:solidFill>
                  <a:srgbClr val="9FB0CE"/>
                </a:solidFill>
                <a:latin typeface="Calibri" pitchFamily="34" charset="0"/>
                <a:ea typeface="Calibri" pitchFamily="34" charset="-122"/>
                <a:cs typeface="Calibri" pitchFamily="34" charset="-120"/>
              </a:rPr>
              <a:t>Rasio potret, tanpa pengecualian</a:t>
            </a:r>
            <a:endParaRPr lang="en-US" sz="1150" dirty="0"/>
          </a:p>
        </p:txBody>
      </p:sp>
      <p:sp>
        <p:nvSpPr>
          <p:cNvPr id="14" name="Shape 12"/>
          <p:cNvSpPr/>
          <p:nvPr/>
        </p:nvSpPr>
        <p:spPr>
          <a:xfrm>
            <a:off x="8119872" y="1517904"/>
            <a:ext cx="3429000" cy="1783080"/>
          </a:xfrm>
          <a:prstGeom prst="roundRect">
            <a:avLst>
              <a:gd name="adj" fmla="val 3077"/>
            </a:avLst>
          </a:prstGeom>
          <a:solidFill>
            <a:srgbClr val="0D1632">
              <a:alpha val="88000"/>
            </a:srgbClr>
          </a:solidFill>
          <a:ln w="12700">
            <a:solidFill>
              <a:srgbClr val="24406F"/>
            </a:solidFill>
            <a:prstDash val="solid"/>
          </a:ln>
        </p:spPr>
        <p:txBody>
          <a:bodyPr/>
          <a:lstStyle/>
          <a:p>
            <a:endParaRPr lang="en-US"/>
          </a:p>
        </p:txBody>
      </p:sp>
      <p:sp>
        <p:nvSpPr>
          <p:cNvPr id="15" name="Text 13"/>
          <p:cNvSpPr/>
          <p:nvPr/>
        </p:nvSpPr>
        <p:spPr>
          <a:xfrm>
            <a:off x="8394192" y="1737360"/>
            <a:ext cx="288036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BATAS UKURAN BERKAS</a:t>
            </a:r>
            <a:endParaRPr lang="en-US" sz="950" dirty="0"/>
          </a:p>
        </p:txBody>
      </p:sp>
      <p:sp>
        <p:nvSpPr>
          <p:cNvPr id="16" name="Text 14"/>
          <p:cNvSpPr/>
          <p:nvPr/>
        </p:nvSpPr>
        <p:spPr>
          <a:xfrm>
            <a:off x="8394192" y="2048256"/>
            <a:ext cx="2880360" cy="60350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Maks. 20 MB</a:t>
            </a:r>
            <a:endParaRPr lang="en-US" sz="1800" dirty="0"/>
          </a:p>
        </p:txBody>
      </p:sp>
      <p:sp>
        <p:nvSpPr>
          <p:cNvPr id="17" name="Text 15"/>
          <p:cNvSpPr/>
          <p:nvPr/>
        </p:nvSpPr>
        <p:spPr>
          <a:xfrm>
            <a:off x="8394192" y="2670048"/>
            <a:ext cx="2880360" cy="548640"/>
          </a:xfrm>
          <a:prstGeom prst="rect">
            <a:avLst/>
          </a:prstGeom>
          <a:noFill/>
          <a:ln/>
        </p:spPr>
        <p:txBody>
          <a:bodyPr wrap="square" lIns="0" tIns="0" rIns="0" bIns="0" rtlCol="0" anchor="ctr"/>
          <a:lstStyle/>
          <a:p>
            <a:pPr marL="0" indent="0">
              <a:buNone/>
            </a:pPr>
            <a:r>
              <a:rPr lang="en-US" sz="1150" dirty="0">
                <a:solidFill>
                  <a:srgbClr val="9FB0CE"/>
                </a:solidFill>
                <a:latin typeface="Calibri" pitchFamily="34" charset="0"/>
                <a:ea typeface="Calibri" pitchFamily="34" charset="-122"/>
                <a:cs typeface="Calibri" pitchFamily="34" charset="-120"/>
              </a:rPr>
              <a:t>Kompres bila melebihi batas</a:t>
            </a:r>
            <a:endParaRPr lang="en-US" sz="1150" dirty="0"/>
          </a:p>
        </p:txBody>
      </p:sp>
      <p:sp>
        <p:nvSpPr>
          <p:cNvPr id="18" name="Shape 16"/>
          <p:cNvSpPr/>
          <p:nvPr/>
        </p:nvSpPr>
        <p:spPr>
          <a:xfrm>
            <a:off x="640080" y="3520440"/>
            <a:ext cx="3429000" cy="1783080"/>
          </a:xfrm>
          <a:prstGeom prst="roundRect">
            <a:avLst>
              <a:gd name="adj" fmla="val 3077"/>
            </a:avLst>
          </a:prstGeom>
          <a:solidFill>
            <a:srgbClr val="0D1632">
              <a:alpha val="88000"/>
            </a:srgbClr>
          </a:solidFill>
          <a:ln w="12700">
            <a:solidFill>
              <a:srgbClr val="24406F"/>
            </a:solidFill>
            <a:prstDash val="solid"/>
          </a:ln>
        </p:spPr>
        <p:txBody>
          <a:bodyPr/>
          <a:lstStyle/>
          <a:p>
            <a:endParaRPr lang="en-US"/>
          </a:p>
        </p:txBody>
      </p:sp>
      <p:sp>
        <p:nvSpPr>
          <p:cNvPr id="19" name="Text 17"/>
          <p:cNvSpPr/>
          <p:nvPr/>
        </p:nvSpPr>
        <p:spPr>
          <a:xfrm>
            <a:off x="914400" y="3739896"/>
            <a:ext cx="288036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JUMLAH HALAMAN</a:t>
            </a:r>
            <a:endParaRPr lang="en-US" sz="950" dirty="0"/>
          </a:p>
        </p:txBody>
      </p:sp>
      <p:sp>
        <p:nvSpPr>
          <p:cNvPr id="20" name="Text 18"/>
          <p:cNvSpPr/>
          <p:nvPr/>
        </p:nvSpPr>
        <p:spPr>
          <a:xfrm>
            <a:off x="914400" y="4050792"/>
            <a:ext cx="2880360" cy="60350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1 halaman</a:t>
            </a:r>
            <a:endParaRPr lang="en-US" sz="1800" dirty="0"/>
          </a:p>
        </p:txBody>
      </p:sp>
      <p:sp>
        <p:nvSpPr>
          <p:cNvPr id="21" name="Text 19"/>
          <p:cNvSpPr/>
          <p:nvPr/>
        </p:nvSpPr>
        <p:spPr>
          <a:xfrm>
            <a:off x="914400" y="4672584"/>
            <a:ext cx="2880360" cy="548640"/>
          </a:xfrm>
          <a:prstGeom prst="rect">
            <a:avLst/>
          </a:prstGeom>
          <a:noFill/>
          <a:ln/>
        </p:spPr>
        <p:txBody>
          <a:bodyPr wrap="square" lIns="0" tIns="0" rIns="0" bIns="0" rtlCol="0" anchor="ctr"/>
          <a:lstStyle/>
          <a:p>
            <a:pPr marL="0" indent="0">
              <a:buNone/>
            </a:pPr>
            <a:r>
              <a:rPr lang="en-US" sz="1150" dirty="0">
                <a:solidFill>
                  <a:srgbClr val="9FB0CE"/>
                </a:solidFill>
                <a:latin typeface="Calibri" pitchFamily="34" charset="0"/>
                <a:ea typeface="Calibri" pitchFamily="34" charset="-122"/>
                <a:cs typeface="Calibri" pitchFamily="34" charset="-120"/>
              </a:rPr>
              <a:t>Satu infografis utuh (single page)</a:t>
            </a:r>
            <a:endParaRPr lang="en-US" sz="1150" dirty="0"/>
          </a:p>
        </p:txBody>
      </p:sp>
      <p:sp>
        <p:nvSpPr>
          <p:cNvPr id="22" name="Shape 20"/>
          <p:cNvSpPr/>
          <p:nvPr/>
        </p:nvSpPr>
        <p:spPr>
          <a:xfrm>
            <a:off x="4379976" y="3520440"/>
            <a:ext cx="3429000" cy="1783080"/>
          </a:xfrm>
          <a:prstGeom prst="roundRect">
            <a:avLst>
              <a:gd name="adj" fmla="val 3077"/>
            </a:avLst>
          </a:prstGeom>
          <a:solidFill>
            <a:srgbClr val="0D1632">
              <a:alpha val="88000"/>
            </a:srgbClr>
          </a:solidFill>
          <a:ln w="12700">
            <a:solidFill>
              <a:srgbClr val="24406F"/>
            </a:solidFill>
            <a:prstDash val="solid"/>
          </a:ln>
        </p:spPr>
        <p:txBody>
          <a:bodyPr/>
          <a:lstStyle/>
          <a:p>
            <a:endParaRPr lang="en-US"/>
          </a:p>
        </p:txBody>
      </p:sp>
      <p:sp>
        <p:nvSpPr>
          <p:cNvPr id="23" name="Text 21"/>
          <p:cNvSpPr/>
          <p:nvPr/>
        </p:nvSpPr>
        <p:spPr>
          <a:xfrm>
            <a:off x="4654296" y="3739896"/>
            <a:ext cx="288036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TOOLS</a:t>
            </a:r>
            <a:endParaRPr lang="en-US" sz="950" dirty="0"/>
          </a:p>
        </p:txBody>
      </p:sp>
      <p:sp>
        <p:nvSpPr>
          <p:cNvPr id="24" name="Text 22"/>
          <p:cNvSpPr/>
          <p:nvPr/>
        </p:nvSpPr>
        <p:spPr>
          <a:xfrm>
            <a:off x="4654296" y="4050792"/>
            <a:ext cx="2880360" cy="60350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Bebas</a:t>
            </a:r>
            <a:endParaRPr lang="en-US" sz="1800" dirty="0"/>
          </a:p>
        </p:txBody>
      </p:sp>
      <p:sp>
        <p:nvSpPr>
          <p:cNvPr id="25" name="Text 23"/>
          <p:cNvSpPr/>
          <p:nvPr/>
        </p:nvSpPr>
        <p:spPr>
          <a:xfrm>
            <a:off x="4654296" y="4672584"/>
            <a:ext cx="2880360" cy="548640"/>
          </a:xfrm>
          <a:prstGeom prst="rect">
            <a:avLst/>
          </a:prstGeom>
          <a:noFill/>
          <a:ln/>
        </p:spPr>
        <p:txBody>
          <a:bodyPr wrap="square" lIns="0" tIns="0" rIns="0" bIns="0" rtlCol="0" anchor="ctr"/>
          <a:lstStyle/>
          <a:p>
            <a:pPr marL="0" indent="0">
              <a:buNone/>
            </a:pPr>
            <a:r>
              <a:rPr lang="en-US" sz="1150" dirty="0">
                <a:solidFill>
                  <a:srgbClr val="9FB0CE"/>
                </a:solidFill>
                <a:latin typeface="Calibri" pitchFamily="34" charset="0"/>
                <a:ea typeface="Calibri" pitchFamily="34" charset="-122"/>
                <a:cs typeface="Calibri" pitchFamily="34" charset="-120"/>
              </a:rPr>
              <a:t>Canva, Figma, Illustrator, Tableau, Power BI, dll.</a:t>
            </a:r>
            <a:endParaRPr lang="en-US" sz="1150" dirty="0"/>
          </a:p>
        </p:txBody>
      </p:sp>
      <p:sp>
        <p:nvSpPr>
          <p:cNvPr id="26" name="Shape 24"/>
          <p:cNvSpPr/>
          <p:nvPr/>
        </p:nvSpPr>
        <p:spPr>
          <a:xfrm>
            <a:off x="8119872" y="3520440"/>
            <a:ext cx="3429000" cy="1783080"/>
          </a:xfrm>
          <a:prstGeom prst="roundRect">
            <a:avLst>
              <a:gd name="adj" fmla="val 3077"/>
            </a:avLst>
          </a:prstGeom>
          <a:solidFill>
            <a:srgbClr val="0D1632">
              <a:alpha val="88000"/>
            </a:srgbClr>
          </a:solidFill>
          <a:ln w="12700">
            <a:solidFill>
              <a:srgbClr val="24406F"/>
            </a:solidFill>
            <a:prstDash val="solid"/>
          </a:ln>
        </p:spPr>
        <p:txBody>
          <a:bodyPr/>
          <a:lstStyle/>
          <a:p>
            <a:endParaRPr lang="en-US"/>
          </a:p>
        </p:txBody>
      </p:sp>
      <p:sp>
        <p:nvSpPr>
          <p:cNvPr id="27" name="Text 25"/>
          <p:cNvSpPr/>
          <p:nvPr/>
        </p:nvSpPr>
        <p:spPr>
          <a:xfrm>
            <a:off x="8394192" y="3739896"/>
            <a:ext cx="2880360" cy="237744"/>
          </a:xfrm>
          <a:prstGeom prst="rect">
            <a:avLst/>
          </a:prstGeom>
          <a:noFill/>
          <a:ln/>
        </p:spPr>
        <p:txBody>
          <a:bodyPr wrap="square" lIns="0" tIns="0" rIns="0" bIns="0" rtlCol="0" anchor="ctr"/>
          <a:lstStyle/>
          <a:p>
            <a:pPr marL="0" indent="0">
              <a:buNone/>
            </a:pPr>
            <a:r>
              <a:rPr lang="en-US" sz="950" b="1" kern="0" spc="140" dirty="0">
                <a:solidFill>
                  <a:srgbClr val="E9A944"/>
                </a:solidFill>
                <a:latin typeface="Arial" pitchFamily="34" charset="0"/>
                <a:ea typeface="Arial" pitchFamily="34" charset="-122"/>
                <a:cs typeface="Arial" pitchFamily="34" charset="-120"/>
              </a:rPr>
              <a:t>BAHASA</a:t>
            </a:r>
            <a:endParaRPr lang="en-US" sz="950" dirty="0"/>
          </a:p>
        </p:txBody>
      </p:sp>
      <p:sp>
        <p:nvSpPr>
          <p:cNvPr id="28" name="Text 26"/>
          <p:cNvSpPr/>
          <p:nvPr/>
        </p:nvSpPr>
        <p:spPr>
          <a:xfrm>
            <a:off x="8394192" y="4050792"/>
            <a:ext cx="2880360" cy="603504"/>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Indonesia atau Inggris</a:t>
            </a:r>
            <a:endParaRPr lang="en-US" sz="1800" dirty="0"/>
          </a:p>
        </p:txBody>
      </p:sp>
      <p:sp>
        <p:nvSpPr>
          <p:cNvPr id="29" name="Text 27"/>
          <p:cNvSpPr/>
          <p:nvPr/>
        </p:nvSpPr>
        <p:spPr>
          <a:xfrm>
            <a:off x="8394192" y="4672584"/>
            <a:ext cx="2880360" cy="548640"/>
          </a:xfrm>
          <a:prstGeom prst="rect">
            <a:avLst/>
          </a:prstGeom>
          <a:noFill/>
          <a:ln/>
        </p:spPr>
        <p:txBody>
          <a:bodyPr wrap="square" lIns="0" tIns="0" rIns="0" bIns="0" rtlCol="0" anchor="ctr"/>
          <a:lstStyle/>
          <a:p>
            <a:pPr marL="0" indent="0">
              <a:buNone/>
            </a:pPr>
            <a:r>
              <a:rPr lang="en-US" sz="1150" dirty="0">
                <a:solidFill>
                  <a:srgbClr val="9FB0CE"/>
                </a:solidFill>
                <a:latin typeface="Calibri" pitchFamily="34" charset="0"/>
                <a:ea typeface="Calibri" pitchFamily="34" charset="-122"/>
                <a:cs typeface="Calibri" pitchFamily="34" charset="-120"/>
              </a:rPr>
              <a:t>Konsisten dalam satu karya</a:t>
            </a:r>
            <a:endParaRPr lang="en-US" sz="1150" dirty="0"/>
          </a:p>
        </p:txBody>
      </p:sp>
      <p:sp>
        <p:nvSpPr>
          <p:cNvPr id="30" name="Shape 28"/>
          <p:cNvSpPr/>
          <p:nvPr/>
        </p:nvSpPr>
        <p:spPr>
          <a:xfrm>
            <a:off x="640080" y="5440680"/>
            <a:ext cx="10908792" cy="658368"/>
          </a:xfrm>
          <a:prstGeom prst="roundRect">
            <a:avLst>
              <a:gd name="adj" fmla="val 8333"/>
            </a:avLst>
          </a:prstGeom>
          <a:solidFill>
            <a:srgbClr val="1A1206">
              <a:alpha val="45000"/>
            </a:srgbClr>
          </a:solidFill>
          <a:ln w="12700">
            <a:solidFill>
              <a:srgbClr val="8A6420"/>
            </a:solidFill>
            <a:prstDash val="solid"/>
          </a:ln>
        </p:spPr>
        <p:txBody>
          <a:bodyPr/>
          <a:lstStyle/>
          <a:p>
            <a:endParaRPr lang="en-US"/>
          </a:p>
        </p:txBody>
      </p:sp>
      <p:sp>
        <p:nvSpPr>
          <p:cNvPr id="31" name="Text 29"/>
          <p:cNvSpPr/>
          <p:nvPr/>
        </p:nvSpPr>
        <p:spPr>
          <a:xfrm>
            <a:off x="914400" y="5440680"/>
            <a:ext cx="10424160" cy="658368"/>
          </a:xfrm>
          <a:prstGeom prst="rect">
            <a:avLst/>
          </a:prstGeom>
          <a:noFill/>
          <a:ln/>
        </p:spPr>
        <p:txBody>
          <a:bodyPr wrap="square" lIns="0" tIns="0" rIns="0" bIns="0" rtlCol="0" anchor="ctr"/>
          <a:lstStyle/>
          <a:p>
            <a:pPr marL="0" indent="0">
              <a:buNone/>
            </a:pPr>
            <a:r>
              <a:rPr lang="en-US" sz="1000" b="1" kern="0" spc="140" dirty="0">
                <a:solidFill>
                  <a:srgbClr val="E9A944"/>
                </a:solidFill>
                <a:latin typeface="Arial" pitchFamily="34" charset="0"/>
                <a:ea typeface="Arial" pitchFamily="34" charset="-122"/>
                <a:cs typeface="Arial" pitchFamily="34" charset="-120"/>
              </a:rPr>
              <a:t>ATRIBUSI WAJIB  </a:t>
            </a:r>
            <a:r>
              <a:rPr lang="en-US" sz="1300" dirty="0">
                <a:solidFill>
                  <a:srgbClr val="FFFFFF"/>
                </a:solidFill>
                <a:latin typeface="Calibri" pitchFamily="34" charset="0"/>
                <a:ea typeface="Calibri" pitchFamily="34" charset="-122"/>
                <a:cs typeface="Calibri" pitchFamily="34" charset="-120"/>
              </a:rPr>
              <a:t>Setiap ikon, font, atau foto dari pihak ketiga harus dicantumkan kredit sumbernya di dalam karya.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04</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Kriteria Penilaian Babak Penyisihan</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07</a:t>
            </a:r>
            <a:endParaRPr lang="en-US" sz="1100" dirty="0"/>
          </a:p>
        </p:txBody>
      </p:sp>
      <p:sp>
        <p:nvSpPr>
          <p:cNvPr id="6" name="Shape 4"/>
          <p:cNvSpPr/>
          <p:nvPr/>
        </p:nvSpPr>
        <p:spPr>
          <a:xfrm>
            <a:off x="640080" y="1691640"/>
            <a:ext cx="10908792" cy="868680"/>
          </a:xfrm>
          <a:prstGeom prst="roundRect">
            <a:avLst>
              <a:gd name="adj" fmla="val 6316"/>
            </a:avLst>
          </a:prstGeom>
          <a:solidFill>
            <a:srgbClr val="0D1632">
              <a:alpha val="88000"/>
            </a:srgbClr>
          </a:solidFill>
          <a:ln w="12700">
            <a:solidFill>
              <a:srgbClr val="24406F"/>
            </a:solidFill>
            <a:prstDash val="solid"/>
          </a:ln>
        </p:spPr>
        <p:txBody>
          <a:bodyPr/>
          <a:lstStyle/>
          <a:p>
            <a:endParaRPr lang="en-US"/>
          </a:p>
        </p:txBody>
      </p:sp>
      <p:sp>
        <p:nvSpPr>
          <p:cNvPr id="7" name="Text 5"/>
          <p:cNvSpPr/>
          <p:nvPr/>
        </p:nvSpPr>
        <p:spPr>
          <a:xfrm>
            <a:off x="914400" y="1691640"/>
            <a:ext cx="4023360" cy="8686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Akurasi Data &amp; Kedalaman Insight</a:t>
            </a:r>
            <a:endParaRPr lang="en-US" sz="1450" dirty="0"/>
          </a:p>
        </p:txBody>
      </p:sp>
      <p:sp>
        <p:nvSpPr>
          <p:cNvPr id="8" name="Shape 6"/>
          <p:cNvSpPr/>
          <p:nvPr/>
        </p:nvSpPr>
        <p:spPr>
          <a:xfrm>
            <a:off x="5120640" y="2029968"/>
            <a:ext cx="5760720" cy="201168"/>
          </a:xfrm>
          <a:prstGeom prst="roundRect">
            <a:avLst>
              <a:gd name="adj" fmla="val 45455"/>
            </a:avLst>
          </a:prstGeom>
          <a:solidFill>
            <a:srgbClr val="16264A"/>
          </a:solidFill>
          <a:ln w="12700">
            <a:solidFill>
              <a:srgbClr val="333333"/>
            </a:solidFill>
            <a:prstDash val="solid"/>
          </a:ln>
        </p:spPr>
        <p:txBody>
          <a:bodyPr/>
          <a:lstStyle/>
          <a:p>
            <a:endParaRPr lang="en-US"/>
          </a:p>
        </p:txBody>
      </p:sp>
      <p:sp>
        <p:nvSpPr>
          <p:cNvPr id="9" name="Shape 7"/>
          <p:cNvSpPr/>
          <p:nvPr/>
        </p:nvSpPr>
        <p:spPr>
          <a:xfrm>
            <a:off x="5120640" y="2029968"/>
            <a:ext cx="5760720" cy="201168"/>
          </a:xfrm>
          <a:prstGeom prst="roundRect">
            <a:avLst>
              <a:gd name="adj" fmla="val 45455"/>
            </a:avLst>
          </a:prstGeom>
          <a:solidFill>
            <a:srgbClr val="E9A944"/>
          </a:solidFill>
          <a:ln w="12700">
            <a:solidFill>
              <a:srgbClr val="333333"/>
            </a:solidFill>
            <a:prstDash val="solid"/>
          </a:ln>
        </p:spPr>
        <p:txBody>
          <a:bodyPr/>
          <a:lstStyle/>
          <a:p>
            <a:endParaRPr lang="en-US"/>
          </a:p>
        </p:txBody>
      </p:sp>
      <p:sp>
        <p:nvSpPr>
          <p:cNvPr id="10" name="Text 8"/>
          <p:cNvSpPr/>
          <p:nvPr/>
        </p:nvSpPr>
        <p:spPr>
          <a:xfrm>
            <a:off x="10972800" y="1691640"/>
            <a:ext cx="576072" cy="868680"/>
          </a:xfrm>
          <a:prstGeom prst="rect">
            <a:avLst/>
          </a:prstGeom>
          <a:noFill/>
          <a:ln/>
        </p:spPr>
        <p:txBody>
          <a:bodyPr wrap="square" lIns="0" tIns="0" rIns="0" bIns="0" rtlCol="0" anchor="ctr"/>
          <a:lstStyle/>
          <a:p>
            <a:pPr marL="0" indent="0" algn="r">
              <a:buNone/>
            </a:pPr>
            <a:r>
              <a:rPr lang="en-US" sz="2000" b="1" dirty="0">
                <a:solidFill>
                  <a:srgbClr val="E9A944"/>
                </a:solidFill>
                <a:latin typeface="Arial" pitchFamily="34" charset="0"/>
                <a:ea typeface="Arial" pitchFamily="34" charset="-122"/>
                <a:cs typeface="Arial" pitchFamily="34" charset="-120"/>
              </a:rPr>
              <a:t>35%</a:t>
            </a:r>
            <a:endParaRPr lang="en-US" sz="2000" dirty="0"/>
          </a:p>
        </p:txBody>
      </p:sp>
      <p:sp>
        <p:nvSpPr>
          <p:cNvPr id="11" name="Shape 9"/>
          <p:cNvSpPr/>
          <p:nvPr/>
        </p:nvSpPr>
        <p:spPr>
          <a:xfrm>
            <a:off x="640080" y="2743200"/>
            <a:ext cx="10908792" cy="868680"/>
          </a:xfrm>
          <a:prstGeom prst="roundRect">
            <a:avLst>
              <a:gd name="adj" fmla="val 6316"/>
            </a:avLst>
          </a:prstGeom>
          <a:solidFill>
            <a:srgbClr val="0D1632">
              <a:alpha val="88000"/>
            </a:srgbClr>
          </a:solidFill>
          <a:ln w="12700">
            <a:solidFill>
              <a:srgbClr val="24406F"/>
            </a:solidFill>
            <a:prstDash val="solid"/>
          </a:ln>
        </p:spPr>
        <p:txBody>
          <a:bodyPr/>
          <a:lstStyle/>
          <a:p>
            <a:endParaRPr lang="en-US"/>
          </a:p>
        </p:txBody>
      </p:sp>
      <p:sp>
        <p:nvSpPr>
          <p:cNvPr id="12" name="Text 10"/>
          <p:cNvSpPr/>
          <p:nvPr/>
        </p:nvSpPr>
        <p:spPr>
          <a:xfrm>
            <a:off x="914400" y="2743200"/>
            <a:ext cx="4023360" cy="8686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Desain Visual &amp; Estetika</a:t>
            </a:r>
            <a:endParaRPr lang="en-US" sz="1450" dirty="0"/>
          </a:p>
        </p:txBody>
      </p:sp>
      <p:sp>
        <p:nvSpPr>
          <p:cNvPr id="13" name="Shape 11"/>
          <p:cNvSpPr/>
          <p:nvPr/>
        </p:nvSpPr>
        <p:spPr>
          <a:xfrm>
            <a:off x="5120640" y="3081528"/>
            <a:ext cx="5760720" cy="201168"/>
          </a:xfrm>
          <a:prstGeom prst="roundRect">
            <a:avLst>
              <a:gd name="adj" fmla="val 45455"/>
            </a:avLst>
          </a:prstGeom>
          <a:solidFill>
            <a:srgbClr val="16264A"/>
          </a:solidFill>
          <a:ln w="12700">
            <a:solidFill>
              <a:srgbClr val="333333"/>
            </a:solidFill>
            <a:prstDash val="solid"/>
          </a:ln>
        </p:spPr>
        <p:txBody>
          <a:bodyPr/>
          <a:lstStyle/>
          <a:p>
            <a:endParaRPr lang="en-US"/>
          </a:p>
        </p:txBody>
      </p:sp>
      <p:sp>
        <p:nvSpPr>
          <p:cNvPr id="14" name="Shape 12"/>
          <p:cNvSpPr/>
          <p:nvPr/>
        </p:nvSpPr>
        <p:spPr>
          <a:xfrm>
            <a:off x="5120640" y="3081528"/>
            <a:ext cx="4114800" cy="201168"/>
          </a:xfrm>
          <a:prstGeom prst="roundRect">
            <a:avLst>
              <a:gd name="adj" fmla="val 45455"/>
            </a:avLst>
          </a:prstGeom>
          <a:solidFill>
            <a:srgbClr val="E9A944"/>
          </a:solidFill>
          <a:ln w="12700">
            <a:solidFill>
              <a:srgbClr val="333333"/>
            </a:solidFill>
            <a:prstDash val="solid"/>
          </a:ln>
        </p:spPr>
        <p:txBody>
          <a:bodyPr/>
          <a:lstStyle/>
          <a:p>
            <a:endParaRPr lang="en-US"/>
          </a:p>
        </p:txBody>
      </p:sp>
      <p:sp>
        <p:nvSpPr>
          <p:cNvPr id="15" name="Text 13"/>
          <p:cNvSpPr/>
          <p:nvPr/>
        </p:nvSpPr>
        <p:spPr>
          <a:xfrm>
            <a:off x="10972800" y="2743200"/>
            <a:ext cx="576072" cy="868680"/>
          </a:xfrm>
          <a:prstGeom prst="rect">
            <a:avLst/>
          </a:prstGeom>
          <a:noFill/>
          <a:ln/>
        </p:spPr>
        <p:txBody>
          <a:bodyPr wrap="square" lIns="0" tIns="0" rIns="0" bIns="0" rtlCol="0" anchor="ctr"/>
          <a:lstStyle/>
          <a:p>
            <a:pPr marL="0" indent="0" algn="r">
              <a:buNone/>
            </a:pPr>
            <a:r>
              <a:rPr lang="en-US" sz="2000" b="1" dirty="0">
                <a:solidFill>
                  <a:srgbClr val="E9A944"/>
                </a:solidFill>
                <a:latin typeface="Arial" pitchFamily="34" charset="0"/>
                <a:ea typeface="Arial" pitchFamily="34" charset="-122"/>
                <a:cs typeface="Arial" pitchFamily="34" charset="-120"/>
              </a:rPr>
              <a:t>25%</a:t>
            </a:r>
            <a:endParaRPr lang="en-US" sz="2000" dirty="0"/>
          </a:p>
        </p:txBody>
      </p:sp>
      <p:sp>
        <p:nvSpPr>
          <p:cNvPr id="16" name="Shape 14"/>
          <p:cNvSpPr/>
          <p:nvPr/>
        </p:nvSpPr>
        <p:spPr>
          <a:xfrm>
            <a:off x="640080" y="3794760"/>
            <a:ext cx="10908792" cy="868680"/>
          </a:xfrm>
          <a:prstGeom prst="roundRect">
            <a:avLst>
              <a:gd name="adj" fmla="val 6316"/>
            </a:avLst>
          </a:prstGeom>
          <a:solidFill>
            <a:srgbClr val="0D1632">
              <a:alpha val="88000"/>
            </a:srgbClr>
          </a:solidFill>
          <a:ln w="12700">
            <a:solidFill>
              <a:srgbClr val="24406F"/>
            </a:solidFill>
            <a:prstDash val="solid"/>
          </a:ln>
        </p:spPr>
        <p:txBody>
          <a:bodyPr/>
          <a:lstStyle/>
          <a:p>
            <a:endParaRPr lang="en-US"/>
          </a:p>
        </p:txBody>
      </p:sp>
      <p:sp>
        <p:nvSpPr>
          <p:cNvPr id="17" name="Text 15"/>
          <p:cNvSpPr/>
          <p:nvPr/>
        </p:nvSpPr>
        <p:spPr>
          <a:xfrm>
            <a:off x="914400" y="3794760"/>
            <a:ext cx="4023360" cy="8686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Storytelling &amp; Kejelasan Narasi</a:t>
            </a:r>
            <a:endParaRPr lang="en-US" sz="1450" dirty="0"/>
          </a:p>
        </p:txBody>
      </p:sp>
      <p:sp>
        <p:nvSpPr>
          <p:cNvPr id="18" name="Shape 16"/>
          <p:cNvSpPr/>
          <p:nvPr/>
        </p:nvSpPr>
        <p:spPr>
          <a:xfrm>
            <a:off x="5120640" y="4133088"/>
            <a:ext cx="5760720" cy="201168"/>
          </a:xfrm>
          <a:prstGeom prst="roundRect">
            <a:avLst>
              <a:gd name="adj" fmla="val 45455"/>
            </a:avLst>
          </a:prstGeom>
          <a:solidFill>
            <a:srgbClr val="16264A"/>
          </a:solidFill>
          <a:ln w="12700">
            <a:solidFill>
              <a:srgbClr val="333333"/>
            </a:solidFill>
            <a:prstDash val="solid"/>
          </a:ln>
        </p:spPr>
        <p:txBody>
          <a:bodyPr/>
          <a:lstStyle/>
          <a:p>
            <a:endParaRPr lang="en-US"/>
          </a:p>
        </p:txBody>
      </p:sp>
      <p:sp>
        <p:nvSpPr>
          <p:cNvPr id="19" name="Shape 17"/>
          <p:cNvSpPr/>
          <p:nvPr/>
        </p:nvSpPr>
        <p:spPr>
          <a:xfrm>
            <a:off x="5120640" y="4133088"/>
            <a:ext cx="4114800" cy="201168"/>
          </a:xfrm>
          <a:prstGeom prst="roundRect">
            <a:avLst>
              <a:gd name="adj" fmla="val 45455"/>
            </a:avLst>
          </a:prstGeom>
          <a:solidFill>
            <a:srgbClr val="E9A944"/>
          </a:solidFill>
          <a:ln w="12700">
            <a:solidFill>
              <a:srgbClr val="333333"/>
            </a:solidFill>
            <a:prstDash val="solid"/>
          </a:ln>
        </p:spPr>
        <p:txBody>
          <a:bodyPr/>
          <a:lstStyle/>
          <a:p>
            <a:endParaRPr lang="en-US"/>
          </a:p>
        </p:txBody>
      </p:sp>
      <p:sp>
        <p:nvSpPr>
          <p:cNvPr id="20" name="Text 18"/>
          <p:cNvSpPr/>
          <p:nvPr/>
        </p:nvSpPr>
        <p:spPr>
          <a:xfrm>
            <a:off x="10972800" y="3794760"/>
            <a:ext cx="576072" cy="868680"/>
          </a:xfrm>
          <a:prstGeom prst="rect">
            <a:avLst/>
          </a:prstGeom>
          <a:noFill/>
          <a:ln/>
        </p:spPr>
        <p:txBody>
          <a:bodyPr wrap="square" lIns="0" tIns="0" rIns="0" bIns="0" rtlCol="0" anchor="ctr"/>
          <a:lstStyle/>
          <a:p>
            <a:pPr marL="0" indent="0" algn="r">
              <a:buNone/>
            </a:pPr>
            <a:r>
              <a:rPr lang="en-US" sz="2000" b="1" dirty="0">
                <a:solidFill>
                  <a:srgbClr val="E9A944"/>
                </a:solidFill>
                <a:latin typeface="Arial" pitchFamily="34" charset="0"/>
                <a:ea typeface="Arial" pitchFamily="34" charset="-122"/>
                <a:cs typeface="Arial" pitchFamily="34" charset="-120"/>
              </a:rPr>
              <a:t>25%</a:t>
            </a:r>
            <a:endParaRPr lang="en-US" sz="2000" dirty="0"/>
          </a:p>
        </p:txBody>
      </p:sp>
      <p:sp>
        <p:nvSpPr>
          <p:cNvPr id="21" name="Shape 19"/>
          <p:cNvSpPr/>
          <p:nvPr/>
        </p:nvSpPr>
        <p:spPr>
          <a:xfrm>
            <a:off x="640080" y="4846320"/>
            <a:ext cx="10908792" cy="868680"/>
          </a:xfrm>
          <a:prstGeom prst="roundRect">
            <a:avLst>
              <a:gd name="adj" fmla="val 6316"/>
            </a:avLst>
          </a:prstGeom>
          <a:solidFill>
            <a:srgbClr val="0D1632">
              <a:alpha val="88000"/>
            </a:srgbClr>
          </a:solidFill>
          <a:ln w="12700">
            <a:solidFill>
              <a:srgbClr val="24406F"/>
            </a:solidFill>
            <a:prstDash val="solid"/>
          </a:ln>
        </p:spPr>
        <p:txBody>
          <a:bodyPr/>
          <a:lstStyle/>
          <a:p>
            <a:endParaRPr lang="en-US"/>
          </a:p>
        </p:txBody>
      </p:sp>
      <p:sp>
        <p:nvSpPr>
          <p:cNvPr id="22" name="Text 20"/>
          <p:cNvSpPr/>
          <p:nvPr/>
        </p:nvSpPr>
        <p:spPr>
          <a:xfrm>
            <a:off x="914400" y="4846320"/>
            <a:ext cx="4023360" cy="8686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Kreativitas &amp; Orisinalitas</a:t>
            </a:r>
            <a:endParaRPr lang="en-US" sz="1450" dirty="0"/>
          </a:p>
        </p:txBody>
      </p:sp>
      <p:sp>
        <p:nvSpPr>
          <p:cNvPr id="23" name="Shape 21"/>
          <p:cNvSpPr/>
          <p:nvPr/>
        </p:nvSpPr>
        <p:spPr>
          <a:xfrm>
            <a:off x="5120640" y="5184648"/>
            <a:ext cx="5760720" cy="201168"/>
          </a:xfrm>
          <a:prstGeom prst="roundRect">
            <a:avLst>
              <a:gd name="adj" fmla="val 45455"/>
            </a:avLst>
          </a:prstGeom>
          <a:solidFill>
            <a:srgbClr val="16264A"/>
          </a:solidFill>
          <a:ln w="12700">
            <a:solidFill>
              <a:srgbClr val="333333"/>
            </a:solidFill>
            <a:prstDash val="solid"/>
          </a:ln>
        </p:spPr>
        <p:txBody>
          <a:bodyPr/>
          <a:lstStyle/>
          <a:p>
            <a:endParaRPr lang="en-US"/>
          </a:p>
        </p:txBody>
      </p:sp>
      <p:sp>
        <p:nvSpPr>
          <p:cNvPr id="24" name="Shape 22"/>
          <p:cNvSpPr/>
          <p:nvPr/>
        </p:nvSpPr>
        <p:spPr>
          <a:xfrm>
            <a:off x="5120640" y="5184648"/>
            <a:ext cx="2468880" cy="201168"/>
          </a:xfrm>
          <a:prstGeom prst="roundRect">
            <a:avLst>
              <a:gd name="adj" fmla="val 45455"/>
            </a:avLst>
          </a:prstGeom>
          <a:solidFill>
            <a:srgbClr val="E9A944"/>
          </a:solidFill>
          <a:ln w="12700">
            <a:solidFill>
              <a:srgbClr val="333333"/>
            </a:solidFill>
            <a:prstDash val="solid"/>
          </a:ln>
        </p:spPr>
        <p:txBody>
          <a:bodyPr/>
          <a:lstStyle/>
          <a:p>
            <a:endParaRPr lang="en-US"/>
          </a:p>
        </p:txBody>
      </p:sp>
      <p:sp>
        <p:nvSpPr>
          <p:cNvPr id="25" name="Text 23"/>
          <p:cNvSpPr/>
          <p:nvPr/>
        </p:nvSpPr>
        <p:spPr>
          <a:xfrm>
            <a:off x="10972800" y="4846320"/>
            <a:ext cx="576072" cy="868680"/>
          </a:xfrm>
          <a:prstGeom prst="rect">
            <a:avLst/>
          </a:prstGeom>
          <a:noFill/>
          <a:ln/>
        </p:spPr>
        <p:txBody>
          <a:bodyPr wrap="square" lIns="0" tIns="0" rIns="0" bIns="0" rtlCol="0" anchor="ctr"/>
          <a:lstStyle/>
          <a:p>
            <a:pPr marL="0" indent="0" algn="r">
              <a:buNone/>
            </a:pPr>
            <a:r>
              <a:rPr lang="en-US" sz="2000" b="1" dirty="0">
                <a:solidFill>
                  <a:srgbClr val="E9A944"/>
                </a:solidFill>
                <a:latin typeface="Arial" pitchFamily="34" charset="0"/>
                <a:ea typeface="Arial" pitchFamily="34" charset="-122"/>
                <a:cs typeface="Arial" pitchFamily="34" charset="-120"/>
              </a:rPr>
              <a:t>15%</a:t>
            </a:r>
            <a:endParaRPr lang="en-US" sz="2000" dirty="0"/>
          </a:p>
        </p:txBody>
      </p:sp>
      <p:sp>
        <p:nvSpPr>
          <p:cNvPr id="26" name="Text 24"/>
          <p:cNvSpPr/>
          <p:nvPr/>
        </p:nvSpPr>
        <p:spPr>
          <a:xfrm>
            <a:off x="640080" y="5852160"/>
            <a:ext cx="10908792" cy="384048"/>
          </a:xfrm>
          <a:prstGeom prst="rect">
            <a:avLst/>
          </a:prstGeom>
          <a:noFill/>
          <a:ln/>
        </p:spPr>
        <p:txBody>
          <a:bodyPr wrap="square" lIns="0" tIns="0" rIns="0" bIns="0" rtlCol="0" anchor="ctr"/>
          <a:lstStyle/>
          <a:p>
            <a:pPr marL="0" indent="0">
              <a:buNone/>
            </a:pPr>
            <a:r>
              <a:rPr lang="en-US" sz="1200" i="1" dirty="0">
                <a:solidFill>
                  <a:srgbClr val="9FB0CE"/>
                </a:solidFill>
                <a:latin typeface="Calibri" pitchFamily="34" charset="0"/>
                <a:ea typeface="Calibri" pitchFamily="34" charset="-122"/>
                <a:cs typeface="Calibri" pitchFamily="34" charset="-120"/>
              </a:rPr>
              <a:t>Total bobot 100%. Akurasi data memegang porsi terbesar — infografis yang indah tetapi keliru membacanya akan kalah oleh karya yang analisisnya benar.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05</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Yang Dilarang</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08</a:t>
            </a:r>
            <a:endParaRPr lang="en-US" sz="1100" dirty="0"/>
          </a:p>
        </p:txBody>
      </p:sp>
      <p:sp>
        <p:nvSpPr>
          <p:cNvPr id="6" name="Shape 4"/>
          <p:cNvSpPr/>
          <p:nvPr/>
        </p:nvSpPr>
        <p:spPr>
          <a:xfrm>
            <a:off x="8366760" y="713232"/>
            <a:ext cx="3182112" cy="457200"/>
          </a:xfrm>
          <a:prstGeom prst="roundRect">
            <a:avLst>
              <a:gd name="adj" fmla="val 12000"/>
            </a:avLst>
          </a:prstGeom>
          <a:solidFill>
            <a:srgbClr val="2A0F0F"/>
          </a:solidFill>
          <a:ln w="12700">
            <a:solidFill>
              <a:srgbClr val="E86A6A"/>
            </a:solidFill>
            <a:prstDash val="solid"/>
          </a:ln>
        </p:spPr>
        <p:txBody>
          <a:bodyPr/>
          <a:lstStyle/>
          <a:p>
            <a:endParaRPr lang="en-US"/>
          </a:p>
        </p:txBody>
      </p:sp>
      <p:sp>
        <p:nvSpPr>
          <p:cNvPr id="7" name="Text 5"/>
          <p:cNvSpPr/>
          <p:nvPr/>
        </p:nvSpPr>
        <p:spPr>
          <a:xfrm>
            <a:off x="8366760" y="713232"/>
            <a:ext cx="3182112" cy="457200"/>
          </a:xfrm>
          <a:prstGeom prst="rect">
            <a:avLst/>
          </a:prstGeom>
          <a:noFill/>
          <a:ln/>
        </p:spPr>
        <p:txBody>
          <a:bodyPr wrap="square" lIns="0" tIns="0" rIns="0" bIns="0" rtlCol="0" anchor="ctr"/>
          <a:lstStyle/>
          <a:p>
            <a:pPr marL="0" indent="0" algn="ctr">
              <a:buNone/>
            </a:pPr>
            <a:r>
              <a:rPr lang="en-US" sz="1000" b="1" kern="0" spc="120" dirty="0">
                <a:solidFill>
                  <a:srgbClr val="9FB0CE"/>
                </a:solidFill>
                <a:latin typeface="Arial" pitchFamily="34" charset="0"/>
                <a:ea typeface="Arial" pitchFamily="34" charset="-122"/>
                <a:cs typeface="Arial" pitchFamily="34" charset="-120"/>
              </a:rPr>
              <a:t>SANKSI:  </a:t>
            </a:r>
            <a:r>
              <a:rPr lang="en-US" sz="1250" b="1" kern="0" spc="160" dirty="0">
                <a:solidFill>
                  <a:srgbClr val="E86A6A"/>
                </a:solidFill>
                <a:latin typeface="Arial" pitchFamily="34" charset="0"/>
                <a:ea typeface="Arial" pitchFamily="34" charset="-122"/>
                <a:cs typeface="Arial" pitchFamily="34" charset="-120"/>
              </a:rPr>
              <a:t>DISKUALIFIKASI</a:t>
            </a:r>
            <a:endParaRPr lang="en-US" sz="1000" dirty="0"/>
          </a:p>
        </p:txBody>
      </p:sp>
      <p:sp>
        <p:nvSpPr>
          <p:cNvPr id="8" name="Shape 6"/>
          <p:cNvSpPr/>
          <p:nvPr/>
        </p:nvSpPr>
        <p:spPr>
          <a:xfrm>
            <a:off x="640080" y="1463040"/>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9" name="Shape 7"/>
          <p:cNvSpPr/>
          <p:nvPr/>
        </p:nvSpPr>
        <p:spPr>
          <a:xfrm>
            <a:off x="896112" y="1591056"/>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10" name="Text 8"/>
          <p:cNvSpPr/>
          <p:nvPr/>
        </p:nvSpPr>
        <p:spPr>
          <a:xfrm>
            <a:off x="896112" y="1591056"/>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11" name="Text 9"/>
          <p:cNvSpPr/>
          <p:nvPr/>
        </p:nvSpPr>
        <p:spPr>
          <a:xfrm>
            <a:off x="1389888" y="1463040"/>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Plagiarisme desain, termasuk memakai karya atau template berhak cipta tanpa lisensi yang sah.</a:t>
            </a:r>
            <a:endParaRPr lang="en-US" sz="1300" dirty="0"/>
          </a:p>
        </p:txBody>
      </p:sp>
      <p:sp>
        <p:nvSpPr>
          <p:cNvPr id="12" name="Shape 10"/>
          <p:cNvSpPr/>
          <p:nvPr/>
        </p:nvSpPr>
        <p:spPr>
          <a:xfrm>
            <a:off x="640080" y="2139696"/>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13" name="Shape 11"/>
          <p:cNvSpPr/>
          <p:nvPr/>
        </p:nvSpPr>
        <p:spPr>
          <a:xfrm>
            <a:off x="896112" y="2267712"/>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14" name="Text 12"/>
          <p:cNvSpPr/>
          <p:nvPr/>
        </p:nvSpPr>
        <p:spPr>
          <a:xfrm>
            <a:off x="896112" y="2267712"/>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15" name="Text 13"/>
          <p:cNvSpPr/>
          <p:nvPr/>
        </p:nvSpPr>
        <p:spPr>
          <a:xfrm>
            <a:off x="1389888" y="2139696"/>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Memakai ikon, font, atau foto pihak ketiga tanpa mencantumkan kredit sumbernya.</a:t>
            </a:r>
            <a:endParaRPr lang="en-US" sz="1300" dirty="0"/>
          </a:p>
        </p:txBody>
      </p:sp>
      <p:sp>
        <p:nvSpPr>
          <p:cNvPr id="16" name="Shape 14"/>
          <p:cNvSpPr/>
          <p:nvPr/>
        </p:nvSpPr>
        <p:spPr>
          <a:xfrm>
            <a:off x="640080" y="2816352"/>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17" name="Shape 15"/>
          <p:cNvSpPr/>
          <p:nvPr/>
        </p:nvSpPr>
        <p:spPr>
          <a:xfrm>
            <a:off x="896112" y="2944368"/>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18" name="Text 16"/>
          <p:cNvSpPr/>
          <p:nvPr/>
        </p:nvSpPr>
        <p:spPr>
          <a:xfrm>
            <a:off x="896112" y="2944368"/>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1389888" y="2816352"/>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Memanipulasi atau memalsukan data di luar dataset resmi sehingga menyesatkan pembaca.</a:t>
            </a:r>
            <a:endParaRPr lang="en-US" sz="1300" dirty="0"/>
          </a:p>
        </p:txBody>
      </p:sp>
      <p:sp>
        <p:nvSpPr>
          <p:cNvPr id="20" name="Shape 18"/>
          <p:cNvSpPr/>
          <p:nvPr/>
        </p:nvSpPr>
        <p:spPr>
          <a:xfrm>
            <a:off x="640080" y="3493008"/>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21" name="Shape 19"/>
          <p:cNvSpPr/>
          <p:nvPr/>
        </p:nvSpPr>
        <p:spPr>
          <a:xfrm>
            <a:off x="896112" y="3621024"/>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22" name="Text 20"/>
          <p:cNvSpPr/>
          <p:nvPr/>
        </p:nvSpPr>
        <p:spPr>
          <a:xfrm>
            <a:off x="896112" y="3621024"/>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1389888" y="3493008"/>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Menggunakan data di luar dataset resmi panitia.</a:t>
            </a:r>
            <a:endParaRPr lang="en-US" sz="1300" dirty="0"/>
          </a:p>
        </p:txBody>
      </p:sp>
      <p:sp>
        <p:nvSpPr>
          <p:cNvPr id="24" name="Shape 22"/>
          <p:cNvSpPr/>
          <p:nvPr/>
        </p:nvSpPr>
        <p:spPr>
          <a:xfrm>
            <a:off x="640080" y="4169664"/>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25" name="Shape 23"/>
          <p:cNvSpPr/>
          <p:nvPr/>
        </p:nvSpPr>
        <p:spPr>
          <a:xfrm>
            <a:off x="896112" y="4297680"/>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26" name="Text 24"/>
          <p:cNvSpPr/>
          <p:nvPr/>
        </p:nvSpPr>
        <p:spPr>
          <a:xfrm>
            <a:off x="896112" y="4297680"/>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1389888" y="4169664"/>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Mencantumkan nama universitas mana pun sebagai pemilik data dalam karya.</a:t>
            </a:r>
            <a:endParaRPr lang="en-US" sz="1300" dirty="0"/>
          </a:p>
        </p:txBody>
      </p:sp>
      <p:sp>
        <p:nvSpPr>
          <p:cNvPr id="28" name="Shape 26"/>
          <p:cNvSpPr/>
          <p:nvPr/>
        </p:nvSpPr>
        <p:spPr>
          <a:xfrm>
            <a:off x="640080" y="4846320"/>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29" name="Shape 27"/>
          <p:cNvSpPr/>
          <p:nvPr/>
        </p:nvSpPr>
        <p:spPr>
          <a:xfrm>
            <a:off x="896112" y="4974336"/>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30" name="Text 28"/>
          <p:cNvSpPr/>
          <p:nvPr/>
        </p:nvSpPr>
        <p:spPr>
          <a:xfrm>
            <a:off x="896112" y="4974336"/>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31" name="Text 29"/>
          <p:cNvSpPr/>
          <p:nvPr/>
        </p:nvSpPr>
        <p:spPr>
          <a:xfrm>
            <a:off x="1389888" y="4846320"/>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Membuat elemen visual utama dan narasi menggunakan AI generatif.</a:t>
            </a:r>
            <a:endParaRPr lang="en-US" sz="1300" dirty="0"/>
          </a:p>
        </p:txBody>
      </p:sp>
      <p:sp>
        <p:nvSpPr>
          <p:cNvPr id="32" name="Shape 30"/>
          <p:cNvSpPr/>
          <p:nvPr/>
        </p:nvSpPr>
        <p:spPr>
          <a:xfrm>
            <a:off x="640080" y="5522976"/>
            <a:ext cx="10908792" cy="585216"/>
          </a:xfrm>
          <a:prstGeom prst="roundRect">
            <a:avLst>
              <a:gd name="adj" fmla="val 9375"/>
            </a:avLst>
          </a:prstGeom>
          <a:solidFill>
            <a:srgbClr val="0D1632">
              <a:alpha val="88000"/>
            </a:srgbClr>
          </a:solidFill>
          <a:ln w="12700">
            <a:solidFill>
              <a:srgbClr val="24406F"/>
            </a:solidFill>
            <a:prstDash val="solid"/>
          </a:ln>
        </p:spPr>
        <p:txBody>
          <a:bodyPr/>
          <a:lstStyle/>
          <a:p>
            <a:endParaRPr lang="en-US"/>
          </a:p>
        </p:txBody>
      </p:sp>
      <p:sp>
        <p:nvSpPr>
          <p:cNvPr id="33" name="Shape 31"/>
          <p:cNvSpPr/>
          <p:nvPr/>
        </p:nvSpPr>
        <p:spPr>
          <a:xfrm>
            <a:off x="896112" y="5650992"/>
            <a:ext cx="329184"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34" name="Text 32"/>
          <p:cNvSpPr/>
          <p:nvPr/>
        </p:nvSpPr>
        <p:spPr>
          <a:xfrm>
            <a:off x="896112" y="5650992"/>
            <a:ext cx="329184" cy="329184"/>
          </a:xfrm>
          <a:prstGeom prst="rect">
            <a:avLst/>
          </a:prstGeom>
          <a:noFill/>
          <a:ln/>
        </p:spPr>
        <p:txBody>
          <a:bodyPr wrap="square" lIns="0" tIns="0" rIns="0" bIns="0" rtlCol="0" anchor="ctr"/>
          <a:lstStyle/>
          <a:p>
            <a:pPr marL="0" indent="0" algn="ctr">
              <a:buNone/>
            </a:pPr>
            <a:r>
              <a:rPr lang="en-US" sz="1200" b="1" dirty="0">
                <a:solidFill>
                  <a:srgbClr val="E86A6A"/>
                </a:solidFill>
                <a:latin typeface="Arial" pitchFamily="34" charset="0"/>
                <a:ea typeface="Arial" pitchFamily="34" charset="-122"/>
                <a:cs typeface="Arial" pitchFamily="34" charset="-120"/>
              </a:rPr>
              <a:t>✕</a:t>
            </a:r>
            <a:endParaRPr lang="en-US" sz="1200" dirty="0"/>
          </a:p>
        </p:txBody>
      </p:sp>
      <p:sp>
        <p:nvSpPr>
          <p:cNvPr id="35" name="Text 33"/>
          <p:cNvSpPr/>
          <p:nvPr/>
        </p:nvSpPr>
        <p:spPr>
          <a:xfrm>
            <a:off x="1389888" y="5522976"/>
            <a:ext cx="9875520" cy="58521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Menggunakan joki atau melibatkan anggota di luar yang terdaftar.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050" b="1" kern="0" spc="220" dirty="0">
                <a:solidFill>
                  <a:srgbClr val="E9A944"/>
                </a:solidFill>
                <a:latin typeface="Arial" pitchFamily="34" charset="0"/>
                <a:ea typeface="Arial" pitchFamily="34" charset="-122"/>
                <a:cs typeface="Arial" pitchFamily="34" charset="-120"/>
              </a:rPr>
              <a:t>BAGIAN 05</a:t>
            </a:r>
            <a:endParaRPr lang="en-US" sz="1050" dirty="0"/>
          </a:p>
        </p:txBody>
      </p:sp>
      <p:sp>
        <p:nvSpPr>
          <p:cNvPr id="3" name="Text 1"/>
          <p:cNvSpPr/>
          <p:nvPr/>
        </p:nvSpPr>
        <p:spPr>
          <a:xfrm>
            <a:off x="640080" y="658368"/>
            <a:ext cx="10881360" cy="566928"/>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Batasan Penggunaan AI Generatif</a:t>
            </a:r>
            <a:endParaRPr lang="en-US" sz="3000" dirty="0"/>
          </a:p>
        </p:txBody>
      </p:sp>
      <p:sp>
        <p:nvSpPr>
          <p:cNvPr id="4" name="Text 2"/>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
        <p:nvSpPr>
          <p:cNvPr id="5" name="Text 3"/>
          <p:cNvSpPr/>
          <p:nvPr/>
        </p:nvSpPr>
        <p:spPr>
          <a:xfrm>
            <a:off x="10881360" y="6309360"/>
            <a:ext cx="667512" cy="274320"/>
          </a:xfrm>
          <a:prstGeom prst="rect">
            <a:avLst/>
          </a:prstGeom>
          <a:noFill/>
          <a:ln/>
        </p:spPr>
        <p:txBody>
          <a:bodyPr wrap="square" lIns="0" tIns="0" rIns="0" bIns="0" rtlCol="0" anchor="ctr"/>
          <a:lstStyle/>
          <a:p>
            <a:pPr marL="0" indent="0" algn="r">
              <a:buNone/>
            </a:pPr>
            <a:r>
              <a:rPr lang="en-US" sz="1100" b="1" dirty="0">
                <a:solidFill>
                  <a:srgbClr val="8A6420"/>
                </a:solidFill>
                <a:latin typeface="Courier New" pitchFamily="34" charset="0"/>
                <a:ea typeface="Courier New" pitchFamily="34" charset="-122"/>
                <a:cs typeface="Courier New" pitchFamily="34" charset="-120"/>
              </a:rPr>
              <a:t>09</a:t>
            </a:r>
            <a:endParaRPr lang="en-US" sz="1100" dirty="0"/>
          </a:p>
        </p:txBody>
      </p:sp>
      <p:sp>
        <p:nvSpPr>
          <p:cNvPr id="6" name="Text 4"/>
          <p:cNvSpPr/>
          <p:nvPr/>
        </p:nvSpPr>
        <p:spPr>
          <a:xfrm>
            <a:off x="640080" y="1371600"/>
            <a:ext cx="10908792" cy="310896"/>
          </a:xfrm>
          <a:prstGeom prst="rect">
            <a:avLst/>
          </a:prstGeom>
          <a:noFill/>
          <a:ln/>
        </p:spPr>
        <p:txBody>
          <a:bodyPr wrap="square" lIns="0" tIns="0" rIns="0" bIns="0" rtlCol="0" anchor="ctr"/>
          <a:lstStyle/>
          <a:p>
            <a:pPr marL="0" indent="0">
              <a:buNone/>
            </a:pPr>
            <a:r>
              <a:rPr lang="en-US" sz="1400" dirty="0">
                <a:solidFill>
                  <a:srgbClr val="9FB0CE"/>
                </a:solidFill>
                <a:latin typeface="Calibri" pitchFamily="34" charset="0"/>
                <a:ea typeface="Calibri" pitchFamily="34" charset="-122"/>
                <a:cs typeface="Calibri" pitchFamily="34" charset="-120"/>
              </a:rPr>
              <a:t>AI generatif boleh dipakai sebagai alat bantu berpikir, bukan sebagai pembuat karya.</a:t>
            </a:r>
            <a:endParaRPr lang="en-US" sz="1400" dirty="0"/>
          </a:p>
        </p:txBody>
      </p:sp>
      <p:sp>
        <p:nvSpPr>
          <p:cNvPr id="7" name="Shape 5"/>
          <p:cNvSpPr/>
          <p:nvPr/>
        </p:nvSpPr>
        <p:spPr>
          <a:xfrm>
            <a:off x="640080" y="1874520"/>
            <a:ext cx="5303520" cy="3154680"/>
          </a:xfrm>
          <a:prstGeom prst="roundRect">
            <a:avLst>
              <a:gd name="adj" fmla="val 1739"/>
            </a:avLst>
          </a:prstGeom>
          <a:solidFill>
            <a:srgbClr val="0D1632">
              <a:alpha val="88000"/>
            </a:srgbClr>
          </a:solidFill>
          <a:ln w="12700">
            <a:solidFill>
              <a:srgbClr val="4ADE80"/>
            </a:solidFill>
            <a:prstDash val="solid"/>
          </a:ln>
        </p:spPr>
        <p:txBody>
          <a:bodyPr/>
          <a:lstStyle/>
          <a:p>
            <a:endParaRPr lang="en-US"/>
          </a:p>
        </p:txBody>
      </p:sp>
      <p:sp>
        <p:nvSpPr>
          <p:cNvPr id="8" name="Shape 6"/>
          <p:cNvSpPr/>
          <p:nvPr/>
        </p:nvSpPr>
        <p:spPr>
          <a:xfrm>
            <a:off x="914400" y="2148840"/>
            <a:ext cx="1417320" cy="329184"/>
          </a:xfrm>
          <a:prstGeom prst="roundRect">
            <a:avLst>
              <a:gd name="adj" fmla="val 13889"/>
            </a:avLst>
          </a:prstGeom>
          <a:solidFill>
            <a:srgbClr val="0E2A1C"/>
          </a:solidFill>
          <a:ln w="12700">
            <a:solidFill>
              <a:srgbClr val="4ADE80"/>
            </a:solidFill>
            <a:prstDash val="solid"/>
          </a:ln>
        </p:spPr>
        <p:txBody>
          <a:bodyPr/>
          <a:lstStyle/>
          <a:p>
            <a:endParaRPr lang="en-US"/>
          </a:p>
        </p:txBody>
      </p:sp>
      <p:sp>
        <p:nvSpPr>
          <p:cNvPr id="9" name="Text 7"/>
          <p:cNvSpPr/>
          <p:nvPr/>
        </p:nvSpPr>
        <p:spPr>
          <a:xfrm>
            <a:off x="914400" y="2148840"/>
            <a:ext cx="1417320" cy="329184"/>
          </a:xfrm>
          <a:prstGeom prst="rect">
            <a:avLst/>
          </a:prstGeom>
          <a:noFill/>
          <a:ln/>
        </p:spPr>
        <p:txBody>
          <a:bodyPr wrap="square" lIns="0" tIns="0" rIns="0" bIns="0" rtlCol="0" anchor="ctr"/>
          <a:lstStyle/>
          <a:p>
            <a:pPr marL="0" indent="0" algn="ctr">
              <a:buNone/>
            </a:pPr>
            <a:r>
              <a:rPr lang="en-US" sz="1050" b="1" kern="0" spc="140" dirty="0">
                <a:solidFill>
                  <a:srgbClr val="4ADE80"/>
                </a:solidFill>
                <a:latin typeface="Arial" pitchFamily="34" charset="0"/>
                <a:ea typeface="Arial" pitchFamily="34" charset="-122"/>
                <a:cs typeface="Arial" pitchFamily="34" charset="-120"/>
              </a:rPr>
              <a:t>BOLEH</a:t>
            </a:r>
            <a:endParaRPr lang="en-US" sz="1050" dirty="0"/>
          </a:p>
        </p:txBody>
      </p:sp>
      <p:sp>
        <p:nvSpPr>
          <p:cNvPr id="10" name="Shape 8"/>
          <p:cNvSpPr/>
          <p:nvPr/>
        </p:nvSpPr>
        <p:spPr>
          <a:xfrm>
            <a:off x="950976" y="2852928"/>
            <a:ext cx="109728" cy="109728"/>
          </a:xfrm>
          <a:prstGeom prst="ellipse">
            <a:avLst/>
          </a:prstGeom>
          <a:solidFill>
            <a:srgbClr val="4ADE80"/>
          </a:solidFill>
          <a:ln w="12700">
            <a:solidFill>
              <a:srgbClr val="333333"/>
            </a:solidFill>
            <a:prstDash val="solid"/>
          </a:ln>
        </p:spPr>
        <p:txBody>
          <a:bodyPr/>
          <a:lstStyle/>
          <a:p>
            <a:endParaRPr lang="en-US"/>
          </a:p>
        </p:txBody>
      </p:sp>
      <p:sp>
        <p:nvSpPr>
          <p:cNvPr id="11" name="Text 9"/>
          <p:cNvSpPr/>
          <p:nvPr/>
        </p:nvSpPr>
        <p:spPr>
          <a:xfrm>
            <a:off x="1207008" y="2697480"/>
            <a:ext cx="4434840" cy="3749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Membantu memahami isi dataset.</a:t>
            </a:r>
            <a:endParaRPr lang="en-US" sz="1300" dirty="0"/>
          </a:p>
        </p:txBody>
      </p:sp>
      <p:sp>
        <p:nvSpPr>
          <p:cNvPr id="12" name="Shape 10"/>
          <p:cNvSpPr/>
          <p:nvPr/>
        </p:nvSpPr>
        <p:spPr>
          <a:xfrm>
            <a:off x="950976" y="3566160"/>
            <a:ext cx="109728" cy="109728"/>
          </a:xfrm>
          <a:prstGeom prst="ellipse">
            <a:avLst/>
          </a:prstGeom>
          <a:solidFill>
            <a:srgbClr val="4ADE80"/>
          </a:solidFill>
          <a:ln w="12700">
            <a:solidFill>
              <a:srgbClr val="333333"/>
            </a:solidFill>
            <a:prstDash val="solid"/>
          </a:ln>
        </p:spPr>
        <p:txBody>
          <a:bodyPr/>
          <a:lstStyle/>
          <a:p>
            <a:endParaRPr lang="en-US"/>
          </a:p>
        </p:txBody>
      </p:sp>
      <p:sp>
        <p:nvSpPr>
          <p:cNvPr id="13" name="Text 11"/>
          <p:cNvSpPr/>
          <p:nvPr/>
        </p:nvSpPr>
        <p:spPr>
          <a:xfrm>
            <a:off x="1207008" y="3410712"/>
            <a:ext cx="4434840" cy="48463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Mencari potensi pendalaman insight yang bisa Anda telusuri sendiri.</a:t>
            </a:r>
            <a:endParaRPr lang="en-US" sz="1300" dirty="0"/>
          </a:p>
        </p:txBody>
      </p:sp>
      <p:sp>
        <p:nvSpPr>
          <p:cNvPr id="14" name="Shape 12"/>
          <p:cNvSpPr/>
          <p:nvPr/>
        </p:nvSpPr>
        <p:spPr>
          <a:xfrm>
            <a:off x="6245352" y="1874520"/>
            <a:ext cx="5303520" cy="3154680"/>
          </a:xfrm>
          <a:prstGeom prst="roundRect">
            <a:avLst>
              <a:gd name="adj" fmla="val 1739"/>
            </a:avLst>
          </a:prstGeom>
          <a:solidFill>
            <a:srgbClr val="0D1632">
              <a:alpha val="88000"/>
            </a:srgbClr>
          </a:solidFill>
          <a:ln w="12700">
            <a:solidFill>
              <a:srgbClr val="E86A6A"/>
            </a:solidFill>
            <a:prstDash val="solid"/>
          </a:ln>
        </p:spPr>
        <p:txBody>
          <a:bodyPr/>
          <a:lstStyle/>
          <a:p>
            <a:endParaRPr lang="en-US"/>
          </a:p>
        </p:txBody>
      </p:sp>
      <p:sp>
        <p:nvSpPr>
          <p:cNvPr id="15" name="Shape 13"/>
          <p:cNvSpPr/>
          <p:nvPr/>
        </p:nvSpPr>
        <p:spPr>
          <a:xfrm>
            <a:off x="6519672" y="2148840"/>
            <a:ext cx="1417320" cy="329184"/>
          </a:xfrm>
          <a:prstGeom prst="roundRect">
            <a:avLst>
              <a:gd name="adj" fmla="val 13889"/>
            </a:avLst>
          </a:prstGeom>
          <a:solidFill>
            <a:srgbClr val="2A0F0F"/>
          </a:solidFill>
          <a:ln w="12700">
            <a:solidFill>
              <a:srgbClr val="E86A6A"/>
            </a:solidFill>
            <a:prstDash val="solid"/>
          </a:ln>
        </p:spPr>
        <p:txBody>
          <a:bodyPr/>
          <a:lstStyle/>
          <a:p>
            <a:endParaRPr lang="en-US"/>
          </a:p>
        </p:txBody>
      </p:sp>
      <p:sp>
        <p:nvSpPr>
          <p:cNvPr id="16" name="Text 14"/>
          <p:cNvSpPr/>
          <p:nvPr/>
        </p:nvSpPr>
        <p:spPr>
          <a:xfrm>
            <a:off x="6519672" y="2148840"/>
            <a:ext cx="1417320" cy="329184"/>
          </a:xfrm>
          <a:prstGeom prst="rect">
            <a:avLst/>
          </a:prstGeom>
          <a:noFill/>
          <a:ln/>
        </p:spPr>
        <p:txBody>
          <a:bodyPr wrap="square" lIns="0" tIns="0" rIns="0" bIns="0" rtlCol="0" anchor="ctr"/>
          <a:lstStyle/>
          <a:p>
            <a:pPr marL="0" indent="0" algn="ctr">
              <a:buNone/>
            </a:pPr>
            <a:r>
              <a:rPr lang="en-US" sz="1050" b="1" kern="0" spc="140" dirty="0">
                <a:solidFill>
                  <a:srgbClr val="E86A6A"/>
                </a:solidFill>
                <a:latin typeface="Arial" pitchFamily="34" charset="0"/>
                <a:ea typeface="Arial" pitchFamily="34" charset="-122"/>
                <a:cs typeface="Arial" pitchFamily="34" charset="-120"/>
              </a:rPr>
              <a:t>TIDAK BOLEH</a:t>
            </a:r>
            <a:endParaRPr lang="en-US" sz="1050" dirty="0"/>
          </a:p>
        </p:txBody>
      </p:sp>
      <p:sp>
        <p:nvSpPr>
          <p:cNvPr id="17" name="Shape 15"/>
          <p:cNvSpPr/>
          <p:nvPr/>
        </p:nvSpPr>
        <p:spPr>
          <a:xfrm>
            <a:off x="6556248" y="2852928"/>
            <a:ext cx="109728" cy="109728"/>
          </a:xfrm>
          <a:prstGeom prst="ellipse">
            <a:avLst/>
          </a:prstGeom>
          <a:solidFill>
            <a:srgbClr val="E86A6A"/>
          </a:solidFill>
          <a:ln w="12700">
            <a:solidFill>
              <a:srgbClr val="333333"/>
            </a:solidFill>
            <a:prstDash val="solid"/>
          </a:ln>
        </p:spPr>
        <p:txBody>
          <a:bodyPr/>
          <a:lstStyle/>
          <a:p>
            <a:endParaRPr lang="en-US"/>
          </a:p>
        </p:txBody>
      </p:sp>
      <p:sp>
        <p:nvSpPr>
          <p:cNvPr id="18" name="Text 16"/>
          <p:cNvSpPr/>
          <p:nvPr/>
        </p:nvSpPr>
        <p:spPr>
          <a:xfrm>
            <a:off x="6812280" y="2697480"/>
            <a:ext cx="4434840" cy="3749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Membuat elemen visual utama karya.</a:t>
            </a:r>
            <a:endParaRPr lang="en-US" sz="1300" dirty="0"/>
          </a:p>
        </p:txBody>
      </p:sp>
      <p:sp>
        <p:nvSpPr>
          <p:cNvPr id="19" name="Shape 17"/>
          <p:cNvSpPr/>
          <p:nvPr/>
        </p:nvSpPr>
        <p:spPr>
          <a:xfrm>
            <a:off x="6556248" y="3566160"/>
            <a:ext cx="109728" cy="109728"/>
          </a:xfrm>
          <a:prstGeom prst="ellipse">
            <a:avLst/>
          </a:prstGeom>
          <a:solidFill>
            <a:srgbClr val="E86A6A"/>
          </a:solidFill>
          <a:ln w="12700">
            <a:solidFill>
              <a:srgbClr val="333333"/>
            </a:solidFill>
            <a:prstDash val="solid"/>
          </a:ln>
        </p:spPr>
        <p:txBody>
          <a:bodyPr/>
          <a:lstStyle/>
          <a:p>
            <a:endParaRPr lang="en-US"/>
          </a:p>
        </p:txBody>
      </p:sp>
      <p:sp>
        <p:nvSpPr>
          <p:cNvPr id="20" name="Text 18"/>
          <p:cNvSpPr/>
          <p:nvPr/>
        </p:nvSpPr>
        <p:spPr>
          <a:xfrm>
            <a:off x="6812280" y="3410712"/>
            <a:ext cx="4434840" cy="3749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Membuat narasi infografis.</a:t>
            </a:r>
            <a:endParaRPr lang="en-US" sz="1300" dirty="0"/>
          </a:p>
        </p:txBody>
      </p:sp>
      <p:sp>
        <p:nvSpPr>
          <p:cNvPr id="21" name="Shape 19"/>
          <p:cNvSpPr/>
          <p:nvPr/>
        </p:nvSpPr>
        <p:spPr>
          <a:xfrm>
            <a:off x="6556248" y="4279392"/>
            <a:ext cx="109728" cy="109728"/>
          </a:xfrm>
          <a:prstGeom prst="ellipse">
            <a:avLst/>
          </a:prstGeom>
          <a:solidFill>
            <a:srgbClr val="E86A6A"/>
          </a:solidFill>
          <a:ln w="12700">
            <a:solidFill>
              <a:srgbClr val="333333"/>
            </a:solidFill>
            <a:prstDash val="solid"/>
          </a:ln>
        </p:spPr>
        <p:txBody>
          <a:bodyPr/>
          <a:lstStyle/>
          <a:p>
            <a:endParaRPr lang="en-US"/>
          </a:p>
        </p:txBody>
      </p:sp>
      <p:sp>
        <p:nvSpPr>
          <p:cNvPr id="22" name="Text 20"/>
          <p:cNvSpPr/>
          <p:nvPr/>
        </p:nvSpPr>
        <p:spPr>
          <a:xfrm>
            <a:off x="6812280" y="4123944"/>
            <a:ext cx="4434840" cy="37490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Menyalin-tempel hasil AI secara mentah ke dalam karya.</a:t>
            </a:r>
            <a:endParaRPr lang="en-US" sz="1300" dirty="0"/>
          </a:p>
        </p:txBody>
      </p:sp>
      <p:sp>
        <p:nvSpPr>
          <p:cNvPr id="23" name="Shape 21"/>
          <p:cNvSpPr/>
          <p:nvPr/>
        </p:nvSpPr>
        <p:spPr>
          <a:xfrm>
            <a:off x="640080" y="5230368"/>
            <a:ext cx="10908792" cy="868680"/>
          </a:xfrm>
          <a:prstGeom prst="roundRect">
            <a:avLst>
              <a:gd name="adj" fmla="val 6316"/>
            </a:avLst>
          </a:prstGeom>
          <a:solidFill>
            <a:srgbClr val="1A1206">
              <a:alpha val="45000"/>
            </a:srgbClr>
          </a:solidFill>
          <a:ln w="12700">
            <a:solidFill>
              <a:srgbClr val="8A6420"/>
            </a:solidFill>
            <a:prstDash val="solid"/>
          </a:ln>
        </p:spPr>
        <p:txBody>
          <a:bodyPr/>
          <a:lstStyle/>
          <a:p>
            <a:endParaRPr lang="en-US"/>
          </a:p>
        </p:txBody>
      </p:sp>
      <p:sp>
        <p:nvSpPr>
          <p:cNvPr id="24" name="Text 22"/>
          <p:cNvSpPr/>
          <p:nvPr/>
        </p:nvSpPr>
        <p:spPr>
          <a:xfrm>
            <a:off x="914400" y="5230368"/>
            <a:ext cx="10424160" cy="8686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Uji sederhana: jika Anda tidak bisa menjelaskan dari mana sebuah angka, kalimat, atau elemen visual berasal, karya itu belum layak dikumpulkan.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30352"/>
            <a:ext cx="1181496" cy="1042416"/>
          </a:xfrm>
          <a:prstGeom prst="roundRect">
            <a:avLst>
              <a:gd name="adj" fmla="val 4386"/>
            </a:avLst>
          </a:prstGeom>
          <a:solidFill>
            <a:srgbClr val="122042"/>
          </a:solidFill>
          <a:ln w="12700">
            <a:solidFill>
              <a:srgbClr val="24406F"/>
            </a:solidFill>
            <a:prstDash val="solid"/>
          </a:ln>
        </p:spPr>
        <p:txBody>
          <a:bodyPr/>
          <a:lstStyle/>
          <a:p>
            <a:endParaRPr lang="en-US"/>
          </a:p>
        </p:txBody>
      </p:sp>
      <p:pic>
        <p:nvPicPr>
          <p:cNvPr id="3" name="Image 0" descr="assets/logo.png"/>
          <p:cNvPicPr>
            <a:picLocks noChangeAspect="1"/>
          </p:cNvPicPr>
          <p:nvPr/>
        </p:nvPicPr>
        <p:blipFill>
          <a:blip r:embed="rId4"/>
          <a:stretch>
            <a:fillRect/>
          </a:stretch>
        </p:blipFill>
        <p:spPr>
          <a:xfrm>
            <a:off x="749808" y="640080"/>
            <a:ext cx="962040" cy="822960"/>
          </a:xfrm>
          <a:prstGeom prst="rect">
            <a:avLst/>
          </a:prstGeom>
        </p:spPr>
      </p:pic>
      <p:sp>
        <p:nvSpPr>
          <p:cNvPr id="4" name="Text 1"/>
          <p:cNvSpPr/>
          <p:nvPr/>
        </p:nvSpPr>
        <p:spPr>
          <a:xfrm>
            <a:off x="658368" y="1810512"/>
            <a:ext cx="10881360" cy="292608"/>
          </a:xfrm>
          <a:prstGeom prst="rect">
            <a:avLst/>
          </a:prstGeom>
          <a:noFill/>
          <a:ln/>
        </p:spPr>
        <p:txBody>
          <a:bodyPr wrap="square" lIns="0" tIns="0" rIns="0" bIns="0" rtlCol="0" anchor="ctr"/>
          <a:lstStyle/>
          <a:p>
            <a:pPr marL="0" indent="0">
              <a:buNone/>
            </a:pPr>
            <a:r>
              <a:rPr lang="en-US" sz="1100" b="1" kern="0" spc="240" dirty="0">
                <a:solidFill>
                  <a:srgbClr val="E9A944"/>
                </a:solidFill>
                <a:latin typeface="Arial" pitchFamily="34" charset="0"/>
                <a:ea typeface="Arial" pitchFamily="34" charset="-122"/>
                <a:cs typeface="Arial" pitchFamily="34" charset="-120"/>
              </a:rPr>
              <a:t>TANYA JAWAB</a:t>
            </a:r>
            <a:endParaRPr lang="en-US" sz="1100" dirty="0"/>
          </a:p>
        </p:txBody>
      </p:sp>
      <p:sp>
        <p:nvSpPr>
          <p:cNvPr id="5" name="Text 2"/>
          <p:cNvSpPr/>
          <p:nvPr/>
        </p:nvSpPr>
        <p:spPr>
          <a:xfrm>
            <a:off x="621792" y="2130552"/>
            <a:ext cx="10881360" cy="86868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Terima Kasih</a:t>
            </a:r>
            <a:endParaRPr lang="en-US" sz="5200" dirty="0"/>
          </a:p>
        </p:txBody>
      </p:sp>
      <p:sp>
        <p:nvSpPr>
          <p:cNvPr id="6" name="Text 3"/>
          <p:cNvSpPr/>
          <p:nvPr/>
        </p:nvSpPr>
        <p:spPr>
          <a:xfrm>
            <a:off x="658368" y="3072384"/>
            <a:ext cx="10881360" cy="365760"/>
          </a:xfrm>
          <a:prstGeom prst="rect">
            <a:avLst/>
          </a:prstGeom>
          <a:noFill/>
          <a:ln/>
        </p:spPr>
        <p:txBody>
          <a:bodyPr wrap="square" lIns="0" tIns="0" rIns="0" bIns="0" rtlCol="0" anchor="ctr"/>
          <a:lstStyle/>
          <a:p>
            <a:pPr marL="0" indent="0">
              <a:buNone/>
            </a:pPr>
            <a:r>
              <a:rPr lang="en-US" sz="1600" dirty="0">
                <a:solidFill>
                  <a:srgbClr val="9FB0CE"/>
                </a:solidFill>
                <a:latin typeface="Calibri" pitchFamily="34" charset="0"/>
                <a:ea typeface="Calibri" pitchFamily="34" charset="-122"/>
                <a:cs typeface="Calibri" pitchFamily="34" charset="-120"/>
              </a:rPr>
              <a:t>Selamat berkarya — dataset dirilis 20 Agustus 2026 pukul 19.00 WIB.</a:t>
            </a:r>
            <a:endParaRPr lang="en-US" sz="1600" dirty="0"/>
          </a:p>
        </p:txBody>
      </p:sp>
      <p:sp>
        <p:nvSpPr>
          <p:cNvPr id="7" name="Shape 4"/>
          <p:cNvSpPr/>
          <p:nvPr/>
        </p:nvSpPr>
        <p:spPr>
          <a:xfrm>
            <a:off x="640080" y="3977640"/>
            <a:ext cx="3429000" cy="1143000"/>
          </a:xfrm>
          <a:prstGeom prst="roundRect">
            <a:avLst>
              <a:gd name="adj" fmla="val 4800"/>
            </a:avLst>
          </a:prstGeom>
          <a:solidFill>
            <a:srgbClr val="0D1632">
              <a:alpha val="88000"/>
            </a:srgbClr>
          </a:solidFill>
          <a:ln w="12700">
            <a:solidFill>
              <a:srgbClr val="24406F"/>
            </a:solidFill>
            <a:prstDash val="solid"/>
          </a:ln>
        </p:spPr>
        <p:txBody>
          <a:bodyPr/>
          <a:lstStyle/>
          <a:p>
            <a:endParaRPr lang="en-US"/>
          </a:p>
        </p:txBody>
      </p:sp>
      <p:sp>
        <p:nvSpPr>
          <p:cNvPr id="8" name="Text 5"/>
          <p:cNvSpPr/>
          <p:nvPr/>
        </p:nvSpPr>
        <p:spPr>
          <a:xfrm>
            <a:off x="868680" y="4160520"/>
            <a:ext cx="2971800" cy="219456"/>
          </a:xfrm>
          <a:prstGeom prst="rect">
            <a:avLst/>
          </a:prstGeom>
          <a:noFill/>
          <a:ln/>
        </p:spPr>
        <p:txBody>
          <a:bodyPr wrap="square" lIns="0" tIns="0" rIns="0" bIns="0" rtlCol="0" anchor="ctr"/>
          <a:lstStyle/>
          <a:p>
            <a:pPr marL="0" indent="0">
              <a:buNone/>
            </a:pPr>
            <a:r>
              <a:rPr lang="en-US" sz="900" b="1" kern="0" spc="160" dirty="0">
                <a:solidFill>
                  <a:srgbClr val="E9A944"/>
                </a:solidFill>
                <a:latin typeface="Arial" pitchFamily="34" charset="0"/>
                <a:ea typeface="Arial" pitchFamily="34" charset="-122"/>
                <a:cs typeface="Arial" pitchFamily="34" charset="-120"/>
              </a:rPr>
              <a:t>BANTUAN TEKNIS</a:t>
            </a:r>
            <a:endParaRPr lang="en-US" sz="900" dirty="0"/>
          </a:p>
        </p:txBody>
      </p:sp>
      <p:sp>
        <p:nvSpPr>
          <p:cNvPr id="9" name="Text 6"/>
          <p:cNvSpPr/>
          <p:nvPr/>
        </p:nvSpPr>
        <p:spPr>
          <a:xfrm>
            <a:off x="868680" y="4416552"/>
            <a:ext cx="297180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Panel Need Help pada sidebar portal</a:t>
            </a:r>
            <a:endParaRPr lang="en-US" sz="1250" dirty="0"/>
          </a:p>
        </p:txBody>
      </p:sp>
      <p:sp>
        <p:nvSpPr>
          <p:cNvPr id="10" name="Shape 7"/>
          <p:cNvSpPr/>
          <p:nvPr/>
        </p:nvSpPr>
        <p:spPr>
          <a:xfrm>
            <a:off x="4379976" y="3977640"/>
            <a:ext cx="3429000" cy="1143000"/>
          </a:xfrm>
          <a:prstGeom prst="roundRect">
            <a:avLst>
              <a:gd name="adj" fmla="val 4800"/>
            </a:avLst>
          </a:prstGeom>
          <a:solidFill>
            <a:srgbClr val="0D1632">
              <a:alpha val="88000"/>
            </a:srgbClr>
          </a:solidFill>
          <a:ln w="12700">
            <a:solidFill>
              <a:srgbClr val="24406F"/>
            </a:solidFill>
            <a:prstDash val="solid"/>
          </a:ln>
        </p:spPr>
        <p:txBody>
          <a:bodyPr/>
          <a:lstStyle/>
          <a:p>
            <a:endParaRPr lang="en-US"/>
          </a:p>
        </p:txBody>
      </p:sp>
      <p:sp>
        <p:nvSpPr>
          <p:cNvPr id="11" name="Text 8"/>
          <p:cNvSpPr/>
          <p:nvPr/>
        </p:nvSpPr>
        <p:spPr>
          <a:xfrm>
            <a:off x="4608576" y="4160520"/>
            <a:ext cx="2971800" cy="219456"/>
          </a:xfrm>
          <a:prstGeom prst="rect">
            <a:avLst/>
          </a:prstGeom>
          <a:noFill/>
          <a:ln/>
        </p:spPr>
        <p:txBody>
          <a:bodyPr wrap="square" lIns="0" tIns="0" rIns="0" bIns="0" rtlCol="0" anchor="ctr"/>
          <a:lstStyle/>
          <a:p>
            <a:pPr marL="0" indent="0">
              <a:buNone/>
            </a:pPr>
            <a:r>
              <a:rPr lang="en-US" sz="900" b="1" kern="0" spc="160" dirty="0">
                <a:solidFill>
                  <a:srgbClr val="E9A944"/>
                </a:solidFill>
                <a:latin typeface="Arial" pitchFamily="34" charset="0"/>
                <a:ea typeface="Arial" pitchFamily="34" charset="-122"/>
                <a:cs typeface="Arial" pitchFamily="34" charset="-120"/>
              </a:rPr>
              <a:t>EMAIL</a:t>
            </a:r>
            <a:endParaRPr lang="en-US" sz="900" dirty="0"/>
          </a:p>
        </p:txBody>
      </p:sp>
      <p:sp>
        <p:nvSpPr>
          <p:cNvPr id="12" name="Text 9"/>
          <p:cNvSpPr/>
          <p:nvPr/>
        </p:nvSpPr>
        <p:spPr>
          <a:xfrm>
            <a:off x="4608576" y="4416552"/>
            <a:ext cx="297180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pusaka@mail.unair.ac.id</a:t>
            </a:r>
            <a:endParaRPr lang="en-US" sz="1250" dirty="0"/>
          </a:p>
        </p:txBody>
      </p:sp>
      <p:sp>
        <p:nvSpPr>
          <p:cNvPr id="13" name="Shape 10"/>
          <p:cNvSpPr/>
          <p:nvPr/>
        </p:nvSpPr>
        <p:spPr>
          <a:xfrm>
            <a:off x="8119872" y="3977640"/>
            <a:ext cx="3429000" cy="1143000"/>
          </a:xfrm>
          <a:prstGeom prst="roundRect">
            <a:avLst>
              <a:gd name="adj" fmla="val 4800"/>
            </a:avLst>
          </a:prstGeom>
          <a:solidFill>
            <a:srgbClr val="0D1632">
              <a:alpha val="88000"/>
            </a:srgbClr>
          </a:solidFill>
          <a:ln w="12700">
            <a:solidFill>
              <a:srgbClr val="24406F"/>
            </a:solidFill>
            <a:prstDash val="solid"/>
          </a:ln>
        </p:spPr>
        <p:txBody>
          <a:bodyPr/>
          <a:lstStyle/>
          <a:p>
            <a:endParaRPr lang="en-US"/>
          </a:p>
        </p:txBody>
      </p:sp>
      <p:sp>
        <p:nvSpPr>
          <p:cNvPr id="14" name="Text 11"/>
          <p:cNvSpPr/>
          <p:nvPr/>
        </p:nvSpPr>
        <p:spPr>
          <a:xfrm>
            <a:off x="8348472" y="4160520"/>
            <a:ext cx="2971800" cy="219456"/>
          </a:xfrm>
          <a:prstGeom prst="rect">
            <a:avLst/>
          </a:prstGeom>
          <a:noFill/>
          <a:ln/>
        </p:spPr>
        <p:txBody>
          <a:bodyPr wrap="square" lIns="0" tIns="0" rIns="0" bIns="0" rtlCol="0" anchor="ctr"/>
          <a:lstStyle/>
          <a:p>
            <a:pPr marL="0" indent="0">
              <a:buNone/>
            </a:pPr>
            <a:r>
              <a:rPr lang="en-US" sz="900" b="1" kern="0" spc="160" dirty="0">
                <a:solidFill>
                  <a:srgbClr val="E9A944"/>
                </a:solidFill>
                <a:latin typeface="Arial" pitchFamily="34" charset="0"/>
                <a:ea typeface="Arial" pitchFamily="34" charset="-122"/>
                <a:cs typeface="Arial" pitchFamily="34" charset="-120"/>
              </a:rPr>
              <a:t>KANAL PENGUMUMAN</a:t>
            </a:r>
            <a:endParaRPr lang="en-US" sz="900" dirty="0"/>
          </a:p>
        </p:txBody>
      </p:sp>
      <p:sp>
        <p:nvSpPr>
          <p:cNvPr id="15" name="Text 12"/>
          <p:cNvSpPr/>
          <p:nvPr/>
        </p:nvSpPr>
        <p:spPr>
          <a:xfrm>
            <a:off x="8348472" y="4416552"/>
            <a:ext cx="297180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Grup WhatsApp resmi peserta</a:t>
            </a:r>
            <a:endParaRPr lang="en-US" sz="1250" dirty="0"/>
          </a:p>
        </p:txBody>
      </p:sp>
      <p:sp>
        <p:nvSpPr>
          <p:cNvPr id="16" name="Text 13"/>
          <p:cNvSpPr/>
          <p:nvPr/>
        </p:nvSpPr>
        <p:spPr>
          <a:xfrm>
            <a:off x="640080" y="6327648"/>
            <a:ext cx="9326880" cy="256032"/>
          </a:xfrm>
          <a:prstGeom prst="rect">
            <a:avLst/>
          </a:prstGeom>
          <a:noFill/>
          <a:ln/>
        </p:spPr>
        <p:txBody>
          <a:bodyPr wrap="square" lIns="0" tIns="0" rIns="0" bIns="0" rtlCol="0" anchor="ctr"/>
          <a:lstStyle/>
          <a:p>
            <a:pPr marL="0" indent="0">
              <a:buNone/>
            </a:pPr>
            <a:r>
              <a:rPr lang="en-US" sz="850" kern="0" spc="140" dirty="0">
                <a:solidFill>
                  <a:srgbClr val="6E7FA0"/>
                </a:solidFill>
                <a:latin typeface="Arial" pitchFamily="34" charset="0"/>
                <a:ea typeface="Arial" pitchFamily="34" charset="-122"/>
                <a:cs typeface="Arial" pitchFamily="34" charset="-120"/>
              </a:rPr>
              <a:t>TECHNICAL MEETING  ·  INFOGRAPHIC COMPETITION  ·  CAMPUS DATA WEEK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1204</Words>
  <Application>Microsoft Macintosh PowerPoint</Application>
  <PresentationFormat>Widescreen</PresentationFormat>
  <Paragraphs>190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Meeting - Infographic Competition | Campus Data Week 2026</dc:title>
  <dc:subject>PptxGenJS Presentation</dc:subject>
  <dc:creator>Pusat Satu Data dan Kecerdasan Digital - Universitas Airlangga</dc:creator>
  <cp:lastModifiedBy>Christiant Dimas Renggana</cp:lastModifiedBy>
  <cp:revision>2</cp:revision>
  <dcterms:created xsi:type="dcterms:W3CDTF">2026-08-19T09:31:10Z</dcterms:created>
  <dcterms:modified xsi:type="dcterms:W3CDTF">2026-08-19T09:39:39Z</dcterms:modified>
</cp:coreProperties>
</file>